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0" r:id="rId2"/>
  </p:sldMasterIdLst>
  <p:sldIdLst>
    <p:sldId id="256" r:id="rId3"/>
    <p:sldId id="257" r:id="rId4"/>
    <p:sldId id="258" r:id="rId5"/>
    <p:sldId id="272" r:id="rId6"/>
    <p:sldId id="268" r:id="rId7"/>
    <p:sldId id="271" r:id="rId8"/>
    <p:sldId id="273" r:id="rId9"/>
    <p:sldId id="259" r:id="rId10"/>
    <p:sldId id="270" r:id="rId11"/>
    <p:sldId id="263" r:id="rId12"/>
    <p:sldId id="260" r:id="rId13"/>
    <p:sldId id="269" r:id="rId14"/>
    <p:sldId id="274" r:id="rId15"/>
    <p:sldId id="266" r:id="rId16"/>
    <p:sldId id="275" r:id="rId1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644" y="-5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;p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>
            <a:off x="1457640" y="-322776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653120" y="1900080"/>
            <a:ext cx="3173760" cy="68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5182560" y="449640"/>
            <a:ext cx="2308320" cy="424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9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Red Hat Mono"/>
                <a:ea typeface="Red Hat Mono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7" name="Google Shape;50;p11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5049000" y="-297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53;p13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4323000">
            <a:off x="2675880" y="1282320"/>
            <a:ext cx="9691920" cy="8370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216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5216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522360" y="624600"/>
            <a:ext cx="7102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21640" y="25182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4627440" y="15714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4627440" y="25185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4627440" y="346536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8"/>
          <p:cNvSpPr>
            <a:spLocks noGrp="1"/>
          </p:cNvSpPr>
          <p:nvPr>
            <p:ph type="title"/>
          </p:nvPr>
        </p:nvSpPr>
        <p:spPr>
          <a:xfrm>
            <a:off x="4627440" y="624600"/>
            <a:ext cx="7117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70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9"/>
          <p:cNvSpPr>
            <a:spLocks noGrp="1"/>
          </p:cNvSpPr>
          <p:nvPr>
            <p:ph type="title"/>
          </p:nvPr>
        </p:nvSpPr>
        <p:spPr>
          <a:xfrm>
            <a:off x="228600" y="4352040"/>
            <a:ext cx="8686800" cy="54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417320" y="910080"/>
            <a:ext cx="5261760" cy="15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9" name="Google Shape;74;p1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6488600">
            <a:off x="5582160" y="-110340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76;p1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171360" y="-1813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228600" y="3276000"/>
            <a:ext cx="3710160" cy="16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228600" y="342000"/>
            <a:ext cx="3710160" cy="1786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306680" y="0"/>
            <a:ext cx="48373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5" name="Google Shape;82;p16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2517600">
            <a:off x="3900960" y="-338508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4280" y="270216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1215000" y="1388520"/>
            <a:ext cx="9280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title"/>
          </p:nvPr>
        </p:nvSpPr>
        <p:spPr>
          <a:xfrm>
            <a:off x="1215360" y="4015440"/>
            <a:ext cx="92988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title"/>
          </p:nvPr>
        </p:nvSpPr>
        <p:spPr>
          <a:xfrm>
            <a:off x="228600" y="34272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0" name="Google Shape;91;p1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5059440" y="9806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93;p1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484200">
            <a:off x="2395800" y="-3969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9454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694548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4140000" y="160992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13928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1332720" y="1609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332720" y="3388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4900" b="0" u="none" strike="noStrike">
                <a:solidFill>
                  <a:schemeClr val="dk2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4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416600" y="55260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1416600" y="2969280"/>
            <a:ext cx="6310080" cy="12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5000"/>
              </a:lnSpc>
              <a:buNone/>
            </a:pPr>
            <a:r>
              <a:rPr lang="fr-FR" sz="109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09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1" name="Google Shape;112;p1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7479200">
            <a:off x="3828600" y="192384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163880" y="1130040"/>
            <a:ext cx="3577680" cy="677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Google Shape;116;p20"/>
          <p:cNvSpPr/>
          <p:nvPr/>
        </p:nvSpPr>
        <p:spPr>
          <a:xfrm>
            <a:off x="3034440" y="320112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chivo"/>
                <a:ea typeface="Archiv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44" name="Google Shape;117;p20"/>
          <p:cNvPicPr/>
          <p:nvPr/>
        </p:nvPicPr>
        <p:blipFill>
          <a:blip r:embed="rId4">
            <a:alphaModFix amt="66000"/>
          </a:blip>
          <a:srcRect l="16172" r="18707"/>
          <a:stretch/>
        </p:blipFill>
        <p:spPr>
          <a:xfrm rot="15349800">
            <a:off x="5539320" y="-90684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14;p3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2480" y="136980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256640" y="2401920"/>
            <a:ext cx="4658400" cy="52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1498320"/>
            <a:ext cx="3008880" cy="206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5000"/>
              </a:lnSpc>
              <a:buNone/>
            </a:pPr>
            <a:r>
              <a:rPr lang="fr-FR" sz="17100" b="0" u="none" strike="noStrike">
                <a:solidFill>
                  <a:schemeClr val="dk1"/>
                </a:solidFill>
                <a:effectLst/>
                <a:uFillTx/>
                <a:latin typeface="VT323"/>
                <a:ea typeface="VT323"/>
              </a:rPr>
              <a:t>xx%</a:t>
            </a:r>
            <a:endParaRPr lang="fr-FR" sz="17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19;p21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-3836520" y="-313020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1;p22"/>
          <p:cNvPicPr/>
          <p:nvPr/>
        </p:nvPicPr>
        <p:blipFill>
          <a:blip r:embed="rId2">
            <a:alphaModFix amt="66000"/>
          </a:blip>
          <a:srcRect l="16172" r="18707"/>
          <a:stretch/>
        </p:blipFill>
        <p:spPr>
          <a:xfrm rot="15349800">
            <a:off x="1293120" y="767160"/>
            <a:ext cx="9691920" cy="8370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52" name="Google Shape;20;p4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4140800">
            <a:off x="6268320" y="-81360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28600" y="32904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4" name="Google Shape;27;p5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11069400">
            <a:off x="-3573360" y="90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28600" y="34416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56" name="Google Shape;30;p6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4048560" y="16668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61" name="Google Shape;35;p7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>
            <a:off x="-2840400" y="296388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7;p8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rot="6267600">
            <a:off x="763200" y="-3143520"/>
            <a:ext cx="7337520" cy="573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65" name="Google Shape;43;p9"/>
          <p:cNvPicPr/>
          <p:nvPr/>
        </p:nvPicPr>
        <p:blipFill>
          <a:blip r:embed="rId2">
            <a:alphaModFix amt="56000"/>
          </a:blip>
          <a:srcRect l="16172" r="18707"/>
          <a:stretch/>
        </p:blipFill>
        <p:spPr>
          <a:xfrm flipH="1">
            <a:off x="1806480" y="3231720"/>
            <a:ext cx="7337520" cy="57387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1227240" y="3685320"/>
            <a:ext cx="2292480" cy="451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7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0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tinet.com/tw/resources/cyberglossary/public-vs-private-cloud" TargetMode="External"/><Relationship Id="rId2" Type="http://schemas.openxmlformats.org/officeDocument/2006/relationships/hyperlink" Target="https://www.crowdstrike.com/fr-fr/cybersecurity-101/cloud-security/public-cloud-vs-private-cloud/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2"/>
          <p:cNvSpPr>
            <a:spLocks noGrp="1"/>
          </p:cNvSpPr>
          <p:nvPr>
            <p:ph type="subTitle"/>
          </p:nvPr>
        </p:nvSpPr>
        <p:spPr>
          <a:xfrm>
            <a:off x="1666800" y="2390760"/>
            <a:ext cx="1695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buNone/>
            </a:pPr>
            <a:endParaRPr lang="en-US" sz="1500" b="0" u="none" strike="noStrike" dirty="0">
              <a:solidFill>
                <a:schemeClr val="dk1"/>
              </a:solidFill>
              <a:effectLst/>
              <a:uFillTx/>
              <a:latin typeface="Archivo"/>
              <a:ea typeface="Archivo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8600" y="343080"/>
            <a:ext cx="3714480" cy="704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b="0" u="none" strike="noStrike" dirty="0">
                <a:solidFill>
                  <a:schemeClr val="dk1"/>
                </a:solidFill>
                <a:effectLst/>
                <a:uFillTx/>
                <a:latin typeface="Red Hat Mono"/>
                <a:ea typeface="Red Hat Mono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208;p30" title="young-woman-wearing-white-clothes.jpg"/>
          <p:cNvSpPr/>
          <p:nvPr/>
        </p:nvSpPr>
        <p:spPr>
          <a:xfrm>
            <a:off x="4306680" y="0"/>
            <a:ext cx="4837320" cy="5143320"/>
          </a:xfrm>
          <a:prstGeom prst="roundRect">
            <a:avLst>
              <a:gd name="adj" fmla="val 19573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971550"/>
            <a:ext cx="3886200" cy="373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algn="just"/>
            <a:r>
              <a:rPr lang="fr-FR" dirty="0" smtClean="0"/>
              <a:t>Le Cloud </a:t>
            </a:r>
            <a:r>
              <a:rPr lang="fr-FR" dirty="0" err="1" smtClean="0"/>
              <a:t>Computing</a:t>
            </a:r>
            <a:r>
              <a:rPr lang="fr-FR" dirty="0" smtClean="0"/>
              <a:t> est devenu un pilier central de l’informatique moderne, offrant des ressources informatiques à la demande via Internet. Pour les administrateurs système, comprendre les différences entre le </a:t>
            </a:r>
            <a:r>
              <a:rPr lang="fr-FR" b="1" dirty="0" smtClean="0"/>
              <a:t>Cloud public</a:t>
            </a:r>
            <a:r>
              <a:rPr lang="fr-FR" dirty="0" smtClean="0"/>
              <a:t> et le </a:t>
            </a:r>
            <a:r>
              <a:rPr lang="fr-FR" b="1" dirty="0" smtClean="0"/>
              <a:t>Cloud privé</a:t>
            </a:r>
            <a:r>
              <a:rPr lang="fr-FR" dirty="0" smtClean="0"/>
              <a:t> est essentiel pour choisir la solution la plus adaptée aux besoins de l’entreprise.</a:t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b="1" dirty="0" smtClean="0"/>
              <a:t>Dans cette exposé</a:t>
            </a:r>
            <a:r>
              <a:rPr lang="fr-FR" dirty="0" smtClean="0"/>
              <a:t>, nous allons </a:t>
            </a:r>
            <a:r>
              <a:rPr lang="fr-FR" dirty="0" err="1" smtClean="0"/>
              <a:t>presenter</a:t>
            </a:r>
            <a:r>
              <a:rPr lang="fr-FR" dirty="0" smtClean="0"/>
              <a:t> une comparaison détaillée des deux modèles, en mettant en lumière leurs avantages, inconvénients, et cas d’usage typiques.</a:t>
            </a:r>
            <a:r>
              <a:rPr lang="fr-FR" sz="2800" dirty="0" smtClean="0"/>
              <a:t/>
            </a:r>
            <a:br>
              <a:rPr lang="fr-FR" sz="2800" dirty="0" smtClean="0"/>
            </a:b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343080"/>
            <a:ext cx="3714480" cy="704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dirty="0" smtClean="0">
                <a:solidFill>
                  <a:schemeClr val="dk1"/>
                </a:solidFill>
                <a:latin typeface="Red Hat Mono"/>
              </a:rPr>
              <a:t>Cloud public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 txBox="1">
            <a:spLocks/>
          </p:cNvSpPr>
          <p:nvPr/>
        </p:nvSpPr>
        <p:spPr>
          <a:xfrm>
            <a:off x="228600" y="1047750"/>
            <a:ext cx="3714480" cy="3276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7500" lnSpcReduction="20000"/>
          </a:bodyPr>
          <a:lstStyle/>
          <a:p>
            <a:pPr lvl="0" algn="just"/>
            <a:r>
              <a:rPr lang="fr-FR" sz="4800" dirty="0"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fr-FR" sz="48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4800" dirty="0">
                <a:latin typeface="Times New Roman" pitchFamily="18" charset="0"/>
                <a:cs typeface="Times New Roman" pitchFamily="18" charset="0"/>
              </a:rPr>
              <a:t> public fournit des ressources informatiques via Internet par l'intermédiaire de fournisseurs tiers. Il est utilisé pour les applications web et les charges de travail évolutives avec une sécurité intégrée</a:t>
            </a:r>
            <a:r>
              <a:rPr lang="fr-FR" sz="4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0" algn="just"/>
            <a:endParaRPr lang="fr-FR" sz="4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fr-FR" sz="4800" dirty="0">
                <a:latin typeface="Times New Roman" pitchFamily="18" charset="0"/>
                <a:cs typeface="Times New Roman" pitchFamily="18" charset="0"/>
              </a:rPr>
              <a:t>Les cas d'utilisation typiques incluent les applications web, les plateformes de commerce électronique, les environnements de développement et de test, les applications </a:t>
            </a:r>
            <a:r>
              <a:rPr lang="fr-FR" sz="4800" dirty="0" err="1">
                <a:latin typeface="Times New Roman" pitchFamily="18" charset="0"/>
                <a:cs typeface="Times New Roman" pitchFamily="18" charset="0"/>
              </a:rPr>
              <a:t>SaaS</a:t>
            </a:r>
            <a:r>
              <a:rPr lang="fr-FR" sz="4800" dirty="0">
                <a:latin typeface="Times New Roman" pitchFamily="18" charset="0"/>
                <a:cs typeface="Times New Roman" pitchFamily="18" charset="0"/>
              </a:rPr>
              <a:t> et les charges de travail analytiques avec une demande fluctuante.</a:t>
            </a:r>
            <a:endParaRPr lang="en-US" sz="4800" dirty="0">
              <a:latin typeface="Times New Roman" pitchFamily="18" charset="0"/>
              <a:cs typeface="Times New Roman" pitchFamily="18" charset="0"/>
            </a:endParaRPr>
          </a:p>
          <a:p>
            <a:pPr lvl="0"/>
            <a:endParaRPr lang="en-US" sz="2800" dirty="0"/>
          </a:p>
        </p:txBody>
      </p:sp>
      <p:pic>
        <p:nvPicPr>
          <p:cNvPr id="7" name="image69e2da5b69cb2" descr="image69e2da5b69cb5"/>
          <p:cNvPicPr/>
          <p:nvPr/>
        </p:nvPicPr>
        <p:blipFill>
          <a:blip r:embed="rId2"/>
          <a:stretch/>
        </p:blipFill>
        <p:spPr>
          <a:xfrm>
            <a:off x="4571640" y="-17071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590800" y="495480"/>
            <a:ext cx="3714480" cy="704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</a:tabLst>
            </a:pPr>
            <a:r>
              <a:rPr lang="en-US" sz="2600" dirty="0" smtClean="0">
                <a:solidFill>
                  <a:schemeClr val="dk1"/>
                </a:solidFill>
                <a:latin typeface="Red Hat Mono"/>
              </a:rPr>
              <a:t>Cloud public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9" y="1200150"/>
            <a:ext cx="641032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716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19600" y="819150"/>
            <a:ext cx="4572000" cy="4421723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just">
              <a:spcBef>
                <a:spcPts val="1417"/>
              </a:spcBef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privé est dédié à une seule organisation et n'est pas partagé avec d'autres utilisateurs. Il est idéal pour les données sensibles et les secteurs réglementés, car il offre un contrôle de sécurité renforcé.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Bef>
                <a:spcPts val="1417"/>
              </a:spcBef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Les cas d'utilisation typiques incluent les systèmes bancaires centraux, les plateformes de dossiers médicaux, les bases de données gouvernementales et les applications d'entreprise critiques exigeant une conformité stricte.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417"/>
              </a:spcBef>
            </a:pPr>
            <a:endParaRPr lang="fr-FR" dirty="0" smtClean="0">
              <a:solidFill>
                <a:schemeClr val="dk1"/>
              </a:solidFill>
              <a:latin typeface="Public Sans"/>
              <a:ea typeface="Public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800600" y="209550"/>
            <a:ext cx="3714480" cy="704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</a:tabLst>
            </a:pPr>
            <a:r>
              <a:rPr lang="fr-FR" sz="2600" dirty="0" smtClean="0">
                <a:solidFill>
                  <a:schemeClr val="dk1"/>
                </a:solidFill>
                <a:latin typeface="Red Hat Mono"/>
              </a:rPr>
              <a:t>Cloud prive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69e2da5b541d0" descr="image69e2da5b541d4"/>
          <p:cNvPicPr/>
          <p:nvPr/>
        </p:nvPicPr>
        <p:blipFill>
          <a:blip r:embed="rId2"/>
          <a:stretch/>
        </p:blipFill>
        <p:spPr>
          <a:xfrm>
            <a:off x="-9536" y="180"/>
            <a:ext cx="4276736" cy="5143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1895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590800" y="438150"/>
            <a:ext cx="3714480" cy="70467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</a:tabLst>
            </a:pPr>
            <a:r>
              <a:rPr lang="fr-FR" sz="2600" dirty="0" smtClean="0">
                <a:solidFill>
                  <a:schemeClr val="dk1"/>
                </a:solidFill>
                <a:latin typeface="Red Hat Mono"/>
              </a:rPr>
              <a:t>Cloud prive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200150"/>
            <a:ext cx="6419850" cy="3238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79137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525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476280" y="476280"/>
            <a:ext cx="8191080" cy="5714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r>
              <a:rPr lang="fr-FR" sz="2600" dirty="0" smtClean="0">
                <a:solidFill>
                  <a:schemeClr val="dk1"/>
                </a:solidFill>
                <a:latin typeface="Red Hat Mono"/>
              </a:rPr>
              <a:t>C</a:t>
            </a:r>
            <a:r>
              <a:rPr lang="fr-FR" sz="2600" b="0" u="none" strike="noStrike" dirty="0" smtClean="0">
                <a:solidFill>
                  <a:schemeClr val="dk1"/>
                </a:solidFill>
                <a:effectLst/>
                <a:uFillTx/>
                <a:latin typeface="Red Hat Mono"/>
              </a:rPr>
              <a:t>aractéristiques communs</a:t>
            </a:r>
            <a:endParaRPr lang="fr-FR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6280" y="1047750"/>
            <a:ext cx="7905360" cy="30931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Virtualisation 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deux modèles utilisent la virtualisation pour exécuter efficacement plusieurs charges de travail sur du matériel partagé tout en maintenant les applications isolées.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Libre-service à la demande 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utilisateurs peuvent provisionner des ressources informatiques et réseau de manière proactive, sans attendre le support informatique.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Accessibilité réseau 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ressources sont accessibles à distance via des connexions sécurisées depuis différents appareils.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Mise en commun des ressources 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ressources </a:t>
            </a:r>
            <a:r>
              <a:rPr lang="fr-FR" sz="15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 sont allouées dynamiquement. Cela permet aux organisations d’optimiser leur utilisation et de gérer les charges de travail de manière transparente.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Suivi de l'utilisation 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deux modèles surveillent et rendent compte de l'utilisation des ressources, prenant en charge la facturation à l'utilisation.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fr-FR" sz="1500" b="1" dirty="0">
                <a:latin typeface="Times New Roman" pitchFamily="18" charset="0"/>
                <a:cs typeface="Times New Roman" pitchFamily="18" charset="0"/>
              </a:rPr>
              <a:t>Agilité et évolutivité :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 les </a:t>
            </a:r>
            <a:r>
              <a:rPr lang="fr-FR" sz="1500" dirty="0" err="1">
                <a:latin typeface="Times New Roman" pitchFamily="18" charset="0"/>
                <a:cs typeface="Times New Roman" pitchFamily="18" charset="0"/>
              </a:rPr>
              <a:t>clouds</a:t>
            </a:r>
            <a:r>
              <a:rPr lang="fr-FR" sz="1500" dirty="0">
                <a:latin typeface="Times New Roman" pitchFamily="18" charset="0"/>
                <a:cs typeface="Times New Roman" pitchFamily="18" charset="0"/>
              </a:rPr>
              <a:t> publics et privés offrent une gestion centralisée et une allocation automatisée des ressources, permettant ainsi de répondre aux besoins métiers en constante évolution.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476280" y="476280"/>
            <a:ext cx="8191080" cy="5714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endParaRPr lang="fr-FR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846278"/>
              </p:ext>
            </p:extLst>
          </p:nvPr>
        </p:nvGraphicFramePr>
        <p:xfrm>
          <a:off x="-762000" y="0"/>
          <a:ext cx="11582400" cy="6216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/>
                <a:gridCol w="3860800"/>
                <a:gridCol w="3860800"/>
              </a:tblGrid>
              <a:tr h="57298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Aspect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dirty="0" err="1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cloud</a:t>
                      </a:r>
                      <a:r>
                        <a:rPr lang="fr-FR" sz="14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public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cloud privé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8979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Modèle de responsabilité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Partagé : le fournisseur sécurise l'infrastructure, le client sécurise les données et les applications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Entièrement gérée par l'organisation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8979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Isolement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Environnement mutualisé, risque accru en cas de mauvaise configuration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Ressources dédiées, isolement renforcé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77390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Commandes personnalisées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Limité aux outils et cadres du fournisseur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Entièrement personnalisable selon les besoins de l'entreprise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89799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Conformité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Des mesures supplémentaires peuvent être nécessaires en cas de réglementation stricte.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Il est plus facile de respecter la souveraineté et la conformité des données.</a:t>
                      </a:r>
                      <a:endParaRPr lang="en-US" sz="140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  <a:tr h="110260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b="1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Opérations de sécurité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Le fournisseur gère la sécurité physique, et l'organisation gère la configuration du </a:t>
                      </a:r>
                      <a:r>
                        <a:rPr lang="fr-FR" sz="1400" dirty="0" err="1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cloud</a:t>
                      </a:r>
                      <a:r>
                        <a:rPr lang="fr-FR" sz="1400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les données.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400" dirty="0">
                          <a:solidFill>
                            <a:schemeClr val="bg2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L'organisation gère toutes les opérations de sécurité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238125" marR="238125" marT="190500" marB="190500"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62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85000"/>
              </a:lnSpc>
              <a:tabLst>
                <a:tab pos="0" algn="l"/>
              </a:tabLst>
            </a:pP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les principaux risques de sécurité dans les </a:t>
            </a:r>
            <a:r>
              <a:rPr lang="fr-FR" sz="2800" b="1" dirty="0" err="1">
                <a:latin typeface="Times New Roman" pitchFamily="18" charset="0"/>
                <a:cs typeface="Times New Roman" pitchFamily="18" charset="0"/>
              </a:rPr>
              <a:t>clouds</a:t>
            </a:r>
            <a:r>
              <a:rPr lang="fr-FR" sz="2800" b="1" dirty="0">
                <a:latin typeface="Times New Roman" pitchFamily="18" charset="0"/>
                <a:cs typeface="Times New Roman" pitchFamily="18" charset="0"/>
              </a:rPr>
              <a:t> publics et privés 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17588"/>
            <a:ext cx="76962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Les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clouds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publics et privés présentent leurs propres défis en matière de sécurité que les organisations doivent relever. 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Par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exemple, dans les environnements de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public, le modèle partagé peut accroître l'exposition aux risques si les configurations sont incorrectes ou si les contrôles d'accès sont faibles. 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3286080"/>
            <a:ext cx="798156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Dans les environnements de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cloud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privé, les risques proviennent de problèmes internes. Par exemple, des erreurs de configuration et des contrôles d'accès insuffisants peuvent créer des vulnérabilités, même si l'infrastructure est isolée.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47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6280" y="-1075402"/>
            <a:ext cx="8286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84636" y="1352550"/>
            <a:ext cx="5638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itchFamily="2" charset="2"/>
              <a:buChar char="q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Protection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l'infrastructure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Contrôles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au niveau de la 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plateforme</a:t>
            </a:r>
          </a:p>
          <a:p>
            <a:pPr marL="285750" lvl="0" indent="-285750">
              <a:buFont typeface="Wingdings" pitchFamily="2" charset="2"/>
              <a:buChar char="q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Mises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à jour automatisées 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Services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de sécurité évolutifs 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Efficacité opérationnelle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6280" y="476280"/>
            <a:ext cx="8191080" cy="5714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endParaRPr lang="fr-FR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87013" y="678418"/>
            <a:ext cx="61364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dirty="0" smtClean="0"/>
              <a:t>Avantages </a:t>
            </a:r>
            <a:r>
              <a:rPr lang="fr-FR" sz="2400" b="1" dirty="0"/>
              <a:t>de la sécurité du </a:t>
            </a:r>
            <a:r>
              <a:rPr lang="fr-FR" sz="2400" b="1" dirty="0" err="1"/>
              <a:t>c</a:t>
            </a:r>
            <a:r>
              <a:rPr lang="fr-FR" sz="2400" b="1" dirty="0" err="1" smtClean="0"/>
              <a:t>loud</a:t>
            </a:r>
            <a:r>
              <a:rPr lang="fr-FR" sz="2400" b="1" dirty="0" smtClean="0"/>
              <a:t> </a:t>
            </a:r>
            <a:r>
              <a:rPr lang="fr-FR" sz="2400" b="1" dirty="0"/>
              <a:t>public</a:t>
            </a:r>
            <a:endParaRPr 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47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6280" y="-1075402"/>
            <a:ext cx="8286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6280" y="476280"/>
            <a:ext cx="8191080" cy="5714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endParaRPr lang="fr-FR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71170" y="678418"/>
            <a:ext cx="59681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b="1" dirty="0" smtClean="0"/>
              <a:t>Avantages </a:t>
            </a:r>
            <a:r>
              <a:rPr lang="fr-FR" sz="2400" b="1" dirty="0"/>
              <a:t>de la sécurité du </a:t>
            </a:r>
            <a:r>
              <a:rPr lang="fr-FR" sz="2400" b="1" dirty="0" err="1"/>
              <a:t>c</a:t>
            </a:r>
            <a:r>
              <a:rPr lang="fr-FR" sz="2400" b="1" dirty="0" err="1" smtClean="0"/>
              <a:t>loud</a:t>
            </a:r>
            <a:r>
              <a:rPr lang="fr-FR" sz="2400" b="1" dirty="0" smtClean="0"/>
              <a:t> </a:t>
            </a:r>
            <a:r>
              <a:rPr lang="fr-FR" sz="2400" b="1" dirty="0"/>
              <a:t>privé</a:t>
            </a:r>
            <a:endParaRPr lang="en-US" sz="2400" dirty="0"/>
          </a:p>
        </p:txBody>
      </p:sp>
      <p:sp>
        <p:nvSpPr>
          <p:cNvPr id="2" name="Rectangle 1"/>
          <p:cNvSpPr/>
          <p:nvPr/>
        </p:nvSpPr>
        <p:spPr>
          <a:xfrm>
            <a:off x="2133600" y="150495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buFont typeface="Wingdings" pitchFamily="2" charset="2"/>
              <a:buChar char="q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Infrastructure dédiée </a:t>
            </a: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contrôle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accru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dirty="0">
                <a:latin typeface="Times New Roman" pitchFamily="18" charset="0"/>
                <a:cs typeface="Times New Roman" pitchFamily="18" charset="0"/>
              </a:rPr>
              <a:t>Contrôles d'accès personnalisés 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>
              <a:buFont typeface="Wingdings" pitchFamily="2" charset="2"/>
              <a:buChar char="q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Alignement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en matière de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conformité</a:t>
            </a:r>
          </a:p>
          <a:p>
            <a:pPr marL="285750" lvl="0" indent="-285750">
              <a:buFont typeface="Wingdings" pitchFamily="2" charset="2"/>
              <a:buChar char="q"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Isolation renforcée</a:t>
            </a:r>
          </a:p>
          <a:p>
            <a:pPr marL="285750" lvl="0" indent="-285750">
              <a:buFont typeface="Wingdings" pitchFamily="2" charset="2"/>
              <a:buChar char="q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218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/>
          <p:cNvSpPr/>
          <p:nvPr/>
        </p:nvSpPr>
        <p:spPr>
          <a:xfrm>
            <a:off x="476280" y="476280"/>
            <a:ext cx="8191080" cy="476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85000"/>
              </a:lnSpc>
              <a:tabLst>
                <a:tab pos="0" algn="l"/>
              </a:tabLst>
            </a:pP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6280" y="-1075402"/>
            <a:ext cx="82867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76280" y="476280"/>
            <a:ext cx="8191080" cy="5714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endParaRPr lang="fr-FR" sz="2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59487" y="216753"/>
            <a:ext cx="61923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 err="1"/>
              <a:t>Comparaison</a:t>
            </a:r>
            <a:r>
              <a:rPr lang="en-US" sz="2400" b="1" dirty="0"/>
              <a:t> Technique et </a:t>
            </a:r>
            <a:r>
              <a:rPr lang="en-US" sz="2400" b="1" dirty="0" err="1"/>
              <a:t>Fonctionnelle</a:t>
            </a:r>
            <a:endParaRPr lang="en-US" sz="24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890470"/>
              </p:ext>
            </p:extLst>
          </p:nvPr>
        </p:nvGraphicFramePr>
        <p:xfrm>
          <a:off x="228600" y="714330"/>
          <a:ext cx="8534400" cy="4223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438619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Critère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</a:rPr>
                        <a:t>Cloud Public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Cloud </a:t>
                      </a:r>
                      <a:r>
                        <a:rPr lang="en-US" dirty="0" err="1">
                          <a:solidFill>
                            <a:schemeClr val="bg2"/>
                          </a:solidFill>
                        </a:rPr>
                        <a:t>Privé</a:t>
                      </a:r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  <a:tr h="757068">
                <a:tc>
                  <a:txBody>
                    <a:bodyPr/>
                    <a:lstStyle/>
                    <a:p>
                      <a:r>
                        <a:rPr lang="en-US" b="1" dirty="0" err="1"/>
                        <a:t>Conformité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Peut poser des défis (RGPD, HIPAA)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/>
                        <a:t>Idéal pour les secteurs réglementés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  <a:tr h="757068">
                <a:tc>
                  <a:txBody>
                    <a:bodyPr/>
                    <a:lstStyle/>
                    <a:p>
                      <a:r>
                        <a:rPr lang="en-US" b="1"/>
                        <a:t>Coûts</a:t>
                      </a:r>
                      <a:endParaRPr lang="en-US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Modèle</a:t>
                      </a:r>
                      <a:r>
                        <a:rPr lang="en-US" dirty="0"/>
                        <a:t> "pay-as-you-go", pas de CAPEX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Investissement</a:t>
                      </a:r>
                      <a:r>
                        <a:rPr lang="en-US" dirty="0"/>
                        <a:t> initial important (CAPEX)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  <a:tr h="757068">
                <a:tc>
                  <a:txBody>
                    <a:bodyPr/>
                    <a:lstStyle/>
                    <a:p>
                      <a:r>
                        <a:rPr lang="en-US" b="1"/>
                        <a:t>Flexibilité</a:t>
                      </a:r>
                      <a:endParaRPr lang="en-US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Scalabilité instantanée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Personnalisation poussée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  <a:tr h="757068">
                <a:tc>
                  <a:txBody>
                    <a:bodyPr/>
                    <a:lstStyle/>
                    <a:p>
                      <a:r>
                        <a:rPr lang="en-US" b="1" dirty="0"/>
                        <a:t>Infrastructure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Partagée, gérée par un tiers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Dédiée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gérée</a:t>
                      </a:r>
                      <a:r>
                        <a:rPr lang="en-US" dirty="0"/>
                        <a:t> en interne</a:t>
                      </a:r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  <a:tr h="757068">
                <a:tc>
                  <a:txBody>
                    <a:bodyPr/>
                    <a:lstStyle/>
                    <a:p>
                      <a:r>
                        <a:rPr lang="en-US" b="1" dirty="0" err="1" smtClean="0"/>
                        <a:t>Sécurité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Dépend</a:t>
                      </a:r>
                      <a:r>
                        <a:rPr lang="en-US" dirty="0" smtClean="0"/>
                        <a:t> du </a:t>
                      </a:r>
                      <a:r>
                        <a:rPr lang="en-US" dirty="0" err="1" smtClean="0"/>
                        <a:t>fournisseur</a:t>
                      </a:r>
                      <a:endParaRPr lang="fr-FR" dirty="0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Contrôle</a:t>
                      </a:r>
                      <a:r>
                        <a:rPr lang="en-US" dirty="0" smtClean="0"/>
                        <a:t> total par </a:t>
                      </a:r>
                      <a:r>
                        <a:rPr lang="en-US" dirty="0" err="1" smtClean="0"/>
                        <a:t>l’entreprise</a:t>
                      </a:r>
                      <a:endParaRPr lang="en-US" dirty="0"/>
                    </a:p>
                  </a:txBody>
                  <a:tcPr anchor="ctr">
                    <a:solidFill>
                      <a:schemeClr val="accent3">
                        <a:lumMod val="65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84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>
            <a:off x="276367" y="200736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Red Hat Mono"/>
              </a:rPr>
              <a:t>Conclusions</a:t>
            </a:r>
            <a:endParaRPr lang="en-US" sz="2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6367" y="971550"/>
            <a:ext cx="836256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choix entre Cloud public et Cloud privé se résume à un arbitrage entre flexibilité et contrôle.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Optez pour le Cloud public si vous recherchez </a:t>
            </a:r>
            <a:r>
              <a:rPr lang="fr-FR" sz="2000" dirty="0" err="1">
                <a:latin typeface="Times New Roman" pitchFamily="18" charset="0"/>
                <a:cs typeface="Times New Roman" pitchFamily="18" charset="0"/>
              </a:rPr>
              <a:t>scalabilité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, rapidité de déploiement et coûts maîtrisés. Idéal pour les startups, les projets agiles ou les charges de travail non sensibles (ex : développement, applications web).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Préférez le Cloud privé si vos priorités sont sécurité, conformité et souveraineté des données. Essentiel pour les secteurs réglementés (banque, santé) ou les données critiques.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Votre décision doit aligner infrastructure et stratégie métier : innovation et agilité pour le public, contrôle et confidentialité pour le privé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98"/>
          <p:cNvSpPr/>
          <p:nvPr/>
        </p:nvSpPr>
        <p:spPr>
          <a:xfrm>
            <a:off x="276367" y="200736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85000"/>
              </a:lnSpc>
              <a:tabLst>
                <a:tab pos="0" algn="l"/>
              </a:tabLst>
            </a:pPr>
            <a:r>
              <a:rPr lang="en-US" sz="2600" b="1" u="none" strike="noStrike" dirty="0" smtClean="0">
                <a:solidFill>
                  <a:srgbClr val="000000"/>
                </a:solidFill>
                <a:effectLst/>
                <a:uFillTx/>
                <a:latin typeface="OpenSymbol"/>
              </a:rPr>
              <a:t>References</a:t>
            </a:r>
            <a:endParaRPr lang="en-US" sz="2600" b="1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6367" y="971550"/>
            <a:ext cx="83625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https://www.crowdstrike.com/fr-fr/cybersecurity-101/cloud-security/public-cloud-vs-private-cloud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fr-FR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www.fortinet.com/tw/resources/cyberglossary/public-vs-private-cloud</a:t>
            </a:r>
            <a:endParaRPr lang="fr-FR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237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Tech Trends 2026 by Slidesgo">
  <a:themeElements>
    <a:clrScheme name="Simple Light">
      <a:dk1>
        <a:srgbClr val="222222"/>
      </a:dk1>
      <a:lt1>
        <a:srgbClr val="F8F8F8"/>
      </a:lt1>
      <a:dk2>
        <a:srgbClr val="222222"/>
      </a:dk2>
      <a:lt2>
        <a:srgbClr val="22222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22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602</Words>
  <Application>Microsoft Office PowerPoint</Application>
  <PresentationFormat>On-screen Show (16:9)</PresentationFormat>
  <Paragraphs>78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Tech Trends 2026 by Slidesgo</vt:lpstr>
      <vt:lpstr>Slidesgo Final Pages</vt:lpstr>
      <vt:lpstr>PowerPoint Presentation</vt:lpstr>
      <vt:lpstr>Introduction</vt:lpstr>
      <vt:lpstr>Cloud public</vt:lpstr>
      <vt:lpstr>Cloud public</vt:lpstr>
      <vt:lpstr>Cloud prive</vt:lpstr>
      <vt:lpstr>Cloud prive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</dc:title>
  <dc:creator>Gabard</dc:creator>
  <cp:lastModifiedBy>NOEL</cp:lastModifiedBy>
  <cp:revision>11</cp:revision>
  <dcterms:modified xsi:type="dcterms:W3CDTF">2026-04-21T18:43:49Z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2026-04-18T01:11:53Z</dcterms:created>
  <dc:creator>Unknown Creator</dc:creator>
  <dc:description/>
  <dc:language>en-US</dc:language>
  <cp:lastModifiedBy>Unknown Creator</cp:lastModifiedBy>
  <dcterms:modified xsi:type="dcterms:W3CDTF">2026-04-18T01:11:53Z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