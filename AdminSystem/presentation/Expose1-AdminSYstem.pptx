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6" r:id="rId3"/>
    <p:sldId id="258" r:id="rId4"/>
    <p:sldId id="259" r:id="rId5"/>
    <p:sldId id="260" r:id="rId6"/>
    <p:sldId id="261" r:id="rId7"/>
    <p:sldId id="263" r:id="rId8"/>
    <p:sldId id="270" r:id="rId9"/>
    <p:sldId id="268" r:id="rId10"/>
    <p:sldId id="273" r:id="rId11"/>
    <p:sldId id="272" r:id="rId12"/>
    <p:sldId id="262" r:id="rId13"/>
    <p:sldId id="264" r:id="rId14"/>
    <p:sldId id="274" r:id="rId15"/>
    <p:sldId id="269"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9" d="100"/>
          <a:sy n="99" d="100"/>
        </p:scale>
        <p:origin x="-510"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 name="PlaceHolder 2"/>
          <p:cNvSpPr>
            <a:spLocks noGrp="1"/>
          </p:cNvSpPr>
          <p:nvPr>
            <p:ph type="title"/>
          </p:nvPr>
        </p:nvSpPr>
        <p:spPr>
          <a:xfrm>
            <a:off x="228600" y="428400"/>
            <a:ext cx="6222600" cy="98496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Autofit/>
          </a:bodyPr>
          <a:lstStyle/>
          <a:p>
            <a:pPr indent="0">
              <a:buNone/>
            </a:pPr>
            <a:r>
              <a:rPr lang="fr-FR" sz="4700" b="0" u="none" strike="noStrike">
                <a:solidFill>
                  <a:schemeClr val="dk1"/>
                </a:solidFill>
                <a:effectLst/>
                <a:uFillTx/>
                <a:latin typeface="Arial"/>
              </a:rPr>
              <a:t>Click to edit the title text format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4" name="Google Shape;48;p11"/>
          <p:cNvPicPr/>
          <p:nvPr/>
        </p:nvPicPr>
        <p:blipFill>
          <a:blip r:embed="rId2"/>
          <a:stretch/>
        </p:blipFill>
        <p:spPr>
          <a:xfrm>
            <a:off x="0" y="0"/>
            <a:ext cx="9143640" cy="5142960"/>
          </a:xfrm>
          <a:prstGeom prst="rect">
            <a:avLst/>
          </a:prstGeom>
          <a:noFill/>
          <a:ln w="0">
            <a:noFill/>
          </a:ln>
        </p:spPr>
      </p:pic>
      <p:sp>
        <p:nvSpPr>
          <p:cNvPr id="5"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dk1"/>
                </a:solidFill>
                <a:effectLst/>
                <a:uFillTx/>
                <a:latin typeface="Sora"/>
                <a:ea typeface="Sora"/>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pic>
        <p:nvPicPr>
          <p:cNvPr id="6" name="Google Shape;53;p13"/>
          <p:cNvPicPr/>
          <p:nvPr/>
        </p:nvPicPr>
        <p:blipFill>
          <a:blip r:embed="rId2"/>
          <a:stretch/>
        </p:blipFill>
        <p:spPr>
          <a:xfrm flipH="1">
            <a:off x="360" y="0"/>
            <a:ext cx="9143640" cy="5142960"/>
          </a:xfrm>
          <a:prstGeom prst="rect">
            <a:avLst/>
          </a:prstGeom>
          <a:noFill/>
          <a:ln w="0">
            <a:noFill/>
          </a:ln>
        </p:spPr>
      </p:pic>
      <p:sp>
        <p:nvSpPr>
          <p:cNvPr id="7" name="PlaceHolder 1"/>
          <p:cNvSpPr>
            <a:spLocks noGrp="1"/>
          </p:cNvSpPr>
          <p:nvPr>
            <p:ph type="title"/>
          </p:nvPr>
        </p:nvSpPr>
        <p:spPr>
          <a:xfrm>
            <a:off x="4851360" y="228600"/>
            <a:ext cx="4143960" cy="98496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8" name="PlaceHolder 2"/>
          <p:cNvSpPr>
            <a:spLocks noGrp="1"/>
          </p:cNvSpPr>
          <p:nvPr>
            <p:ph type="title"/>
          </p:nvPr>
        </p:nvSpPr>
        <p:spPr>
          <a:xfrm>
            <a:off x="4683960" y="191412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9" name="PlaceHolder 3"/>
          <p:cNvSpPr>
            <a:spLocks noGrp="1"/>
          </p:cNvSpPr>
          <p:nvPr>
            <p:ph type="title"/>
          </p:nvPr>
        </p:nvSpPr>
        <p:spPr>
          <a:xfrm>
            <a:off x="4683960" y="254016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0" name="PlaceHolder 4"/>
          <p:cNvSpPr>
            <a:spLocks noGrp="1"/>
          </p:cNvSpPr>
          <p:nvPr>
            <p:ph type="title"/>
          </p:nvPr>
        </p:nvSpPr>
        <p:spPr>
          <a:xfrm>
            <a:off x="4683960" y="316620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1" name="PlaceHolder 5"/>
          <p:cNvSpPr>
            <a:spLocks noGrp="1"/>
          </p:cNvSpPr>
          <p:nvPr>
            <p:ph type="title"/>
          </p:nvPr>
        </p:nvSpPr>
        <p:spPr>
          <a:xfrm>
            <a:off x="4683960" y="1290240"/>
            <a:ext cx="849240" cy="4183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2" name="PlaceHolder 6"/>
          <p:cNvSpPr>
            <a:spLocks noGrp="1"/>
          </p:cNvSpPr>
          <p:nvPr>
            <p:ph type="title"/>
          </p:nvPr>
        </p:nvSpPr>
        <p:spPr>
          <a:xfrm>
            <a:off x="4683960" y="379224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3" name="PlaceHolder 7"/>
          <p:cNvSpPr>
            <a:spLocks noGrp="1"/>
          </p:cNvSpPr>
          <p:nvPr>
            <p:ph type="title"/>
          </p:nvPr>
        </p:nvSpPr>
        <p:spPr>
          <a:xfrm>
            <a:off x="4683960" y="441828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4" name="PlaceHolder 8"/>
          <p:cNvSpPr>
            <a:spLocks noGrp="1"/>
          </p:cNvSpPr>
          <p:nvPr>
            <p:ph type="body"/>
          </p:nvPr>
        </p:nvSpPr>
        <p:spPr>
          <a:xfrm>
            <a:off x="-304920" y="228600"/>
            <a:ext cx="423108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15" name="Google Shape;69;p14"/>
          <p:cNvPicPr/>
          <p:nvPr/>
        </p:nvPicPr>
        <p:blipFill>
          <a:blip r:embed="rId2"/>
          <a:stretch/>
        </p:blipFill>
        <p:spPr>
          <a:xfrm rot="10800000" flipH="1">
            <a:off x="0" y="0"/>
            <a:ext cx="9143640" cy="5142960"/>
          </a:xfrm>
          <a:prstGeom prst="rect">
            <a:avLst/>
          </a:prstGeom>
          <a:noFill/>
          <a:ln w="0">
            <a:noFill/>
          </a:ln>
        </p:spPr>
      </p:pic>
      <p:sp>
        <p:nvSpPr>
          <p:cNvPr id="16" name="PlaceHolder 1"/>
          <p:cNvSpPr>
            <a:spLocks noGrp="1"/>
          </p:cNvSpPr>
          <p:nvPr>
            <p:ph type="title"/>
          </p:nvPr>
        </p:nvSpPr>
        <p:spPr>
          <a:xfrm>
            <a:off x="228600" y="228600"/>
            <a:ext cx="8475120" cy="131112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18" name="Google Shape;73;p15"/>
          <p:cNvPicPr/>
          <p:nvPr/>
        </p:nvPicPr>
        <p:blipFill>
          <a:blip r:embed="rId2"/>
          <a:stretch/>
        </p:blipFill>
        <p:spPr>
          <a:xfrm rot="10800000">
            <a:off x="360" y="0"/>
            <a:ext cx="9143640" cy="5142960"/>
          </a:xfrm>
          <a:prstGeom prst="rect">
            <a:avLst/>
          </a:prstGeom>
          <a:noFill/>
          <a:ln w="0">
            <a:noFill/>
          </a:ln>
        </p:spPr>
      </p:pic>
      <p:sp>
        <p:nvSpPr>
          <p:cNvPr id="19" name="PlaceHolder 1"/>
          <p:cNvSpPr>
            <a:spLocks noGrp="1"/>
          </p:cNvSpPr>
          <p:nvPr>
            <p:ph type="title"/>
          </p:nvPr>
        </p:nvSpPr>
        <p:spPr>
          <a:xfrm>
            <a:off x="228600" y="228600"/>
            <a:ext cx="4835520" cy="17413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0" name="PlaceHolder 2"/>
          <p:cNvSpPr>
            <a:spLocks noGrp="1"/>
          </p:cNvSpPr>
          <p:nvPr>
            <p:ph type="body"/>
          </p:nvPr>
        </p:nvSpPr>
        <p:spPr>
          <a:xfrm>
            <a:off x="228600" y="1969920"/>
            <a:ext cx="4835520" cy="2442240"/>
          </a:xfrm>
          <a:prstGeom prst="rect">
            <a:avLst/>
          </a:prstGeom>
          <a:noFill/>
          <a:ln w="0">
            <a:noFill/>
          </a:ln>
        </p:spPr>
        <p:txBody>
          <a:bodyPr lIns="91440" tIns="91440" rIns="91440" bIns="91440" anchor="b">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21" name="PlaceHolder 3"/>
          <p:cNvSpPr>
            <a:spLocks noGrp="1"/>
          </p:cNvSpPr>
          <p:nvPr>
            <p:ph type="body"/>
          </p:nvPr>
        </p:nvSpPr>
        <p:spPr>
          <a:xfrm>
            <a:off x="5217480" y="228600"/>
            <a:ext cx="392652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22" name="Google Shape;78;p16"/>
          <p:cNvPicPr/>
          <p:nvPr/>
        </p:nvPicPr>
        <p:blipFill>
          <a:blip r:embed="rId2"/>
          <a:stretch/>
        </p:blipFill>
        <p:spPr>
          <a:xfrm>
            <a:off x="0" y="0"/>
            <a:ext cx="9143640" cy="5142960"/>
          </a:xfrm>
          <a:prstGeom prst="rect">
            <a:avLst/>
          </a:prstGeom>
          <a:noFill/>
          <a:ln w="0">
            <a:noFill/>
          </a:ln>
        </p:spPr>
      </p:pic>
      <p:sp>
        <p:nvSpPr>
          <p:cNvPr id="23"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pic>
        <p:nvPicPr>
          <p:cNvPr id="24" name="Google Shape;81;p17"/>
          <p:cNvPicPr/>
          <p:nvPr/>
        </p:nvPicPr>
        <p:blipFill>
          <a:blip r:embed="rId2"/>
          <a:stretch/>
        </p:blipFill>
        <p:spPr>
          <a:xfrm flipH="1">
            <a:off x="360" y="0"/>
            <a:ext cx="9143640" cy="5142960"/>
          </a:xfrm>
          <a:prstGeom prst="rect">
            <a:avLst/>
          </a:prstGeom>
          <a:noFill/>
          <a:ln w="0">
            <a:noFill/>
          </a:ln>
        </p:spPr>
      </p:pic>
      <p:sp>
        <p:nvSpPr>
          <p:cNvPr id="25" name="PlaceHolder 1"/>
          <p:cNvSpPr>
            <a:spLocks noGrp="1"/>
          </p:cNvSpPr>
          <p:nvPr>
            <p:ph type="title"/>
          </p:nvPr>
        </p:nvSpPr>
        <p:spPr>
          <a:xfrm>
            <a:off x="3301200" y="1910880"/>
            <a:ext cx="67860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6" name="PlaceHolder 2"/>
          <p:cNvSpPr>
            <a:spLocks noGrp="1"/>
          </p:cNvSpPr>
          <p:nvPr>
            <p:ph type="title"/>
          </p:nvPr>
        </p:nvSpPr>
        <p:spPr>
          <a:xfrm>
            <a:off x="228600" y="1911240"/>
            <a:ext cx="67752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7" name="PlaceHolder 3"/>
          <p:cNvSpPr>
            <a:spLocks noGrp="1"/>
          </p:cNvSpPr>
          <p:nvPr>
            <p:ph type="title"/>
          </p:nvPr>
        </p:nvSpPr>
        <p:spPr>
          <a:xfrm>
            <a:off x="6375240" y="1911240"/>
            <a:ext cx="67860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8" name="PlaceHolder 4"/>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pic>
        <p:nvPicPr>
          <p:cNvPr id="29" name="Google Shape;90;p18"/>
          <p:cNvPicPr/>
          <p:nvPr/>
        </p:nvPicPr>
        <p:blipFill>
          <a:blip r:embed="rId2"/>
          <a:stretch/>
        </p:blipFill>
        <p:spPr>
          <a:xfrm rot="10800000">
            <a:off x="360" y="0"/>
            <a:ext cx="9143640" cy="5142960"/>
          </a:xfrm>
          <a:prstGeom prst="rect">
            <a:avLst/>
          </a:prstGeom>
          <a:noFill/>
          <a:ln w="0">
            <a:noFill/>
          </a:ln>
        </p:spPr>
      </p:pic>
      <p:sp>
        <p:nvSpPr>
          <p:cNvPr id="30"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1"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2" name="PlaceHolder 2"/>
          <p:cNvSpPr>
            <a:spLocks noGrp="1"/>
          </p:cNvSpPr>
          <p:nvPr>
            <p:ph type="title"/>
          </p:nvPr>
        </p:nvSpPr>
        <p:spPr>
          <a:xfrm>
            <a:off x="228600" y="47700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Sora"/>
                <a:ea typeface="Sora"/>
              </a:rPr>
              <a:t>xx%</a:t>
            </a:r>
            <a:endParaRPr lang="fr-FR" sz="4500" b="0" u="none" strike="noStrike">
              <a:solidFill>
                <a:schemeClr val="dk1"/>
              </a:solidFill>
              <a:effectLst/>
              <a:uFillTx/>
              <a:latin typeface="Arial"/>
            </a:endParaRPr>
          </a:p>
        </p:txBody>
      </p:sp>
      <p:sp>
        <p:nvSpPr>
          <p:cNvPr id="33" name="PlaceHolder 3"/>
          <p:cNvSpPr>
            <a:spLocks noGrp="1"/>
          </p:cNvSpPr>
          <p:nvPr>
            <p:ph type="title"/>
          </p:nvPr>
        </p:nvSpPr>
        <p:spPr>
          <a:xfrm>
            <a:off x="228600" y="259344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Sora"/>
                <a:ea typeface="Sora"/>
              </a:rPr>
              <a:t>xx%</a:t>
            </a:r>
            <a:endParaRPr lang="fr-FR" sz="45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34" name="Google Shape;111;p20"/>
          <p:cNvPicPr/>
          <p:nvPr/>
        </p:nvPicPr>
        <p:blipFill>
          <a:blip r:embed="rId2"/>
          <a:stretch/>
        </p:blipFill>
        <p:spPr>
          <a:xfrm rot="10800000">
            <a:off x="360" y="0"/>
            <a:ext cx="9143640" cy="5142960"/>
          </a:xfrm>
          <a:prstGeom prst="rect">
            <a:avLst/>
          </a:prstGeom>
          <a:noFill/>
          <a:ln w="0">
            <a:noFill/>
          </a:ln>
        </p:spPr>
      </p:pic>
      <p:sp>
        <p:nvSpPr>
          <p:cNvPr id="35" name="Google Shape;112;p20"/>
          <p:cNvSpPr/>
          <p:nvPr/>
        </p:nvSpPr>
        <p:spPr>
          <a:xfrm>
            <a:off x="228600" y="3283560"/>
            <a:ext cx="4945320" cy="49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1" u="none" strike="noStrike">
                <a:solidFill>
                  <a:schemeClr val="dk1"/>
                </a:solidFill>
                <a:effectLst/>
                <a:uFillTx/>
                <a:latin typeface="Public Sans"/>
                <a:ea typeface="Public Sans"/>
              </a:rPr>
              <a:t>CREDITS:</a:t>
            </a:r>
            <a:r>
              <a:rPr lang="en" sz="1000" b="0" u="none" strike="noStrike">
                <a:solidFill>
                  <a:schemeClr val="dk1"/>
                </a:solidFill>
                <a:effectLst/>
                <a:uFillTx/>
                <a:latin typeface="Public Sans"/>
                <a:ea typeface="Public Sans"/>
              </a:rPr>
              <a:t> This presentation template was created by </a:t>
            </a:r>
            <a:r>
              <a:rPr lang="en" sz="1000" b="1" u="sng" strike="noStrike">
                <a:solidFill>
                  <a:schemeClr val="dk1"/>
                </a:solidFill>
                <a:effectLst/>
                <a:uFillTx/>
                <a:latin typeface="Public Sans"/>
                <a:ea typeface="Public Sans"/>
                <a:hlinkClick r:id="rId3"/>
              </a:rPr>
              <a:t>Slidesgo</a:t>
            </a:r>
            <a:r>
              <a:rPr lang="en" sz="1000" b="0" u="none" strike="noStrike">
                <a:solidFill>
                  <a:schemeClr val="dk1"/>
                </a:solidFill>
                <a:effectLst/>
                <a:uFillTx/>
                <a:latin typeface="Public Sans"/>
                <a:ea typeface="Public Sans"/>
              </a:rPr>
              <a:t>, and includes icons, infographics &amp; images by </a:t>
            </a:r>
            <a:r>
              <a:rPr lang="en" sz="1000" b="1" u="sng" strike="noStrike">
                <a:solidFill>
                  <a:schemeClr val="dk1"/>
                </a:solidFill>
                <a:effectLst/>
                <a:uFillTx/>
                <a:latin typeface="Public Sans"/>
                <a:ea typeface="Public Sans"/>
                <a:hlinkClick r:id="rId4"/>
              </a:rPr>
              <a:t>Freepik</a:t>
            </a:r>
            <a:r>
              <a:rPr lang="en" sz="1000" b="0" u="none" strike="noStrike">
                <a:solidFill>
                  <a:schemeClr val="dk1"/>
                </a:solidFill>
                <a:effectLst/>
                <a:uFillTx/>
                <a:latin typeface="Public Sans"/>
                <a:ea typeface="Public Sans"/>
              </a:rPr>
              <a:t> </a:t>
            </a:r>
            <a:endParaRPr lang="en-US" sz="1000" b="0" u="none" strike="noStrike">
              <a:solidFill>
                <a:srgbClr val="000000"/>
              </a:solidFill>
              <a:effectLst/>
              <a:uFillTx/>
              <a:latin typeface="OpenSymbol"/>
            </a:endParaRPr>
          </a:p>
        </p:txBody>
      </p:sp>
      <p:sp>
        <p:nvSpPr>
          <p:cNvPr id="36" name="PlaceHolder 1"/>
          <p:cNvSpPr>
            <a:spLocks noGrp="1"/>
          </p:cNvSpPr>
          <p:nvPr>
            <p:ph type="title"/>
          </p:nvPr>
        </p:nvSpPr>
        <p:spPr>
          <a:xfrm>
            <a:off x="228600" y="228600"/>
            <a:ext cx="6562080" cy="984960"/>
          </a:xfrm>
          <a:prstGeom prst="rect">
            <a:avLst/>
          </a:prstGeom>
          <a:noFill/>
          <a:ln w="0">
            <a:noFill/>
          </a:ln>
        </p:spPr>
        <p:txBody>
          <a:bodyPr lIns="91440" tIns="91440" rIns="91440" bIns="91440" anchor="b">
            <a:noAutofit/>
          </a:bodyPr>
          <a:lstStyle/>
          <a:p>
            <a:pPr indent="0">
              <a:buNone/>
            </a:pPr>
            <a:r>
              <a:rPr lang="fr-FR" sz="5200" b="0" u="none" strike="noStrike">
                <a:solidFill>
                  <a:schemeClr val="dk1"/>
                </a:solidFill>
                <a:effectLst/>
                <a:uFillTx/>
                <a:latin typeface="Arial"/>
              </a:rPr>
              <a:t>Click to edit the title text format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7"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8" name="PlaceHolder 2"/>
          <p:cNvSpPr>
            <a:spLocks noGrp="1"/>
          </p:cNvSpPr>
          <p:nvPr>
            <p:ph type="title"/>
          </p:nvPr>
        </p:nvSpPr>
        <p:spPr>
          <a:xfrm>
            <a:off x="1248840" y="380880"/>
            <a:ext cx="5471640" cy="79992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39" name="PlaceHolder 3"/>
          <p:cNvSpPr>
            <a:spLocks noGrp="1"/>
          </p:cNvSpPr>
          <p:nvPr>
            <p:ph type="title"/>
          </p:nvPr>
        </p:nvSpPr>
        <p:spPr>
          <a:xfrm>
            <a:off x="228600" y="421920"/>
            <a:ext cx="1019880" cy="718200"/>
          </a:xfrm>
          <a:prstGeom prst="rect">
            <a:avLst/>
          </a:prstGeom>
          <a:noFill/>
          <a:ln w="0">
            <a:noFill/>
          </a:ln>
        </p:spPr>
        <p:txBody>
          <a:bodyPr lIns="91440" tIns="91440" rIns="91440" bIns="91440" anchor="ctr">
            <a:noAutofit/>
          </a:bodyPr>
          <a:lstStyle/>
          <a:p>
            <a:pPr indent="0" algn="ctr">
              <a:lnSpc>
                <a:spcPct val="100000"/>
              </a:lnSpc>
              <a:buNone/>
            </a:pPr>
            <a:r>
              <a:rPr lang="fr-FR" sz="4400" b="1" u="none" strike="noStrike">
                <a:solidFill>
                  <a:schemeClr val="dk1"/>
                </a:solidFill>
                <a:effectLst/>
                <a:uFillTx/>
                <a:latin typeface="Sora"/>
                <a:ea typeface="Sora"/>
              </a:rPr>
              <a:t>xx%</a:t>
            </a:r>
            <a:endParaRPr lang="fr-FR" sz="44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pic>
        <p:nvPicPr>
          <p:cNvPr id="40" name="Google Shape;116;p21"/>
          <p:cNvPicPr/>
          <p:nvPr/>
        </p:nvPicPr>
        <p:blipFill>
          <a:blip r:embed="rId2"/>
          <a:srcRect t="5214" b="5202"/>
          <a:stretch/>
        </p:blipFill>
        <p:spPr>
          <a:xfrm>
            <a:off x="0" y="0"/>
            <a:ext cx="9143640" cy="5142960"/>
          </a:xfrm>
          <a:prstGeom prst="rect">
            <a:avLst/>
          </a:prstGeom>
          <a:noFill/>
          <a:ln w="0">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pic>
        <p:nvPicPr>
          <p:cNvPr id="41" name="Google Shape;118;p22"/>
          <p:cNvPicPr/>
          <p:nvPr/>
        </p:nvPicPr>
        <p:blipFill>
          <a:blip r:embed="rId2"/>
          <a:srcRect t="5214" b="5202"/>
          <a:stretch/>
        </p:blipFill>
        <p:spPr>
          <a:xfrm>
            <a:off x="0" y="0"/>
            <a:ext cx="9143640" cy="5142960"/>
          </a:xfrm>
          <a:prstGeom prst="rect">
            <a:avLst/>
          </a:prstGeom>
          <a:noFill/>
          <a:ln w="0">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42" name="Google Shape;17;p4"/>
          <p:cNvPicPr/>
          <p:nvPr/>
        </p:nvPicPr>
        <p:blipFill>
          <a:blip r:embed="rId2"/>
          <a:stretch/>
        </p:blipFill>
        <p:spPr>
          <a:xfrm>
            <a:off x="0" y="0"/>
            <a:ext cx="9143640" cy="5142960"/>
          </a:xfrm>
          <a:prstGeom prst="rect">
            <a:avLst/>
          </a:prstGeom>
          <a:noFill/>
          <a:ln w="0">
            <a:noFill/>
          </a:ln>
        </p:spPr>
      </p:pic>
      <p:sp>
        <p:nvSpPr>
          <p:cNvPr id="43"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4" name="PlaceHolder 2"/>
          <p:cNvSpPr>
            <a:spLocks noGrp="1"/>
          </p:cNvSpPr>
          <p:nvPr>
            <p:ph type="body"/>
          </p:nvPr>
        </p:nvSpPr>
        <p:spPr>
          <a:xfrm>
            <a:off x="228600" y="3999600"/>
            <a:ext cx="2020320" cy="738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45" name="Google Shape;21;p5"/>
          <p:cNvPicPr/>
          <p:nvPr/>
        </p:nvPicPr>
        <p:blipFill>
          <a:blip r:embed="rId2"/>
          <a:stretch/>
        </p:blipFill>
        <p:spPr>
          <a:xfrm>
            <a:off x="0" y="0"/>
            <a:ext cx="9143640" cy="5142960"/>
          </a:xfrm>
          <a:prstGeom prst="rect">
            <a:avLst/>
          </a:prstGeom>
          <a:noFill/>
          <a:ln w="0">
            <a:noFill/>
          </a:ln>
        </p:spPr>
      </p:pic>
      <p:sp>
        <p:nvSpPr>
          <p:cNvPr id="46"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7" name="PlaceHolder 2"/>
          <p:cNvSpPr>
            <a:spLocks noGrp="1"/>
          </p:cNvSpPr>
          <p:nvPr>
            <p:ph type="body"/>
          </p:nvPr>
        </p:nvSpPr>
        <p:spPr>
          <a:xfrm>
            <a:off x="5217480" y="228600"/>
            <a:ext cx="423108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48" name="Google Shape;29;p6"/>
          <p:cNvPicPr/>
          <p:nvPr/>
        </p:nvPicPr>
        <p:blipFill>
          <a:blip r:embed="rId2"/>
          <a:stretch/>
        </p:blipFill>
        <p:spPr>
          <a:xfrm rot="10800000" flipH="1">
            <a:off x="0" y="0"/>
            <a:ext cx="9143640" cy="5142960"/>
          </a:xfrm>
          <a:prstGeom prst="rect">
            <a:avLst/>
          </a:prstGeom>
          <a:noFill/>
          <a:ln w="0">
            <a:noFill/>
          </a:ln>
        </p:spPr>
      </p:pic>
      <p:sp>
        <p:nvSpPr>
          <p:cNvPr id="49"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50" name="Google Shape;32;p7"/>
          <p:cNvPicPr/>
          <p:nvPr/>
        </p:nvPicPr>
        <p:blipFill>
          <a:blip r:embed="rId2"/>
          <a:stretch/>
        </p:blipFill>
        <p:spPr>
          <a:xfrm>
            <a:off x="0" y="0"/>
            <a:ext cx="9143640" cy="5142960"/>
          </a:xfrm>
          <a:prstGeom prst="rect">
            <a:avLst/>
          </a:prstGeom>
          <a:noFill/>
          <a:ln w="0">
            <a:noFill/>
          </a:ln>
        </p:spPr>
      </p:pic>
      <p:sp>
        <p:nvSpPr>
          <p:cNvPr id="51"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2"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53"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54" name="Google Shape;37;p8"/>
          <p:cNvPicPr/>
          <p:nvPr/>
        </p:nvPicPr>
        <p:blipFill>
          <a:blip r:embed="rId2"/>
          <a:stretch/>
        </p:blipFill>
        <p:spPr>
          <a:xfrm rot="10800000" flipH="1">
            <a:off x="0" y="0"/>
            <a:ext cx="9143640" cy="5142960"/>
          </a:xfrm>
          <a:prstGeom prst="rect">
            <a:avLst/>
          </a:prstGeom>
          <a:noFill/>
          <a:ln w="0">
            <a:noFill/>
          </a:ln>
        </p:spPr>
      </p:pic>
      <p:sp>
        <p:nvSpPr>
          <p:cNvPr id="55"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56" name="Google Shape;40;p9"/>
          <p:cNvPicPr/>
          <p:nvPr/>
        </p:nvPicPr>
        <p:blipFill>
          <a:blip r:embed="rId2"/>
          <a:stretch/>
        </p:blipFill>
        <p:spPr>
          <a:xfrm flipH="1">
            <a:off x="360" y="0"/>
            <a:ext cx="9143640" cy="5142960"/>
          </a:xfrm>
          <a:prstGeom prst="rect">
            <a:avLst/>
          </a:prstGeom>
          <a:noFill/>
          <a:ln w="0">
            <a:noFill/>
          </a:ln>
        </p:spPr>
      </p:pic>
      <p:sp>
        <p:nvSpPr>
          <p:cNvPr id="5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58"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9" name="PlaceHolder 2"/>
          <p:cNvSpPr>
            <a:spLocks noGrp="1"/>
          </p:cNvSpPr>
          <p:nvPr>
            <p:ph type="title"/>
          </p:nvPr>
        </p:nvSpPr>
        <p:spPr>
          <a:xfrm>
            <a:off x="228600" y="228600"/>
            <a:ext cx="2669400" cy="338400"/>
          </a:xfrm>
          <a:prstGeom prst="rect">
            <a:avLst/>
          </a:prstGeom>
          <a:noFill/>
          <a:ln w="0">
            <a:noFill/>
          </a:ln>
        </p:spPr>
        <p:txBody>
          <a:bodyPr lIns="91440" tIns="91440" rIns="91440" bIns="91440" anchor="t">
            <a:noAutofit/>
          </a:bodyPr>
          <a:lstStyle/>
          <a:p>
            <a:pPr indent="0">
              <a:buNone/>
            </a:pPr>
            <a:r>
              <a:rPr lang="fr-FR" sz="10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0" name="Google Shape;124;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1"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62" name="Google Shape;127;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64"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s://www.solarwinds.com/resources/it-glossary/scp-vs-sftp" TargetMode="External"/><Relationship Id="rId2" Type="http://schemas.openxmlformats.org/officeDocument/2006/relationships/hyperlink" Target="https://bluefinch-esbd.com/fr/scp-vs-sftp/" TargetMode="External"/><Relationship Id="rId1" Type="http://schemas.openxmlformats.org/officeDocument/2006/relationships/slideLayout" Target="../slideLayouts/slideLayout5.xml"/><Relationship Id="rId6" Type="http://schemas.openxmlformats.org/officeDocument/2006/relationships/hyperlink" Target="https://aws.amazon.com/fr/what-is/sftp/" TargetMode="External"/><Relationship Id="rId5" Type="http://schemas.openxmlformats.org/officeDocument/2006/relationships/hyperlink" Target="https://en.wikipedia.org/wiki/SSH_File_Transfer_Protocol" TargetMode="External"/><Relationship Id="rId4" Type="http://schemas.openxmlformats.org/officeDocument/2006/relationships/hyperlink" Target="https://en.wikipedia.org/wiki/SCP_Foundation#Media_inspired_by_the_SCP_Found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jpeg;base64,/9j/4AAQSkZJRgABAQAAAQABAAD/2wBDAAgGBgcGBQgHBwcJCQgKDBQNDAsLDBkSEw8UHRofHh0aHBwgJC4nICIsIxwcKDcpLDAxNDQ0Hyc5PTgyPC4zNDL/2wBDAQkJCQwLDBgNDRgyIRwhMjIyMjIyMjIyMjIyMjIyMjIyMjIyMjIyMjIyMjIyMjIyMjIyMjIyMjIyMjIyMjIyMjL/wAARCARsB9oDASIAAhEBAxEB/8QAHAABAQACAwEBAAAAAAAAAAAAAAECAwQFBgcI/8QARxAAAgEDAwIEBAQDBgQEBQQDAAECAwQRBRIhBjETIkFRFDJhcQcjQpEVgaEzQ1JicrEWJDSSJTZTghdEwdHhJjVj8HOi8f/EABsBAQEBAQEBAQEAAAAAAAAAAAABAgMEBQYH/8QAKREBAQACAgICAgICAwEBAQAAAAECEQMhBBIxQQUTIlEUMhUjYUJxBv/aAAwDAQACEQMRAD8A+blBT9I+GFiMFQFAAAAFgEBCgAAAAAgAAAACAAAVPghMgYTRguDc0apLDAPkBAARlIwIAAAAAEZSMAEAgKAABCkAAAAUhQIRlIwKgyFAhMGWBgCJFwZYGAJgjWTPBVEDBRM0jLaVIAkUpCs0BMjIRSAAAABfQxZckDUYMxaNjRNoVqwRxN20m0DTtIbtpjKPIGvGS4MksBkEyA0AAAAAAAAAAAAAAAAAAAAAAAAAAAAAAoAAIoAMyLAAG71GtoXAyMmPZjtAUhd7XdAAAAAAAAAAAAAAAAAAAAAAAAAAAAAAAAAAAAAAAAAAAAAAAAAAAAAAAAAAAAAAAAAAAAAAAAAAAAAAAAAAAAAAAAAAAAAAAAAAAAAAAAAAAAAAAAAAAAAAAAAAAAAAAAAAAL2IVihnJjjA7MuciCqfoVRcmKdJykcunTUUbiVjSjtN+3cYtexlBtGohjHAK+WQIBdwEBkQEAAZIAIMgAUxKSgQEILkEQCgIAAJkACAZApAQgEGQAAAApAAICEGSIQZAAEAzBjkZINpS7RtMtAQwUAAABCkaLBCFwTBQRSJclAAEyAAAADJMgATIyBSMZL3AehjKJS54A0t4BZRyQARjJGwACeQAAAAjKRgAgEBQMjIAhckAAAAUgyAIyjAGJUXZkyUAIkZJFSwUBgYLkZAYKkTJcgXJMkyQDLcTJjgpWaoJkZCKUmRkCgmRkAwQuQ0uBgmSuXAVCAgAYGC4A1yRi0bsGLhkg1kM3TfuYYAAuDFsCgiZQAAAAAAAAAAAAAAAAAAAAAACNjI2KAufUN4G4etUBLMWyRe70M7ayxsUMJ5lgyaS9STLd0xNsAZOOFk17uTeo6TJkCrsQdMW7AAAAAAAAAAAAAAAAAAAAAAAAAAAAAAAAAAAAAAAAAAAAAAAAAAAAAAAZAAAAAAAAAAAAAAAAAAAAAAAAAAAAAAAAAAAAAAAAAAAAAAAAAAAAAAAAAAAAAAAAAAAAAAAAAAmSrkAUxbK+Sg1k2UqbbJTg5M5kIbUWJsjBRQeTPdngcGkrGJnwiNexg4t+pYMwRJpFIgAMgCBsgADJALkgIAKQZJQICZAoIMhQDJMgACAAQIgpCkAhSFAAEyBSDJCAQpAKMkAAgAADAwQcsEGTLQQEyBQTIyBQTILAYBMlApiXIAgIBkQgAAEAAAAVEAFICZAprZmYsDFmLM2YsCIoAAAACMpGAIikQFAAAAAAAAGAZYAmBgywEgLEoQAAAAAAAAAAAAAAlAAEAAAAAAABQABQAAAAAyMkyMgU1tGeTEDWydzY4mLWAJjAAAAAAAAAAAAAAAAAAAAAAAAm1UsLsRPc8YwTPODZ5UuO5GofDprO7Bj4Sj+ob5vj0JhOS3MdNdquHjJZVHT7RyZThFSTi84MJS3dzWXrD2uX0m7es4wYuDi87s5MnKG3CfJljhGZMd9FmU+jlow24ZmmitG7htj2/ti2kQxlF5Ml2MSWVq6+gAFZAAAAAAAAAAAAAAAAAAAAAAAAAAAAAAAAAAAAAAAAAAAAAAAAVEKiAGQrIBQAAAAAAAAAAAAAAAAAAAAAAAAAAAAAAAAAUAAAABAAAAAAAAAAAAAAAAAAAAAAAAAAAAAACpZIZRAwaGSyMSgzOnFyZIwycyFLakyxKyp08IzCkU1pEx6lK+xCxAAFAAhgAQZAEBMgUIgTApAQKAmQQCAgFRTEEAAgGRAQACBAUEyQCjJBkCkBALkGORkLFyTJMkyFZZGTHJMgZZJkxyGwMtw3GsEHPABkQhWQACkAAhkURkMiDYxKCjYxIZEGwBSDYhDIg2AKQbAEBdgwABAUAYsxZmQDAFZAAIMgUjAAERSMCgxKBQCgQGRcAYLubCYLkAUmRkCgxbJkDMGGRkDMGGRkDMGGRkDMGGRkDMGGRkIzBhkZBpmDDIyDTMGGRkGmYMMjIGYMMjIVmDDIyBmRmOQBkDEAZDBiMgVsxfJQBg1ghmyNAYgrRiBQAAAAAAAAAAAAAApdJUBQZ2C27ee5Irc+OxltTg2a0prlJv7ImWWo7ceFyqyk08LudnYaBe6i14azn6Hf8AT/SlS+hGtNYT55PY2VGhpFalGVNPnHB8zm82YXWn1eLwMspt5yz/AA8v42U6temuFnscL/hdb9jhz9j7bKrC80qSox25ijwtWCt7vwZ43+7Pn8vmZvp+J4PFbqvn1bpOuqstkOPsdXd6bXtG1VXHofVnRSk5Npo4FzYULrKlTTZzw/IZY3dezm/FceU1i+UNNSM88HrNY6dahKVJY+x5Lw5W1XwquWz7fjeZ+yPzHm+DeGiabMX3LtaquX6Syw+x7Za+bZpiC7GlkxUs8FFA8N5zkylOO1JLLQXTECNSPZrkrWeOxNppAMOPDeQUAAAAAAAAAAAAAAAAAAAAAAAAACNNrCeAKDFT2cNZM1JT9ME2vqgM3Sz+pHb09KnLTo1lFvP0HserpQbKlvOnUeU8fYjhvj5XjA2aYAi8vD7lKgAAKiAAGQoAAy4MWEAYsqyXSqABoAAQAAUAAQAAAAAvRoAKll4E7NICzi4/URW76A0gMnDb65McprINALGaT5RZNPsZ9hiApJBRcuUdMZsAGs8LuTOx8jKaNKAnkGZ3NgABtAAF0ugABAAEUALGDk+4EBXB9jDxVB7XFtsLJtkC49SBAAAAAAAAAAABnAIxsRsLuZJIzjFZLO0220o5OT+lGNKKx2NmDcmkYYLnBSYKInlmRMDI2igxyTJNjJkJkEAEAAEIBQjFlQFICBQEKQQAgBFIisghCkApCkAgQAFIAF0gABoIRswbYNM2Qwy8jIGZiQBVZMgATJDIAMDABBzgAZEZEVkQFIUgEKQZApAQC5BMgAATIFBMgAMkGQKQEAuSEBYKCAopTEy9AIQpAJIxMpGIEIUgFAAAMACFBQIUYAFKQoAAgFBAAAAAAAAAAAAAAAAAAAAAAAAAAAAAAAAAAAAAAAAAAAAAjKGBgyGTIBAAAAAAAAAAAAAApCjawABJ2lh4bk+Ges6R0Z6heU6c6flfq0eYobnVSSyj7N0Ta21vo1O6k0qqxxg8Pmc3pi+n+P4LnlHc3FjS03TIQpJbl7HnarzVUp+j4ydtfX861WSxmJ01xJVK9OL4y8H5nk5/fJ+y4vFmGHb2fTty6trKGzK7ZNGrdJK9undKvs+hz9BtXbWyUFnKydzKO6OJ8Hez2fK5c/15/wAXzXUNNurGOIRnUS9UaadXdHDjiS7o+lSpQnTlBxTWH3R83vaXwuo1vRSkceTj1j09/ieRcs5Mmqoo1k4yiuTw/VGj+FVlXguF7Hvpxio7l3wdXq9FXWmzi1yx4vk3DOYvX5vh4cnHcnzBzToJepg3wb7u2dCvKGOxx492fr+HL2wlfz3yeP05LFjP0Ykk+wjFSYnHw55N2uMgqVTGVFstNfDycsbm/T2PSdN28NRrqhJLsdre9GKw33FeLjCSzFmbl21HhV5pb2tuPQynUVWeEsG292KvtpvMU8M1Ojz4lPnBqJYwcdnDeQVycnl9yGmAAAAAAAAAAAAAAAAAAAAAAAAAqju4zghYvDAuFD6mLq7mko4MZS5NicGuWZrUdrpei0b9rxLpU8+7PrujdNae9Dp0PiqcmvU+Hwq1Kb8jf7nruneoalKSp1KjSS9zlnLfhpu6j0+ztq1SEK0G17HiV+XUms5TZytXuKlxqdaW5uLl7nCqtwccG8JftGck89jEu+UlyuCHVigAIAAAAADHcUmAS116vwyRTDJU8mfZi8dUAFmSetAAaiUABUAAQAAFAATWzYGs+oCWWNGyM9nD5MnFzWexqn5ZGUXcVMRhDJzt9Hfj47yXpjhRfM8mXgyrSzHOPod3pHT9O7mndtwWT3Vh0loFKK3XL/Y45+X1qPbj4sk7fMFZ18eWnJlVjdv+4n+x9wtOnumKaW66X7HZ09C6bqrbC4T/AJHmy8mr/jY1+d529eDxKnJBZpx2tcn6Hqfhzo97FyhPP2R5DXvwvdGblZ05TSM4eVlPlMvGk+HyWDanul2MptS7cnd6x0zf2MJKpQcUjpaSp0sxm8S9j38PPMvl5OThsRz3LGMYIYR3b5Nrj0MzvbPpwuOgADTNAAa2bAAZ2aAAAOTY0fiLhU84OMb7SrKhW8SK5CvS6p0xGysKVwquXNZweYmo5fC8p3l/1LcXtpTt5RW2CwdFOpBSw3zIEa92/wA3YFaUeI9iBKAAAAAAAAAAUAARBdzkU45NMVlnLprCNYozjwZEYOgpMkAAEBmgQEAyICAATIAAgABMgTApAQguQY5KABABQRMEAgIBkTIIABABWyZJkmSNLkZMckb5ArZixkoEBcEAAAAAAAAAAADnAEZkCIpEBSFIBAABACAEUi7lAhMGRAAwABCFABkKRgQcgFgnI5KCgXJABSAARmODNkAxwTBkyATAKAIXAKu4E2suCgCYDRSACkABvCJFblwXj1JKX+FYCGAWHPcxlGTlwybWM1F4IVxksLJdjxnI2MSZI8pmUZJLlFQBAFUZIRgXIyQAXJTEoFBABQQAUEAFBABQQAUAAAAAAAAAgFBABcjJAAZMFAGAKQACMICgAAAAAAAFICUUEBrCNRztJi6mpUov5G+T6taP4e3VGlxA+Y9NuL162hLs2fWdV06pS3V6P9n7I+H+Wl70/Rfic8ZY05lN4Rxq+z4uh77lkznUcbaLXz+prqQc9lRd48n5rhl9u363ku8On0rTpqFtDH+FHIlOVSR0HTF58VaS3PLjwejpRR9Obj835GP8mupHFLy/MeI6poQoSpza80me4qcSaOn17Tld227GXFZQyu468F9bK8RGUopKfZitSi6bf6TC2ThUnCt33NLJleT2ZimsfQ+fOL/t2+5+6Xi7fNtfShf1MdjpYvLZ3HUOVe1JHURSxk/ZeFbcNPwPn3fLSKlF5RZS3y57FbRjhnpyjw7en6b1Gz0uvGrUeGj1Gs9WUtXsY0PE3QiuFk+YOTxg30bhxTWfQ5+st3VlLvwo1ZKn+pmmFSdODhF8Mwm3Opn6mT4Z0iWnPr3ABpkAAAAAAAAAAAAAAAAAAAAAAAAACAOKMdqMmCaXabmuxnGrKmt0PnMCjR7VZTlLl9yfN8wBTaptLBAAgAAAAAAAIyaMGjNvgxJVxtjBphPa+fUyHh+JwnycrHrwz31SUlFpP1KnkwjQnSlmo9xamZPyJoky0uWEvw2Sg4x3PsY5MYVG/JJ9i+p1mTz5cdigiKalY9TAwXJMlZAAFhgmeS8oiWWTdiyT7Z7XjJj2ZjOo00kdjptp8TUinjn3OeXJXow4Jl8NVnplbUKyp0lmTPUWfTdewiqlxDEfsclXVnpVsoxprxl+pHBnV1K+k5Rqy2PssHnsvJ8PV+/Dxpqu7jf6RbxUar8xrnrOkJ4i/wCp1lrpFe6bU6cs+7ic/wD4MuJQ8ThJe5xvDNuGXm3K7+m2Gr6VnzPj7nYW2t6YmvAl5vueaudK+EyppPBwtuyX5fDO+PjSztx/z9XT6jZ61qiSdtP8tf7HoNO6whCpG3van5kvqfFaWo31BrFdqK7o7/TeoLWtT8OpD/mH2m/Q83N42vh7+DyJnH1++0jTtdotzhuUj5N1f+HHw2+vaUcLv2PRafqV3pkVeVbjxKK/RF5Peadf2eu2aUoLMovhnlnJlx12zmNj8q1qU7erKlU7xeDU5pPDPsHX3QjjuurWCUV5ng+SSnTjKUJU2pRbXKPocPP7Tt4OTDtjGLl2J+rb6hQlJ+SWDY4ZjtXz+rPdjbXlyx01gYwBkyAAzF2AhTaBVKUXwEQA5SMVTjJ5l3MgNLsABEAAAAAAAAAAKAAREbaayzlRWEceiuTlN+U3IgnkjZF3BoXJMgg2AAIIGCEFAINgQpBsCFINiAEY2LkgAApBkgEKQAgEwF0EBAaUEIDSkbJkkgaMoZMQRVyYvuUAQoAFbIAAAAAAAAAAAAHNBAzIZIABSAgAEAAmQQDJFMUUAQEAyICAARgDIjKRgQAFgAAoAAAAADIVkAjIVkAAAAEABcjJMjIFyMkyMgMjJMjIGS5LKUYxxgxXfksqcW85AxgnKWeyNzpbsKLyzGOWttNZZ3OhaHeXVwn4Layc8rpZHTztp0/nbX3MHGXoz2HVXTt3QnTlTovG1Z/Y8hKNajPbUhgku10kXh8mTcWvQklujkwUF7m5WdKADQEZSMAAABSFAAAAQPsQCggAyBF2KAAADIyTIyBcjJMjIFyMkyMgXIJkoAAAAAAAAGJCkAjCDCAoAAAAAAAAACygANfBrbl6XP4fUaVxnG1n6B6buqWr6FGUkpNn51U5JYR9U/DXXY28aNnVniPHc+V5mHvt9Dw87hlK7bU7CpZXk6ji3BvheholKKp8NPK/Y97f2VLU6D7bcNppHz27tqthcVVWTjHPlz6nwMuL0r9bweV7Y6ruembh0aypLtKR7uScKh4bpO0ddu45xCR7tzVXlM6TLbwc19skktyyaqkd0HFrOUbM4eBJ+iLZqbZnTyep9NO7k6tKezHsdPW6blRt3Vq1+F7s9/Ur07eLjJpJngeutfo2+m1qNGa3eiR28fhmeW0z8uzGx8k16SWsVaSe6K9TqJcPg33NbxV4zfnfc0bso/Q8OHpH5vycvbPaRzk2LsYFydtPPtW0YZDWTJxwkPVTGFkiyzPjBlDCjkjO2vsCt5eSFAABQAAAAAAAAAAAAAAAAAAAAACAQBgMF0IUhRoAANAAAAAIAAAAACkKQioZQpb3ndjBibaMd81T9ZcEuPSzbbRtq17cQhShKfpwe90r8P6d5YKdW4VOs/7t9zd0hpFHStNqXlykpx8yUlk49Xq6pPqWNzTaVNei7Hkz3K9GGWnjtd0Sel39Sll4j6nVH0vrOzV7osNQprM6j5wfNGnFtPuiY5u+5lAuSA9GGW3DPBkCIp2jhcdAAKyzSW0w7MZwMmcslmFySUfMmdpYSzFQi9rfqdUnvqKK9Wey6Y6fd/cU1JNRfqeXLOb7ejHl/XNORo/T9fUbtRk5OD/Uz6NpnRsLKEakmpL2Z3ej6Hb6baRhHDa9Wji611GtOpShFrOMHK5W3XG8nLffvNnd1tN0+kvyqW5I8hqvWFJTcKVusfRHm9U1ivfVpOTaWfRnU75J+/3PZ4/j3/bJ4uTlknrHNv8AVPi5N+HjJ1+1Sec4M+JLkwcF6M9vrI4zvtHSy/m4MalPbNOm8P6G2PsJQ2vcuUYz45Y6Y+RlhenM0zW6tlXUK+akF6S7Hu7HVXp9One0pblVaWxeh80nBVVu9TuOntTlVuHa3T20oLytnyPI8bvp9vwuf36yfdacqGraQ09s5Tp8r2Pg/XPTn8JvpbafEm3lI+i9N60tMqyVeeKcn5W/Y0/iBeaRqNnOpGvF1VHhJfQ8fHvDP1fR5OOfMfBd0qVTf6Gzc8+J7+hrrOe500vL7lhN7dnsfZ4cuny+XHVXOeQMA1a8wGAzWMEKQpVVEKiAAAAAAAAEAAAAAAAAoFXchV3Qnyjk0o8G1sxpryhvk3EMlyYsuS0UgIQXIJkEAmQMgUZICAQEApAQACFQAAACZKQAQEAqYIAsBkgCo2TIyTIDIZMgAACAAAAAAAAAAAAAAAAAAAOaRlyQyI0EAmAwAQAAAITBSMAGwGBGyZDAGS7EC7A0IAALkgAAAACFIAyUxKBQQAGzHJWQBkAAQAAAAAAAAAAAAAMpY2GJm2tgRLafh1NyPddM9SSt60YynhZ9zwkHHJsp15UaicXjkzYu31Pq/qiM3TjTqcOCzz9D5pfXKuKrk3kxvbupdSi3LOEcZR9zMxkmltRvCMU2JFjE3IyAAoAAKAAAAAAAAAAAAAAAAAAAAAABGAAAApCgAAAAGQAGRkCAABgcAj7CiPOeAlIyykib+S4qbWV4iuRl4LTnGUtslkWyEjGLjJiXBlVUYJOKwEsx5JssSKbWSDEl2fAIzQAGjdZx+X6nIsNSq2F0qkXjBw+U+OxlmDXK5OPJxyu/Fyar7l0h1pRuqFOhcVc4XbJ6XU9Jo65GnKMd0VyfnK0v61nUUqU8Hr9O6+u7WCjKtLCPkc/jbvw+xw+TqfL7TplhS0q2lRgsRl3OZDbGGafY+U0PxBjXpvdN5+pspdRXd7VSo3KjF+jZ48fGyj2ftwvb6JW1ehSqOE5eY0Vr6ukpwflZ52jr2n2FJTvkqs/Vpnn9b/EOynGVO2i444R6MPHtuq5cnPJOnououoadrQl408TxwfG9c1S41O6lOEs02NS1q41Go3UqNxz6nVSnKMsRflPocHDMfp8rm59/BiMobI/Ou5jtxwzZ5VHcvmMH35PoydPDll7JgoAZMlb3LDIAA9MAEBLAAAAAAAAAAAAAAAAAAAAAAAAAAAAAAAChgAEAAFAAEAAAAAAAD7AGyxSaMVyjJdhilY/qwdzoNgrvUKLxnE0dPLjk970FZxqU7itJf2aycs7XbD4dn1terTbelaU3hTpx4/kfNqTqU/O+x3vWepPUNSg4t4h5f24POOrKVTw/Qkm52l+en1HQbulrmlx09vc4Rbx/I8FremSsb6qpRwt3ByOn9Qq6TeqqpPbLC4PpepdPUuo9KpV6EVCoobpOXqccrMa7YS34fFXF9/Qm5YO41TR7jTrh05wk1n0R1tSllbFBqXvg3L101MtfLjtVF5v0mdOpBf2nr2NbjUj5ZZaMqsVOMdvddyzl11W7Mc5uNkuWnHsXhx47iFSChta5Ne/bPs8HTDk282eGmxR45MXxky3p8mNRfLj1HL/4cWWr25GnWzrXMePU+3dFaYo2kam3zLB8o0GlHx6eV3Z9z6b2UNM3Y4WDyck6cfIy76cnXNR/h1g5xlioj5Fq2q1b+4nvlnk9F1lrLrXFShCXB4eSkpbn6nq8TjmPy8XLlazhOUk9xjuYzhGLPo2/TyXRnIAOeXybVJt4R3mlaFc6hHEYZizpaSzVivqfWui7eH8Oc3jKOXlcnpjNO3Dh7V4jVOlbnT6Eqnh4S+h5S4k7eSa4knyffdVo0q1jLxEmvqfDeoVThqU6cFxuweXHP347a9vFLjySR2dncXOveDRt3u8PiR3OpaLYWlJUtQji5lFbeDm9EaMrSwuLppJ7NyOz0m0j1Jdu4rR3qlJx5+jwfJzy/lt+iwu4+Van0/Wpt1qMPyvc8/UtqlKTbR+rP+HNNnbeDO3TPh3X/TctNuqtWklGk3wjtw8t/tx5sMf6eB5Aaw8MH1sNWPlZzVAAarM+AAEAAgFBEUCkKQAAAAAAAAAAABV3RAu4RzKcvKV9zCn2Mn3KiMrnHhIxZlTnT5zEqDlExcuCylFzWEWUcvCG10206LqQzFcmhqak17Hf2Gnzdup4zlex113aShUk+3JPaLpwc7H5+xnup1Hin3MHJZxJZJvhCWYxwyoyacXh9yBycnkhEGQACsgIAGSALDIyARTIAAEBAKRsjZGwI5Mm5hmIVlkAABlLuCMoLOeexnGDqfIScXSUc87jk20VTqxz2ZK1poxHHhf3xi6U4cS7n0fR+laN5ZLVGo7V6N8njdehGjqFSMFiKOeOW1sjqnF4MYvnksZOWTF8M3GWyWPQxGcgqAAAAAAAAAAA5eQCGQGQAABABTEyAhGUjABgMDFgrIBV2BUQ0IAAAAAEKRgCAmGAKTDAFBABWQAAAAIAAAAAAAAAAAAADOVgdzGUcS4CLt+oUc+plxt7kTwZqpLMWMsreWWT44AxismW5RME3nsVrJYigAqgAAAAAAAAAAAAAAAAAAAAAAABGUgAAACkKAAAEZMlZAGRkACgAAMZBYtJ8ga5LkyjHCyySlmRm3lBUcvZHN022d3cKmlyarShCc1veD33Seiac7qFepXSfscOTLS4vJ6tpFSzoRm4tpnSVIzk0lFrB986k0DS3pVOdWsoxfZnynWqFjZz/wCWqKZOPP2aseZy6flkuQZ1ZutPc1jBhg7MUABdppV3wWVLjOSJ4K+V3NztPisEmn7ldVx/SVPazZvTXZGcuOVucljHdOccxk4/QtO5uocRryj9cmHCTMG2zF4MW5zZf25i1K6XE6k6i+pxZZryc3LGOcCFaUONqZisuTfbJJxSVf237Xf4nlSx6Ff5a2vn6mThGKymY53cM3JIxc9pHh7u/wBCvkzUFHlPJg+5vbNuwAEQABAAAAAAAAAAAAAAAAAAAAAAAAAAAAAAAAAAAAAAAAAAAAAAAAAAABcIv6RlNcFWNmPUuJUksqP3PqHRdFUdJu5N4zTZ8xXzQT90fU9KiqehVGnjNI4cny7YfD5xqVTF5V43ed/7nHpQjXljiL9xc1Grmrxnzv8A3NEaklPdjBvGdMX5e36Z6aoXtzHxruEVw/Mz6tfWNKx062VO6jGMI84fzHwK1v6lKrGXiSjyuzPVa/1RXnpNtSpzbxHD5PNyYW13wzkj29zqOkX0HRnTob+25nSV+kdPvE9l5Rg37M+Xq7qtyl4s85z8zORb6nXhy61TP+pl9bI55Xde/fQFtKm4wvKc5JejPB6poMtNuqilUys8HedNa7cPVHGc5OLSXLOx6+sVGytriHefL/cxcLe2sM7jdPnUqbpzznKNsbhOaXh5Mprjjk46qShUWInTCaenUyjkzW7lLBG87UI1d8ueGR/Mbyz308949V6DR5Yr037M+u2N9Gn07UalysHxrS6m15z2PX0tXktKnR3cs6TimUj5vkZWV1mp3LralObeUzj1ZKUUkYVcze71JHtyerHH1eS5+zJrhGMu5NzAl7ctdgALl8qqeGmj1vTnVD02n4U4tpv1PJLujm2Vsry8p05txz7GPI4/fCOnHnca9trnWEbnT5U6a2yfsfOL6XiVoVZvmU13+56HWNGp2EJSjUk8e7PM3lN1IwcspJpnlnH68devi5N8sfXNKqQpaA9s0t1I7T8OowdpcNtZ8R/7nz/SdRnV0ydOLbUIYO66J1h21Ook/NvfH8z43JO36Xj+H1+s4xj3SZ8f/FapGem7Y4zu7ntq2s1LjiXEn6Hyj8QdTVxSdDd5k+x04ca58z5yAD6vHenyuT5AAbvyzPgABpAhSAEUIAUhSAAAAAAAAAAAAHqB6oDk0+xkYU3wZMrIzNbYrsa2bGlhYZqJWdOm5yWInPttOq1qyxTk/wCRptK0YSWcHsdD1G1hOO9wT+qOPJXTGPSaDoMnYR30n29UeN6j0O5p3E3ClPGfRH2TSNUtq1ooxcMJeiPK9SdSW9GU6e2m/T5UeXHPK56sbsj47O2lTbU4NP6nGmlTnnGTvtUu6V1UcltX2R0lXGeOT2z4ccmpy3PKWCBkKgQACkAYEKQJhYoGRkjQQZIAIMkYEkzHJZGIFGAigAAAI032KZRltZRlJqEUn5s/0M6C8OopyefoaMZbbJ4kpPlYwZrT1VHqqpbWnw0MqHsjpL66VzN1H3Z17bbyZY3R5ZmQZRaWTCXLMnFJcMxiueTSCTRTJtGJUAAAAAAAAAABzSAZMgyMEAjAYAhSFAEBAKCDIFICAUEyDShGAEQAACogAoGRkAYmRiAAAAAAAABAAAAAAhSFEKQoAAAAASgABEoACoAAy1AAGgAAAAACFIAABAAAAAAAAAAAAAAAAAAAAAAAAAAAAAAAAAJJZRRjIEjEyxgi4G4RWyNTac6y1i5tqqUJeVfU60sZYkcssVxe96j6jrXvT9tRc8tfU8FVqPdmT7m6peSqU1Tb4Rx6mJNGcMdNWsozjj6gjgog9E6jnQAGasAAWdJZugAHs1pAUGdppCoAspoABo6AAEuvoABAAAAAAAAAAAAAAAAAAAAAAAAAAAAAAAAAAAAAAAAAAAAAAAAAAAAj7FAEp8IyXMyYwix9zU+Csu9SC/zI+p2kcaC//wDEfLKXNeP+pH1axxU0KSXpSPPn8uuHw+VXP/U1P9T/ANzFdzO7WLup/rf+5rOuHw5Z/JNdjdUrudOMM9jX3RisZJfk+iFL1MakeTa5YXBg02dJhLCZObpVxC2uYym8LKPonUtGpqGgWkqSylDP9T5fGUYtOS9T6N0nqkLm3qW11LdHa4wWexxz/jdO2GW+nzq5i6FVxfvyaJR3PdHueq6l0OpYXW6cdyqPMWl6HmXB066z8pj5dN+ncaVCanksnPg3Ti5SzHsapRku5x129Usykc+wqKL5O9pzjKOUeVt622ok/c9JaVISo/U9PHlrp8rzuC/LkcsxaCkRyye+Wer5EnacsAdyTH7bskAAS/LmJ4eTk21xOjXjW9YnHXcym/bsa+Yu7K59/q9S9yqksxZ1NzJypqL+X0N21ShtXc4tsp3V26K/S8nl5s5jNPb43Hc85XK0i7uNPnKFXinV4/kdpUvI6bcwnZPyPmX3Mq1pSuY0YQjzDudF1LCra3FOnTmlFrnB8fKbyfqMJ64vWVetaVO2dTxf+Y+54HVtRnqV1Oq3lyOvqSlF7qjyWHnWY8Hq4sNPLz5C7AA9sxfOzAAa10wAAyoAAAAAAAAAAAAAAAAAABH3KANtJm7Jx4PBuTKyGUFwzERljJYKm4yN1K4cKyeTjOXJV3yLGpX0XQNc8Gjhz/T7nl9fvfibqTznzHDt7uVOOEziV6jnNtsnovswnIkcOJrm8sJtRLIzWT4ZCZyDKAIMgUjGSAUxZSAgAA0AEAEAAjAAAAAAAAAAAAAAAAAAAAAAAAAAAAAAABywXBMGVQDAAjAYAgBGygQZJkaRS5IuWXA0IQrQwNB6EBCgCZGQKAAAJkAMjIJkC5BMjIFBMjIFBMjIFBMjIADJMgUEyMgUgyCiFGCAUEyMgUEyMkooJkZCKCZGSmlBMjJlVBMjJoUEyMgUEyMgUgyAAAIAAAAAAAAAAAAAAAAAAAAAAAAAAAAAAAABYvD5IGsiiyaMMDaZLguIxeUWM9vLjkr5Mt/k24Q6WVhvWc4MnFSaZGsomCaNs3D1yYlTwsELUAAQABk31pAAGLF2oJkZJo3VBMgugABTUAAQAAAAAAAAAAAAAAAAAAAAAAAAAAAAAAAAAAAAAAAAAAAAAAAAAAAAAAAAZfobMYPyjdhYCWImseysqXFVP6n1Tp2Xj6NcL2ps+UQl5z6d0RVdbTb2L9KbPNydV1wvT5zqC23tRf53/uafQ5ur0XDUJr0c3/ucKeIcI64fDGU7TdgwWcmxwTgpZ5IPtJpUvcyylwY5MWss1updK+5zLK6qW1aFSFRpReWkcNJEg9snyc7Le6suo+raXrdl1LYu2r0oQqqO1Sl3POa70dVsZy8GbreuY8nk6V1Vta0alOUljnCZ7fQ+uZxUYV6UZfWSTMXDJuZb+Xiatpc0HtlRmse6NDk1xKDX3Pr8q+jast9arSpyl6JHT610bZzt3XsqvicZ8pjcny7cWVl/8fNHDLyng5dnXlCrGLlwaKtGdKtOm0/K8GrPh1M5MW3e49PLcOTHUemhUUjKVRROtsHWupKFvBzn7I95pPQV1qVFTr0508rJ0y8vGdWvmX8dl86eVjVjJ+hmzu9V6JvNMTlTpTlFd2dDCWyWyr5ZezPV4/k4ZdbeXn8XLDH20zBcNywuV7h4XdnfLKPHJdo+xFLEHkxdWK9TDfWrzUadPcn7HO8uMerDx8uT4jXVnNxxTTcvod3YW0bWhGvJLfLv7muzs1atVqi/MX6GZV72E5Y3JP8Awny/K5N3p93w/F/XN5OZVvoWNvUbipSmuPoeIuLqpXnJ1ZOTy8ZPb2HT17rdOcp0ZqEFmL9zrq3S0aWqU6FduCb9TzY59vfnq/Dx3hy3bmm17Gcluj5fKfaLD8LrC8tlONw3n7nm+o+gKGmRlKFVvH1Z6sefCPDycWdfOewN1eg6FWUJcJPCNEniSXoevj5Zn/q8XJx5RQZYTjkjTSydbufLigAIoAAAAAAAAAAAAAAAAAAAAyEVPBti8mjJspyKabjOSSSMEYy8xCMtiYSwyJ4WCFlSs1LDJLLMc4LvLamqmAsN4DkYJYeTN21GT4ZC9yYCaQFwMA0gLgmAaQDACgBMhVMS5MQKYlABAAAAAAAAAAAAAAAAAAAAAAAAAAAAAAAA5hGUjMqMhWQCMBgCEKCwYkMiFQXcyZiu5kwMWAwBGQyIBiCgC4IZEAxBSACFIBCkKAAAAAAAABAAAAAAAACFIAAAAAAAAAAAAAAAAAAAAAAAAAAAAAAAAAAAAAAAAAAAAAAAAAAAAAAAAAAAAAAAAAAAAAAAAAAAAAFAAAAAQAAAAAAAAAAAAAAAAAAAAAAAAAAAAAAAAAAAAAAAAAAAAAAAAAAAAAAAAAAAAAAAAJcMegfJC49FIrzH0HoS4UaF1Bv5otHz5Hp+kbvwrxQz80sHDkm63i1dU0Phr3lYcnk87ndLDPc/iPaOF/bSguHBN/seG+WoawvS5Czux6FMm13MTbkAAqozHDXJm1kJpcMERSzwzNRlHmJjtXdBVGgrfmcYKSb3Z9z6f0fdOtp9eE3nFKX+x8qxU+bPlPo34fz8WN1FvtTf+xyyxny7YV4TVJVFqNfjjezheFCrzI7zqGnCjeVfLhuTOipKU48GMpNOnHl2+q/hh05Rq31O4lHMXjnB9yoxjSgqVNLEfofO/wALrVw0ihUfc+lqMY845Z8fyLZX05ZY4moWlK6tJ05JZlHHY/P3XOiw0vVsKOG8s/RVRxjTlN+iyfE/xJnHUdUUKP8AatYTLwctw7ScWHJ1XgYu5VupQQo2t/Xk3s4OTQ0DWKVNOcsw9sHLem6s6ajby2y+x7f8q1wy8LilcanYU4P/AJnhepsne2dh/wBJLMl7m2h09rFSTVzNS3duDsqPSStvPdKL9TlfItd+Px8J8PPxutS1G5304ptnsenuhnqdaNS5pvd3ZjY0rWd4rS0pONX0Z9i0GyVtYU21ipjlnnz5LXbOSTphpWlU9Oto0YRSWMPg8V17o0adzG7px+RZyfTZOMO503UllC+0iulHMtvBymV24Y15HozWZTsoR3cnqL3QLfV6Oaqzn6Hy3Qrh6ZrkLKbxj0PsOnXHjUYqLNXJux8e676Gt7ClGrRg/d8HyauoxqOK9Hg/VnU2mO/0ytvWdsHg/MeqWDtb+rGS/W/9z3+Jn28XNh062OVwVyk+H2MarcavHYuco+nbt87KaoAAgAAAAAAAAAAAAAAAAAAAAAxM4MxaCeAOQmDCLMwAAAMgZABAQDIEAFBABSAgAEKgBCkAhCkAAAAAAAAAAAAAAAAAEKQAikRQKQpAAAAAAAAAAAA5hGUjMqMhWQCMBgCFIUsEIUjKgishWBiwGAAHoAIARgZBmIApGCMAQoAxKUAQFAEBWQAAAIAAAAAAAAQoAgKAICgCAoAgKAICgCAAAAAAAAAFaTxyCIDNpU0scsiTm90lgLpiBLO7heX3AAABAAAAAAAAAAAAAAAAAAAAAAAAAAAAAAAAAAAAAAAAAAAAAUAAAABAAAAAAAAAAAAAAAAAAAAAAAAAAAAAAAAAAAAAAAAAAAAAAAAAAAAAAAAAAAAAAAAAjyJcACowOfpFw6GpUOcedHDM6D23NKXtLJjKdbbxr6h1fRV9YQuEs7KUef5Hy1LdyfV7Ka1DpW4fzOMcHy2vTdKq6b4ZjFqzbTFbptB8Mi4m0U7RzoAAGcBQ3cgAVraY5XsUAYNyn5U8HrOj9S/h1y4yf9p5f3PKuG3zrl+xvpXL8SnKPDhJPg45bdcfh7jrnS9qoVqcMqa3Nr7HgpRcMpPB9Z0W/t+oNFrUbqUY1YQ2wT7s8BrWh19OrSUqctuW8s4/LfH8vqn4X6vCnaUbepNLHuz6ZLWbWDeasH/M/NfS9zcxuo07dSlL2TPqFtoE6lt8RdXdSk3FvDkz53PJt9TDWtPVa31Rb0rOrtnH5fRnyyznHW+oadedVRgm08s4+qW1zVufh6NSdRN7cpnZ6N0HdNKUpVIN892YmtOvrqdPoPwOmwo7JVKL/wDcdbc3Om2GZKFKf2Zxo9BVqtPbK9rL/wB7ORP8OIuhzeVJPHrJllkc7jXS3fVFtUfh29i5PtmKbwcWjpOoa1XjidSlGXo1g7XTtLj09fKnUpqpGcsZms4Po9rQtasY1aMYcJdkTKwx3HQ6B0nR0qnCdaEalVfqfc9PDFNZS49jN88JcEnLZBcZOdq3JXz3WTTXourScPRlhcUm8b1n2Nzk1FtLIlZn9vivVVstM6mlcLjGT23Sl87ilCTnhNHnPxEtFOVW4k9r5Og0vqKrYWVOFqvFqLhxRfluXb7RfXNBWdSE6sFui1yz859f2cLbUt1KpGSbb8rPewjq+v0/zqVajFLh5xk+f9a6ZLTL2FOpVlJyX6nk9HBfWuXLjuPI05KXzLkzntxwYumovfkOCxvT7n2cO4+TyTVYgA25gAIAAAAAAAAAAAAAAAAAAAMxMgBYM2p8GkqYG4GtMyTAr7GJQBiCkAAgAoIAKQACFQIBkQxDApCFAAAAAAAAAAAAAGABCgCGRACAAFIAAAAAAAAAAAAHMIykZkGQrIBGAwBCkKWCEZSMoFZCsDFgMAPQD0AEIykYAAACMpGAAAAAAAAAZCsgAAAQAAAAAAAAAAAAAAAAAAAAAAAEAAAAAAAAEcIGa2sEa05KosrjJzaVtXvq0aVvHduOJLzNJHM0y9q6bf06rliKDTZeabcWFNwrw2tHXHa6xqtTUriVTdmDOqCAACAAAAAAAAAAAAAAAAAAAAAAAAAAAAAAAAAAAAAAAAAAAAAAAAAAAAAAAAAAAAAAAAAAAAAAAAAAAAAAAAAAAAAAAAAAAAAAAAAAAAAAAAAAAAAAAAAAAAAmQDOHkEfcutwny+kdDXSqaNXtpvmbxj+Z5Hqi1+C1yVPGFydh0ddulqNGinxKRzfxDtP/ABadaK4wzheq6/TxO3zuQM8/lL3MDtPhyoACgAAAAAtPLnh9i+Et+aXLXcjeyOS+eCUoPG7uMtabxrsNP1Wdnd0p0pcxfPJ9KtdQ0zqS12alUUazSWEj5O4wS3RXm9TdbXF1RkqtOeGjhcNtYZdvo2jadb6N1Q3b80V2bR6nqCvqVxZRdvTTglnh+h8f/wCJLmHPifme56S365rxsVTq1c5i0eHn4bXu483pej5K5v34/wA8Zn2WlTh4cWkuy9D82aB1LC11RScsKc8n3jROoLe9oQSlltL1PFlx3GPX7dPQKCbzgwcZKTwuDJy3U/I0WLaj5msmO03XSa9pVO6t5VUvPBZRwulLpqzqUqzxPc0l/M7+7mo2tVN91weFoanR06/VKo/M5NoatNV7/wAWNCl53g81rHUkbGM3vwscHWa11NGhTlUlPye2T5xqt/e69V8O1k9qee3oX9dX1r3XTes3WrahVb5hGXufR4T3Qjt54PkXT9zHSKDWGqkly/qd7S1q/rUpRoVGpPsX11F1qNX4heHKlVVV4jyfKum66odQPDzTysZPpk9A1jWK3/PTU6Uu/B851K3p6Rr86NNYcJL/AHNYxcY/Qlg92mUHGK80PY+P/i3p1L+IUq1ThqOf6H0Lp3XqVTS6UZS5hD3PnX4o30b+utryksf0NYblTlx6fKak6VSLjTeSKWIKHsa6fhUZbccm6VPjxF2Z9rg7xfG5vliADs4gAAAAgAAAAAAAAAAAAAAAAAAAUgAyRkjBGSAyyTIyQACAAAAAAYEyMkAFyCFAgYDAhSFAAAAAAAAAAAAGAwIUhQKQpAAAAAAAAAAAAAAAAAOYRlBkYsFIAZCkAhljgxMs8FGI7kbCGxcYGMlfYIsE2kawZmEgh6EbKuxjIKDBimZ54AxAwAJkAYAAYGAAGAAJkpAHcYCKBMDBQBMEwUATAKAIAAABQJgYKAJgYKAJgYKAJgYKAJgYKAJgYKAJgjWDIjAgAAFTwQAKnmaceMGamnQcZcy9zABdrF4p7X3IAAAAQAAAAAAAAAAAAAAAAAAAmSsgDJckAFAAAAAAAAAAAAAAAAAAAAAAAAAAAAAAAAAAAAAAAAAAAAEAAAAAEAAFAAUAAAAAAAAAAAAAAAAAAAAAAAAAAAAAAAAAABcEwUCY5X5XGb+UwGUu7b6ZL8VL1XZ9OVPB1q3z/iPcda0FXtKlxxjB890yttvqc+2GfR9XpfGdH1K+7/8AuDhnrbrjOu3y3PPcolRUV8xN3GDrhNzpn138LgNYIuTJQi+8i2WJ61hu5GfoZTppLyyywprGH3JufbXpudM40sxzlGO3nGTDOX82DNwiocT5HtEnDnWcYLOG+BjDxng0bsLGTZHCWW+5iZS/J+rOEltffJg3Pdw2o+wjHEs5yZSmt2MF9sY3OLKVikpTw+/uXlvbnhG6lp9S5fkzz7HqtN6Iu76EM0ppP1PLy8s+nq48LHmLS3rVJb6cJPb6pdj12kdSXWlJKXiNL1wfR+meg6Om6XcxqpTnUhxuXKPGdQ6TX0unVpRtXJNt7sHiyz9unuwn9vRaT+IcZziqk8L6s7ar1lGo04VV/JnwS5VWLb3yhL2ydvov50tta6cVju2Z9I6vrmpdYp2/lll49DwF/r1SvcfEJSzH6HJttOtFzO/Tz7tnGv6NtQvoU6VSM4v2LJIlcS3vrvUr5SqzmqD9JcI+h6NqWlWlGMZW0HJLmXueTuLelc6a7WhiNV/4e56fSeiqtXTaTlUmm13yS5SJvTvv43o+N3w1N4OLX6o0+M1KjapJeiTOMvw/nCWVdTefTLNv/BjtFvlNyS9zO8S2WOq1rruXw0oW9KpTl6NJnnaFm9Zfjy/tJcts7rqO2o22nzajHcvoY9N0N1OM2sJoz/8AhjK6tXt1pW6klUknwsI87rkbq5pyr1JSSXOGfTriNGGZTpR49Wj571nq0J1lRowjtaw9qO3Fhu9s8uXTxdGEKi3PGSzyuM8GqNNxluzhGxqOMqWT7HFNY6j4vN/sxABpyAAAAAAAAAAAAAAAAAAAAAAAABgAAXJABlkuTFFAEwUAAAAI+xSMCAAAAAAAAmCgAAAAAAAAAAAAAAEwUAAAAAAAAAAAAAAAAAAAAObgFIzIhDIgEIZEAxDRTLHAGrBnGJkomyMQMdmUVUjkU4ZZuVI1FcLwuDB0jsfC47GEqX0Bp17hhGuUTnVIYZx5xCONgqRm4jAGOCFDAxGCgBgYAAYJgoAhCsAQAAAABAAAAAAFAEBSAAAAAAAAAAAAAAAAAAABAUAQFAEBQBAUAQFAEBQBAUAYgAAVEKgAKAICgCAoAjIZMgEBQBAAAAAAAAAAAAAAAAAAAAAAAAAAAAAAAAAAAAAAAAAAAAA0AAGgAA0gAAoAAAAAAAAAAAAAAAAAAAAAAAAAAAAAAAAAAAAAoANfsjV6BxjkElj1OWWfbMntdM6MtlVNH1C1zX/D+af/APeD5dGcE8n03R5Sq9DOMfp/sefk5cY+hxeLllHzW6io1pR9jj5WcHaXGk3la9ltXf6HPt+kL2ok3Hv9Dy5fkJxvRh+Pzt6edTRdu491a9FTwnUp/wBDs6XSVnTX5lIzl+R3Hv4/xV+3zalRnu8iyzOnpt1Uk34Z9SpdP6ZB+WlycmlpthDKUDx5/ke3px/FR8o/g93LtTNFa0q28sVI4PrV1QsrahOW3GEfO9Wn8fqSpUPXJ24fLuTHN4mPFHW2mm3F/U2UIbmcyr05qCikqLyj7F+H/RtOhZ0ru5p91y8Htp9O6ZlydNf0On77t4bhi/MEtHv6MXKrSwkdp0303U1u9prY3BvDaPr3V2m6ZToSpUYeaSwb/wANtBp22nOq4edS4ZnLyKzcY02H4a2trbxkovxF6YOwtLy60SuqV3RjTt84hLHc98vKsy7nVa1pdPU7Z+LHcoLcv5Hmy5bUmo5FCvQuKcJQa5WTqupbOzqWdSpcYjFLl4Ol0jW6Ng69K6fyvEDz3Uuv3OrXXwFrPKqLsawve25k+adV2tlG7qTsp7vY6XTLK+va/hwg+PZn1a3/AA1vK9spzpJzf0MtP6QutBvHWuIYpt+x192tvMQ6R1F0YyVOWce7N1l0zXhWU7yMotH2XS7mwuqKpxXmSwdjLRLOuvzoZyYyyS14TQukbapUjeU25M+j21GNC0hTwlj6Fs7K3saShRjiKNsYyc25fKcrazanhwgtx0+q30djpxxyjnX1/QoQcZP0PD69qkKVKdeMsKJcJbWPt4rq2/jG5nbVJYRssdf0+y0ymvGxJI8J1JqVXUtQlXjLMWdQqknHFR8Hv4+DcLz+r2usdZ1qsZQpNNdkeLuLutcydSp3yatspPPojGU3J7UevHikeLk59s1N1aLXqa4x28PuZw/KfIabm5ejPTj08mWWwAFYAAAAAAAAAAAAAAAAAAAAAAAAAAAAAApABQQAUEAFBAAAAAAAAAAAAAAAAAAAAAAAAAAAAAAAAAAAAAAAAAAAAAAAc0FIZEIUAQhQBiXcDJQyKMqaycmEMmunDByqa5Nz4WN1KklycmnauUljs2KFJVcRbx9TtrS3lKpCEY7sSRyzy00493pU6MKc8cPk4lagpRzGOD6PqWiupp1KUY5ew8bWsrijuhKhLv3wZx5NmnnKlHEeUcKpHGeDvLii4JqSwzqa0cNnaJXXzRj6G+pE477hmoGUgECBUEoAAgYmRiAAAAABYAAKgKAICgIgKAiAoAgKAICgLEBQFQBgAAAAAAAAAAAAAAAAAAAAAAAAMgAAmEMIoAmECkBAABoAAAAAAAAAAAAABgBAXBCkAhCsgAAAAAAAAAAAAAAAAAAAAAAAAAAAAAAAAGXCWTFyXsTlvBsjBLlsqMMCK2yy+UWX0McuPOMmLWozU1427a9pMeJN7XgSrbqe3ZhkhRa8zbWRKulnFway8iTyHBt574DkpG/plAAQAAAAAAAAAAAAAAAAAAAAAAAAAAAAAAABAqWWkQcrsGm2cVSXPJp3+J24J4mf7R4fszdb21a5qKFKlJp+qPL5HPMK93jeJlytSyvqbLe3q1qmxU58vCe1nqtL6R3balWbWfRnsbTS7a0hHNKDx64Plc3nyfD73jfiO914nTeibmu41JVEl3w8H1PQtAVnoaoz2yj7I4dOi7qcY0o7V24PZaTpsqOnqM5Nv6njz8m5x6uTjx4eniK9raU7mUVQ5X0N1Cg67UacHH+R2l7aJX8uOMnfWlvRhRg9sc4PNjLlbt3uUwxlk+XSW+gXDxJ1ODnrRcRxLDZ2++CWMpEdalHl1EW2R57y8m+nRVtFUU2kjoLq2dlOTm+H2PZ3Wo0I08KUWzwvUuoRdKTTSwjEm69PFycmt15PqXUHbpwUs7l6DoHQparqtG5nBuGeco86pVdZ1SFHD5ng+/dC9PR0fR0pQW/h8rk9vF08Hm8vtNOB1NrsOnbB0afG19onjY32sa091vfSpR74bwcjrmjUlq9adVtU2/XsdD8TO0pU5UW2voeqV82SuVe2Grq6ozq3E6sYvnHJ9W6Jrr+GbHTcXld1g8DovVVGk407ijGWeMyXY+kaNe2VzSU6M6cX/hiYzi+r0OVJ4NVapHwqkXhYi+5lvW3judDrt5so4hLD9cGMcE9XzPrO+jRu9tHyty7o7XoLSleUleV0pyi+GzxvWNeMr+ilPOZcn0r8N4bdK45WUbymsT1097R2qGEsI1XFpRuYuM4KRum8LymUeI5ZzlHitY02pp1eFag9kE8tI7vRdUp6hb7t6W3h5Zq6grRnaVItLO3g+aW2svTJzouthyk33NTtX1+4v6VvF8qX2Z1V31BBw2xi4ng/+J5QWVLxH7HV33Vl9VThSsJv6pGpij1OqaxGMJTnNPHPc+X9S9Uqu5UabeHxwatZvtUqQe+2qwUjxtWNWNRyqKWc9menikXPH+DanKSy2YOLz34NXjTnPGxpe5uljYsPLPqcWtPj825Uy0RJEyU76jjZV79w+wDMs7QABQAAAAAAAAAAAAAAAAAAAAAAAAAAAAAAAAAAAAAAAAAAAAAAAAAAAAAZCgAUDAGIMsEwBAXAwAZCkAhkuxCoAAAAAAAAAAAAAAAADnkKDIxBSAQFIBBGfOAFHkDl0nk5VJZaOHTkkcqlLlG58K7rT7eNaoos9vodlYQqLxKnJ4C3uZUmnB+Y7ahqE0oyUvN6nn5cbfhuPsKjRdtlNOMUeN17UrZVHGk4t/Yx0nXZ1rGtCc84jg8pf1qTqyk/my8HHjwyl7OnB1Cr4lRtrB0dfuzsK9bc3k66tJcntnwzXDqs4zXJvqvLNQSsSGRAyxBQC1AAEDEywTAEBcDAEBcMYCoC4GAALgAQFAEBQEQFAEBQBAUBYgKArFkMmiYYEBcMYYEAAQAAAAAAAAAAUAAAAAAXAwGUBcDAEAAAhRgEQDAwFAMAAAAoAAAAAAAAECgCFIBGQrIAAAAAAAAAAAAAAAAAAAAAAAAAAAAAAAABcpGOXIkotmUPKLsZrEV9SPfnOPKYRb8ROXy5PVaKtIuZRoXCzKRytbkdPpemyv7lKMcpl1W2lavYlymfben+jbCnbxuLalhejwfMusdGvbTUq05RxScuODOPJjbqLY8jSm9slLg17drMq8ZQlH+pG8neMVAAEAAAAAAAAAAAAAAAAAAAAAAAAAAAAAAABAZa5XcDJL8N4/Jb0FfXUFV8vpwfQdEsqNjCOxJ490eDs5P4uEl8qfJ7uzqKdspRPzXncmW+37P8ZMLHqElUpKSWPsVT8XEH6HCs7ndBRbOVFpSzHufGzu338cdTcen0G0jCm5y9Gel+Jpxp4zweEoapWo0nBS7nc2Ny61jmo8zPRx5yR8fyeLLLk7cPWL5wrydLDeTRS1uvGCWDrryU3fTXoaZNwxn1MZc2n0sPFxuE27aprVzLsjjSv68/myv5nDdVxaNibmsM8/7MrXacGOE+GXjKTeZvOPc8J1Lq7dTwYSzzg9PqldWlBzTwz57Toz1bWVGHP5iyfR8bD2x3XzvM55hNSPc/h100765jeTh/Zy3H3qlGKppJJJI850doq0jS4rbt3wTZ6CO5y8nynsskfms+S55dvC9f6DO/spypQy8vsfIfGuLetK2nHiHHJ+l7mnCpScanyny7qzouTc7myp+Z8t4N4Vd6fP8AwreUHKpUcZ+iOx0HXLnS7qDjJukny2zoKzVpcuF73TwjG61CjJeHbvys6WNTd+H33S+pra9tI1FVTqv0PIdU9QK3k1Tlmc3jB830/qCppiTU8Y+pv03W7XUNTc9SlupqScTGq3q/09BZ9J3Wt29e9vKcoumt0Pqel6F1eWmzWnVsRcpYSZ2FTq/S6ejuhZzx+XjueW0bTL/VL9ajbrKhJ8kyu+mK+2boxjvzwN2+L9jzlldXdNKndvj1O5jcwnScaT5wZkYeY6qulSoyw+yPmtjon/EerQqNy2KTTaPYdXXHknCT5fBv/DTT1/DqtWS8+94/c3Ol05tv+HOn0cSdSf8AM7q16TsaCW1J/dHfRi5RxISapozck289qPSdnqEFCpBJJekT571P+GVJbp2cXOWOEfZYttfcjhEuPJZT2+n5R1LpfVNPi1VtnGK9Tz8U6VZqXf2P1xqehW2qRlCvDdFnzXqP8KoVVOpp9v5+/Y9fH5GnLPgxyfEm8sHc6t03e6TVlGvDCT9jpU8t/Q9eHPt5c+FkMmKazgyfCyz2Y2WPJlx2fQBDzvgs04dw5oCKSfYpdGgAEAABADAwNgBgDcAAAAAFAAAAAAAAAAAAAAAAAAAAAAAAAAAAAAAAABgAUAIpcEKBMDBcgCYGCjGQMSGe1mOAIATIVQTJQAAAAAAAAAAAAADsCFwDIxBSYAhDIgEKMAsGcXycqnI4SZthPBV27KnUSeTk06+MnVeJxwbaVRkpt31hqToQqLPc4lW58SbbOA54aw+5Kk8RzkhtsrTTlwcKrIeLlGmc8mjbXN8mtmTeTEJsIUgZqAAMgADQAAAAAAAAAAIAAAAAAAAAAAAAAALAABdgABsAANsQAGQAAAAAAAAABdgABsAANquxSLsUIAADEAAAAAABNATBRgaWJgYLgYGlTAwXAwUTAwXAwBMDBcDAEwC4D7AQgIAIAAAAAAAAAAAAAAAAAAAAAAAAAAAAAAAAABSFRC29JKM5Fhv+LhseJejOMzbb1fArRqexyym3SV9ZpdWT0jpiNOVXNRez+h5C76rp6hKXxCck/c85eXtW5zmUlB+hxpwUoJKWGYx45Phdtl5cQr1s044WTVJp9icR47lawdcWKgANIAAAAAAAAAAAAAAAAAAAAAAAAAAAAAKiFRADMX2MmRdwqUZunNHstEuN9CMMnj5pbkdzodzsuIxbPhfkOG2v034nmlnb2lvU2VMHcUmpRTOhjz5kc60uGnhn57PH1yfq+Pl3OnYv+0R6PTlizTPPxSk0z0Fk8WOTfHNvPzzvbo7zi8mzj1PO19DkXv8AbyZpp4aZwzm69XHluSG1NZIp7Z4LTeco0Xc1Rg5t9jpxTd06c3J64vNdT36VN00+cnY/hloDvdQq1pxyk8rJ4+9qz1HWJUY5ayu33PvfQ2jLTdPo1dvM48n1+LH1x0/MeZz+2T2FCHh0Yw9EsGxrDynwZSSdPj2Or1PUaem6fUqVJpNe5q9vld2rqF/S0+m61apFx9snybq/8TKE1K2toz3Ly5imzznWHV9zqd5UtaE5pf5WcTQNA8Wo611LdnnzC5Y4Tb2+P42XJe3RqyvNaufEzJJvPKO/s+irqUVJ1I/zweml8HYQ4jTWEdbcdUUqVTZFxx9DH7rXty8bHjjVLoatOnl1Ifujjz6GuIQlKFWCaWe6LPrbZPw1yR9VuVOTz3TLhyZVJx4+riaHpF9LWaVKdXfT8TDS9j9E6RpVtYWcIU6ajmKbwfIPw2ure6ua868oqW7K3H2Wlc0owT8WOMHS4/b5XNLMm6dvQlLmHJ1WrXFO1o4pLDfHBybvVKVGm5wlGb9keQv9U8aVSVV7FhtZJOmJL8vLdSzqO8oxlUz4kuFk+hdE2jtdLaaxnk+ZWdtX6g1qDSlso1D7Xp9qrW0hBL9KLkty25ke2TCrHckZx+UuMoxWWMViKKwUIxI1lYMsEDUroNW6csNRpzU7eLm13Z8d6t/Da4spyr0Eti5xHk+/7U/U1VbWlVg41aamn7nTDk0WSvx9cWNaM3BwlB+7WDiyn4L2T82D9G9Xfh9Q1SnUq26jSb9Io+Ma50ndaTKSlSnKK/U0e/j8n6ccuPfTzsvNBOHBIU5vLnLKI4yUnF5WCqbpyUX6ntwzmTw8vFcWXDltisBra8M3+RU96aycdy3PJ3t3NPNje+wgIZmLV7UZJkG94/aetZZLkxyUmpU6gBgYJ6ruAAL0bgACIAAAAAAAAAAAAAAAAAAAAAAAAEZQARQABDIgAoKBAC4DNQpQBMAuAAKu4HYCswZkTAGGDHBswTaFjDBS4JgKAAAAAAAAAAAAAOywQpDIhCgCEKRgTAZSFiMMmSkGiYKbbYzwbY1DilUmiG3J8XP8jGdfcsGhNoxwNG2zdwa5SDZCiZKTCKAIAEQFwMBNIC4GCqgLgAQFAEAAAAAQFAEBSMACcjkCgnJQABAKCeplgCAAAAi8AQDJMgQF4HANIC8EeAaAADQAAaAOC8BEBcIgAFwi4QEXYpByFUAAYguBgIgLgYAgLgYBtCjAyFlAMjJF2Ad+wwwAAygAMvQxbChJdiOTMXJsAQACFAAAAAAAAAAAAAAAAAAAAAAAAAAAAAAAAAAq7BhEIyMxlnHHcyYXA03KviTnQ8NrktOEEuZckTaln1MWk3ksi7ZwpU1luX2I3lkayC6jNoACAAAAAAAAAAAAAAAAAAAAAAAAAAAAAAqIAAZCgojeWbbeu6FZSNMs5yiySlRz+o8vlcfs9/ic36695pl2q1vDk7GPlkmjx+gXjjNU6j4S4PUQqtrPp6H5TzeO41+3/Hck5MXd29fMoxPV28caS5HhLact2V3Pc2U3Lp1uXzHHg+DysrMtR0ld7qjNKi45+plLcqrcuxIy3N5/kc7817uLC+sqRahydB1LqHg2lTDO8qeXmXynguqrlVruVCm/Izt4mFuTzefyeuGnM6C0v+Ka94kllPB+krGhG3sKVPCW2OD5h+FuhRoUKV04YbXc+r7OPsfW5JqvyfJlcsmqVTwaUpy7I+L/AIk9USdxUtaM+Gn2Z9P6m1D4PSbh5w1Hg/ON5VnrGuKU/Ny/9zPxNuvDx+1cvp/R3cVldVk+fc9HqN5T062Sg1lI2W8FYafFPiKPGahd1tSvnQpvKUsHn4sbyZ6fZzzx8fjlpc6lfanW8OjByTeOGdnpnQt5f4lcQqRT+rPUdMdP2un2/j3MMSxuXB6f+OKEPyJeVH1cPC6+H5PzvzUmepXk6H4UWmPEnUqKX3Z1eq/h7XoRfwsJzS+rPef8RVHw58fc5lHqHKUXPh8dzp/g5fMeGfm+/l8XpPUem7mP5corPPJ7PTuvVVpKnWq7V2fJ6fW9CtNZtJzUN09uUfGNU0d6Tqao1Y7Yts5ZYa6fV8fyceaPpdTqunTlupVt6+rPOaj1ZW1C4jQeFFySyvua9I0m2uaMXGOUzqNfsP4bVhUpLD3r/c8Fy/lp9meNf1+z7v0VpVvZ2ka1Fqcqkcyyux7VPKPm34aayrqzdOUsuMcH0lJYN5Pl5zWTL6EbwCtZMIAAqBCgKwcUuWzFyecJcGxxT7jCxgmjbF7WscM6bWtAttXtXSrQjHvykd0oJPJZRUlyJuVZX5v6v6DuNOrTq21GUo5zk8BXp1FNxqx2tcH7B1CzoXlF0qyymsHyDrP8OJR33NlR8q8zeD28PkTHqueeHu+MwaXlb4M+F2N13a/CXDo1VioaqcHVqeFD5j2zn63Hnvh2sSHp9L6N1G+xJUsxf0PT2/4dSUU61H+h5+TzdPVw+Ba+Yg+rPoC0xjwvN9jRV/D6CXko8/Y888y2729OX47T5iVHs73oO+ppulR4+x5u80S9sZPxYYR7OLy8ft4ObwMp8ODkEbS49SZfr2PZjzY5fDw5eNlj8ssgni0+z7mSW7mPY38uNx0gANIAAAAAAAAAAAAAAAAAAAAAABQIVDAYQKQAZEBQbCkANjAKECkGQBSZAGRGAwIijBUAwMAoIwaMGbnEwlELtrAYQAEyWPIUBZLDIAAAAEAHZ4IZAyMSGRAIQyIBiCgsSsSGRCohCsgAAARkMsEwE2gLgYBtjgYLgYCpgowCgAABMFGAJgYLgYAjRMGTIBMDBQBMDBQBMBlAGIKAIUFAhDLBAMV3MzEm4LGRGTcTcDQ3gm4jeTEGmW4m4hAMtw3GICstw3GIAuRkgAyyTcQgRnuLuNZQaZ7i5MBkDZkZMMlyBmimCZdwRnguDDcXcBcDBMjINLgMmQSmtgAJtfShNpQNnpU2jaUDZ6Uj5Stk7kLE1YuCbRuwTxAGcEbMXLkmSqrIAFAAQAAAAAAAAAAAAAAAAAAAAAAAAAAAAAAAAAABSFIDSMFZAaUAF2AAGwABAAAAAAAAAAAAAAAAAAAAAAAAAAAAAAAAUAAu4BdsMxjlVMPsWf8AaL2M5x43I5cndamWmKryt6qlF45PcaZcRr20eecHhpQ3wR2Gk6lKjWUG3jOD4/meL7S1+n/GeX66j3tm/wDmYQ92e1qz+G0OR43SttxdUZRaf2PV6xPbpsqXZnw7hcK+zc5yXbrPGjWorHc11U4bcHWW9w6U8NnaU6ka0Dh9vqceWsI0alWUNPqS9Uj59Y0p6prUIPzZPUdQ3fhUJ0890aPw6013Wu0Kko5jk+l4nHqbfD/Jc30+6dJWELLQqENuJI7yc9uDTQpqhSUEsJGco7l9j0ZXdfDnfb55+J167ezlCLxugfH+l6HjVlWlzyfSfxcqPyRX+H/6HgukUvh8euScl1i+h4MmWTsupLvwbBxg8HQdN0o1LydWSy+52fVacbR/c4PSMd1xPL4PT+Mwly3Xk/8A6DPPj4+nuKd261Lw1lLGDXtdF7W+GSbiklDGfoRJyWJPn6n6bL1k1I/mGfLnnlds8wa4RjKMuHF4Hhe0iKTi8GsMZp5uTLPe47Gw1CpTThOTx2PP9aWELq3neRSzFHYObjJNI6/X7v8A8Nq036o8XlcOPrbH6T8P5VmUldF0rfSjCFOTeTtOpraNayU8c9zoOm2nexiux6fqD/8Abor6H5XPLXLp/UuCTLx9svwrvZU72tTcuN2D79B5pxf0R+a/w+qOlq7S9ah+k6P9hT/0r/Y9OfxH57l/3rMvoQvoc2AAFQAAAAADGabXBkYVJOMcpZFESjLuuUaLqNOtTdGccqSwb1ys5EUpctdjM3tY+Sdcfh/CpTqXdtSSkvY+SWkIaVqrhdUpPGOWj9aV6FO4g4TipJ+58t696GhdW06ttBRm8/KuTvOS6078GeMy7dZo+p0qtvFWzUWl7nOne3Of7U+W2V5c6Bezo1t+M45Pb6bdK9gp+IeDyMsn3PGuFdu72suN/Ije108uZonT86kpcEa+p4ZyZvpzgwym658dTSWKmWYVKWnXq/Mo5+5wXKEFmTRxK+rUaHaUf3OuGXLfhx5eDhnyx1Xoy2vKcpWkIQf3Pn2qdL3mmVZTqSzBeiPX3HVqt6mYy3JemTqNT6vp31N05W659T6nj3l62+L5XFw96ePqTpPyKGJIQUorvwzK4nCdRziksmCjv53Ywfb4srrt+e5+LHfTIAHqfOAAEAAAAAAAAAAAAAAAAAAwAIAMgQqCBQUImDIYKBAUAQBgAAABQUCBlDAhQUIBFJ6gZGMkZoNBXHcSNG5xNclgLGtmUSYAVZdyAAAABAAB2pAQyzsBAU2MjAGjYQEwU2pAQAzEyAGIKAICgqaQFANMQUgUACAgMgBiUoAgKAIyFZAAAAAAAAEsgQuGXsNwGIyXuYtcgXJG0YuWDBvIXTOUlg1ZGACGWTLKAqx7F4MQBeCAAAAAKQAXgcEAF4JgFJsiYLgAbTY+xjhmQJtpjyXkoLs6RvBVl9jLFJx5+YxUZxfl7FLIryu5EytSa8xhuiuDPsTHbPcXJjsbhlGhTmp4fYzc3X9OvlvdRL1MlNe5I23jfKuTm0NGuKscqHPoZvJsxnHje64uSb4+529HpnUqjX5flObHpKsl+ZT5+xn3q3k4Z9vNupHHc1+Kexp9JQl81P8AoZf8IUl8sP6F96z+3i/t4zxB4p7B9JL/ANP+hrqdJNLMaf8AQnvVnJxf28p4jG876r0zcx7Uzr6+h3tPtDgv7Mv6Pbht+XA3ZGMmcrKvRf5kcGLqQjw2P21bxy/6sWmgot9kSNSMny+DPdKPydjrjnL8ueXHlEfl7j0yZYUlmfcxaa4Xylv/AIzJPsyCYLgJegFwVFXGbYgyIyJZUAAAAAAAAAAAAAAAAAAAAAAAAAAAAAUgANhCgGwAAAAAAAAAAAAAAAAAAAAAAAAAAAAAAAAAAAAAAAAAFGSScG33EHlYZiDNm7tFTxJr0MIJQk5Z59DIyUIyTb7rsY5cZljp6/H5rx3p7ToW+lVvacKvHmwsnu+qZqlWlFPjB866Hoynf06slxGR7fqS8o19SdBPLaPzvmcEx7j9L4XPeTW3RqLl5n2ORQufCTTfBocnF7P0o0V24wb+h8eS3LVfoprHDbpup7pVLqnGL7n038LdKX8Np3W3lNHyC4lG71WlDv5sH6G/D2lC00GNLs+D7PFPXB+X83kuWeq9guUYQbzJM2dnn0EklhmXi+I+UfinbucVKS4UT5r0xVjGooxfGT7V+IWnfG6dVko5xA/P2n1p6bqsaL45ZeSe2L6HgZeuW3ruprd1rJtI8707duhezpy45wevnOF9ZKMeZs8Jd0qunX8qk1hORvw+bHDLW1/N+NnzcW4+kU6cY01OLy2slUnUWWsM6bSdYhc0owUstLB3OUlk/VcOczx6fyvyfHz4s7uJDKqY9Cz4YXPKJHdKWH2N2ZYvLvK3Uiyk+ODy3U94lCVNPlo77U72na0Xh4eDwF5XqarfqMfNk8Pl8sw47X3vxXhZ5csruOkbbxK8KkjvepasaVolky0OxhYWMHJYqo6Dqa+Vy1Ri8vdg/J3efLt/VuLGcXi6tdt+Gtu7rU5zSyozyfouksUoL/Kj43+E2kOiqtRR78n2aKxFL6Htzu5H5rk/3tCgGGdgKgBAUAQAACS7FIwMIwSk3ksvYowNJbUS2rg11KcasWpRTz7o3GLeGIatfGvxA6IVzuuKMHlPc9vB860jUqunXTtquYrdt5P1Hd2kLm3nCSzui0fBuvejpafdO5o08LO7ODGWHv093i+V+u6rs7evCtRUlLK9zhXusUbTKU1lHirbqGvbWcqe7DT9zpbzUatzVc5PuZw8PdfT5vyOMx3Ho9T6qqvKhjB0NTUa9y25Npfc4m1Vlz3EG4vb6M+v4/hYyPh8/wCRzy+KynmUt29v+ZG21jBsnBQeEYntnBji+Vn5OeV+WrwvXI8LnuzaDpMI895MkBQWVm6QFwGb0m0ABKAAJKAAKAAAAAAAAAYAGJSgAVEARmioxRkgaC8D0IEUEKAZCgCAyAAFKBCgMCFBQgY+pmQCoyMSlExlmE4v2Nq4ZXyF24bWCG2pA1YwwoACKAACAoA7QhkQyyxBQWDHBDIFRiTBkQCEMiBUwAUDEYKTAEABQAAAhkQDEqAAAAAAAAAAMhQQQFAEBQBAuCgCPkxaMuxhJgTdgxczGTMH3CxnnJMGKZlnIVMgYAAAAAAAAAAAAAAAAAApChNgAGnSYgAGmclIUhis4y02fqKp+iMZdu5jBSnLEYt/YxeTTtjw3faymy0qbqzSUXn7Hcab07c31SP5c0m/Y+iaL+H3ljOp/U53lej248J/6+c22hXdzJKCeH9D1Wl9D1KiTrQz/I+qWHTttZQW6lGTR2dKzot8QUEcbyvHnyZ5dPnln0TSjJflI76h0jThjEEkenr1rOzjmVSnn7nR33VlKhFxpU1N/wCU5Xm13DDxcs722Lp6NKPG1G6jo1vn83a/5o8pV6sva9XbCzq4fqosNarfxzCVann6Gf312n47b2UtEs8eXZ+6MY6Lax7qP7o8fDTNXhzK7rEnV1C15lWqywJzZUv4zH7ewno1tLiMV+5pqdPRa8sUeTh1ZXtHidKcsfQ7Wy66p1ZKM6e37mpnlXHL8djHJqdOOTawjrLnpSrnOFg9baava3aW2pDP3OeoxnHKxJG5zWdV58vDuF3i+V3fT9CCaqUW39jzt30vTrSfhUtv3R9xlbW9R4lQj/M6+76dp3Cbp7YfY6Y8+P8A9M+3Nj8Pz7f9N16GXFdvodLKnUoScZxf7H3q96cVLdleIeV1Tp+nVUkqCg/fB1usv9Xow8uzrN8vcJz8yeEZKWFsfc7jUum7i3m5RlJpeiOompUvJKDTXqzWOWU6r0z05JuIU17i7jrK53jrYQxyZGnO9DMWZEYdPea0gADnQAAAAAAAAAAAAAAAAAAAAAAAAAAAAAAAAAAAAAAAAAAAAAAAAAAAAAAAAAAAAAAAAAAAAAAAAAAAAWxIFSbfHYhlDmaj7s52tx73oqknYVKsV8r7/wAzp+otTq0NedXf5Uer6WtlZdKXdSXzYyv3PnOqV/i7tyf9T5/kcczfV8TyPSvX6bfU72lHnzfU2ahJQt5/Y8PY387Ovw3g7681ONW0XPLifJz8X1u36Lh833xsdbo9KVzrlJ90pn3jSbqVioU84WD430faupeqrjOJ5PryjmCkvY9eGOo+N5F9s3tbPU4VoqOeTsYTVRYR8/o3U6DUlJnf6dquzDn6+5w5Oqkx/i5+tWvj2VWDWcxPzp1jo8tP1V11HCWfQ/SrrQuafp2PAdcdORvrWrOEVn6G8JuNcfJ6V8u0HUoulHL5Odqun076ju2pvGTyVxa3Gj3rTctq9Dv7DWI3FOMJNL7nkz8ey7j7fB5OPPj6ZPOzjc6bcZptqOfRHfWPUkfCxWbbOzqWtCtSbcYttHSV9AdaTlTntX0Pbwednw9V8v8AIfhuPl3ZHdR6ktlD1OJddT0lF+HlM6r+AVIrDrMyo9Pz35lPKPbn+YlmnyvH/wD5uS7sdfXv7vUq21SeG/Y7/RdI+HlGtVSbXJzLfTqFpFScYtowutUhTWElHB8jm8rPly/8fpPE/G8fB3pzdRvY04NweEeRtbatqurqNNN+dZ4+pjfXNe+m4UN0m/SJ9c/Dfo9W8Y3l1Dc5xziSOsxkx25eb5H/AMx7fpXSYaVptHEcSnBZPSmilTUUopYUexvMx8gABRUAgFAABAAAI+xSMEYmRCja0Mcc5Zka6vMcJ8l2luoNSzw+DouqdPo32kXEqkU5KHB30H5cHnOqLzwrKrFdnEuNuzGbr8za3bxtL2VJL1Z10XTccNcnf63TV1rqjnvkXnSdz8L8RTUtr9kfS8eyY9p5El626CS8NZXZlprfyvQlSlOnJ05p5j7loPZlM9mHLHzOXCybiybzyQs3yYneXceeVQQGMtxrTIAG9aNQDBGT3nwvpPoAA2zrQC4IVN7AAQAAAAAAAAAAAAAAAj7gZJmSMEzJAZkwChKFBQiNAuAABRgAMFAAMoAhQUIEMiFAYKAI+xYlaIuALKGUcapHBy/Q01IhqOMgWSwyEUAAAAAdqRlIwygKyACBgqITJSATIyCBVyCFADAAGLXJDJkKIMgYAZBcDAEGC4GAJgYLgYAmBguCAMDAADAwAQMDAAEXcy2rBj2MkwI1gxbwsmUjVOQElM1ykVswZFTI7kZkuwVMDBQAyAAAAAAAAAAAAAAAAAABckANbUBFRT2sElnkrjJdlwYyzjg3KtFU1HPJm0kuVaHJe/Jhul7cFlDlyZ2ei6XX1WvGmoZi3g8+eens4uORw6FhXvWlRg5Sfoj6F0t0NUqyjO6puC+p6/pboahY04Vp08VF9D3NOjTjTVNLseXLOtcuWpqOr0vQLWwpLywzjjg7anGMY52qOPoZRhFtb/Tsab25pUIOcnimu5xuXbx+kyvbZVrUqVPxJySR5TV+q/DzStNtSfbCOo1fXLrUryVjpr3xfbk7rQOjKcXG5vINVpdzFze7h4N/7PPUNO1PXa2a0KtODfdM9TpvQVGglOpWlL1e5tnqJRhptFOCSglz9jzGt9aQjGVHTqilU7Y+pyuVvT1/q18O98HSdLpYqOjlerijqL7quwt01aqjOXsoo8xZ2Wu9QVU76n+VLu02d/a9BaXbyVSspKX2Jq/23jrH5dNX6r1WvJqjpylH3UUcSep6xdZ/8O//ANUe3lLS9LppU5eVLng6+v1loNrnZXW5fRGsZm3+3B4yta6vXWHpzWfojpb7p7VmnONrUi/oe6rfiVZReKdaP9Diz/ESjU71I4OkvI43lw32+f2tTX9IruTtqrjn1Z7vQeuZpKndpQfbkxl1fpN35buqknx6HXXtp05eTUreq3VfbhdxZyVi/qz6j6ZZahQ1CCnTnF59jk5antPlllqVxoFVRztoLu8n0LStVo6lZwrU5bpyL6f28nNh+rt2Pw8HltJ59zrb/SKFws8J/Q7Le13JKnv5R0xyywu9vBlhjy/TwmqaA4Qlsp7l9jwur9NKcHKUdr+h9020pQcJ9zo9U0SlcKTUePsenDyJeq8+XHycXeNfnG9sK1pUe6DUfRnEzyfW9c0CNVShVhwvl4PnGqaRVsaz3RxFvg7Y5vpeNzY8uOr8uuSzyjLsTdsRN27k641z5MLjdM8juYlNOXqNELnghV7+wAAAAAAAAAAACMBkpCgAUgAAAAAAAAAAAAAAAAAAAAAAAAAAAAAAAAAAAAAAAAAAAAAAAAAAAAAAAAElwIvPcdzFvDKRsaRvsob7ykv8yOMnwdjodN1tToL03o453TWn0qrL4PputB+VyguD5VNqrJ54PpnXVZWVKhQi8KdKOf2Pl9TKy0ZkmTcyuLUo4qNenuHOe7GXj7ma7Z9SNYfl9e5jl4ZZ8PZ43k2W9von4f06dWlLLW7J9InHw/ymfB9I1y50a5h4LxBvL5Pr3T/UdlrNKLrVc1n6HzOSZSvdjlMvl2koZ49Da6j2xSfYtWlUhLMV+X6Mx2pry/Mcbhb3XTLqajsbLU61LEZR8vudrOvb3lBwlKLb9Dy6nXT2zXlNqqRo+eD8yGN10467dB1T0lTu3OUFy/ZHy+/0a70ytJwpzwmfeI3cqtPz9zq7/SqF7F+Iu/0NTPd1XThzvHluPjlrrdSl5Kqx6cnbUNZpSjjcju9T6ItajcqcHn7HnLjo+9oZdCk8IznxY5R9KeZb8uU7+i55c0jZPVraEP7SOTpv+GtVk/NS/wBzbT6Qvaj89Jnnx8WfbWXn+rG612WWqXmOAoXmp1V+VJRfqj1+mdDxynVpv9j2WmdL0LdKEIf0O/6McY4Z+bnZ1XQdFdJUqV1TuKvmfHEuT7XZUY07aEIRUUvZHTaVokaKjJRwejpxVKCRm/0+dnyXK7rLOMGSeTXJ7mZrgfRYyJkBGYijIBQyMgARvBHOK7srjkxlSi+WUSVRJeXlljNSXPc63U9QttKt5XFae2Me7PnOrfihbW9Sbtq6z6cl1trT6pVuaVL5ppHGesWMPnrxR8BvfxH1m8qS8CSab9zrK2va/dyzj+rLePTePDlk/R61zT2+LiLMoahaTnuhWTz6H5s+N6kjDNOHP3ZvodUdR2OHVSWP8zMySNXx8n6PlcQjGUlLujxPVN4p2Vd57I+eWv4mXr/Lr1EvTuZ3/VVG7sauamZOJ249bYvF6zdeKdSVXXIzx6s+v6Jc29zpMLSrGC+rR8f0rdcatCXeGXyfQ7ZfD4lDsfS4uH3x3H5zz/P/AEcklro+s+l4WTdzb+be8tI8BUXhzw+GfX9ZvfHsNs32iz5LdbJ3FRv0kzf6Li93j+TjzcW9Nae7uVpfpeTCOJRwuxE1SeTvhdTTj+u29NsYf4uA4r0fBjulVXBFvp8S7PuMqs4r/bbFRl2ZJR2mGYR/snlmtzryfmXBLyWs3gynw3LHuVJPPJrTWOe5lHnhFxx2xbZ0rSw2iU3FyxN4RnGD3Je5ujpda5ninHOS5fxJ3e0jbTbb2vZ6M40sqTWD6Iumqv8AAaT8Pz45PC3drVt7icZRxhmePk9rY3ljJHF+5fL7jyy7mDjtkdWGXOfoC7k44IAAAQAAAAAAAAMX3MiPuBUjJGKKBsismbjg1xZsbCVB2BQiJ5LgiRkVDAwUAQoAArAAhQUAQowAKQpQBSBFyYtZKA1HHqQwzV6nJqLKOM1hkaRvBVyGiLgCgAg7UjKQMjIVkAjAYKiAFAxIZECoCkAAAAQoKMQUYAAYGAAGBgABgYAGJlgxAAAAACAAADICvCQGMpcHHm+TOcvqapdgGQYlRGjBQAAAAAAAAAAAAAAAAAAAAAAAABVl0qKRcFJtmd1G0u5g47HufZ9jKS3LBydNtKmpXMaEIvhr0OPJlp7uLi625ejaTX1a5hGmvLnng+3dK9JW+nW8ZzpLxOHk1dF9L0tOt1OrBOUllZPb+BiacXiK9Dwcua8mfomPChldjLMNqaXIn5Z7nzH2MIw8VvDwkc99PNjn71ruJPw3UTxGCyzwWtaxV1PUY2VnJ7Z8P1Oy6o1t2jjZ0m3Kt5cx9Dk9G9Mytabq3X5lST3KUvTJjKvbx8H27HprpSnY0IVq1NfEr9R6O6r07Gg51WsJe5yJONGnhySPmvU2vVb66djb7m4ySbicfl6vbTRqvUV1rV27awm1GMtsuMncaJ0nRhFVruCc++TnaBoVvpNm7u5UHKcd3mPL9W9eQoOVvaxw2sZibw47yXUZz8iYTdep1TqfTenqEqfrH2Z881br6vdzk7aq4xfY8ZcXd3qNd1a1eUov0Zr4fkSx9T6PD4dny+bz+fJ8Ofc9Q6ldtpVuPU4Kj4jzU5z3M40lSWe+Qz6XH4+Enb5fJ5uef+rF0rdfp5MZUoNeVGx4SFGPjT29jV4uP+nD93Jftx1Spp+dZ9jepVaEXKm8TXys9BY9N/FxbVaOce5jddM3Fu/1SX2MZYcetO2HNyT4rpI395Xot3lTejs+mOrZafqvhTm1QWMI6+7tatJuLpyS+x1V3bOFNVKfEs90eDk4Pa9Po8XNcv8Ad+j9OvqWo2sJ033We5zoS8NNS9T5F+HfUcnWdvWm/Lwsn1rxI1oRlH2PLnx3Hqu19cO4y8NTmmiyis7WYwbhJeplJbpZzgxOnHL+fy6rUNKp3MHiPJ896h0FTUo1IZl+k+rZxw+Tr9Q06ndU35VnB2wzeTLhy48vfF+bNU0qrY1XGa/odYuFg+xdS6CnTnTdPMn2kfKdQsZ2VzKk03j1PZjk9eHkTkmvtxCmOSnaUyZEGAacwAAAAAAAAAACMoYEKQoFIUgAAAAAAAAAAAAAAAAAAAAAAAAAAAAAAAAAAAAAAAAAAAAAAAAAAAAAAAC7gYvgRWSzXJV5YhYrXGD1HRlg61zKq1/ZvJ5ak91TDPp3Q1qqdheVJLHkbWThyNyOp6/vlc3FLD+SKX9Dw0J7oYZ3Gu3LuL6cW8pSaOncfDlhdhxzRYsFmWC1It42+ncyWIrcSfmw08Hp6sZluNScoVI8LlHJsL66sMVKFTa12NHiQktijhv1NEnKk9nc8XJxS17OLl0+xdKdc2tzRha3knKqu7yevdPfBVqTWx8pJn5xozq0p76c3CXuj3PS3W9TTaqp3blWg+EpHm5eP1mnuwz9n0/xvGyllNccmG3bLbLk3W19Z69RjVtpU6LS5SfctSi6UXSfmb/UeKY7rrppU2pbYm1TcVmXKNahtWO79yYfqzWUk+GLNdt8atCbxt5N8dO8aOY4wcJOPosMzp1K0JqSqPavQxMbW8eXFzY6BKp8qRsh07Ui+UjZbasqeNyydxbatSq4TSRbuM5fz7cS30RRXMTs7fTaUFlx5OXCdOccxkv3MlF54Zn2t6ZvxpYRUFhIyccoq4QbMVnWmG3DMikJS0RSIyZUARFI1AAAa0p57mXbuFFrLyIvd3RR53rCyV/olWhCOZs/M2r2kbPVZ0K0XiLP1vUpwm8TimvY+LfiX0ju8S8oQw2/RGt6dMP9o89pFtpnw0JOly17ne2ltaTXlhg8Bpl/K1reBUz5Xjk9ZTu8QWyWMo8vLy5R9/xMMMo77waUKmMcCdlYT5r0tyZ1lG6ko75PJyoXkZrL7HinlWXt78/GxynThah0jZ3sHKzpKMu/J4zVdAvNO3KfMfoj6SqknFOnPH2NnhULqlKFaCm2u7PbweXNvBzeBvF8p0OvGjcRUljn1PoNvVjWoLazzvUfTU6M5XFs9qXpE67RNWqW1wqNZy49z73i+VPXT8N+b/DZZf8AZ/T0XUFdULP6tHzScn4893Zs9r1JfwrW1PGOTqdK0Grq9eMacWk33wenPn3F/FcM4uLWTqKdvOt5aMXz9DuLHpHULvDxw/8AKfWum+gaWn0Yu4Uaj78ntKOn2VCmoxtoJo8V57t6Ms5vp8Dl0LqEI5ikv5GiXR98k/Ex+x+hJWFCaf5cUdJqXT/iRcoPGPRHbj5d9V8/n5M8e4+D1um7i2y2v6HXVqNSlxJP9j67c2kbduNWnu+6OmvdNt7uLUaMYtnry4tdx5eL8r3rJ8yTTZs2S4cTutT6dqW7c4t4+h0k90G4PKxwZxz9a+jhy4c06Z06uKsXLsj1Oj6xp9pOMq8W8fU8lCOINt8hZnDh4N5fzievrX6FWvaNT6fpVp03tkn6ny7Xda0S5rVPBoyUm/f/APBwa+tt6JStcvynnp1Izk3t5OfFw/rtM8tlVRqzbpcLJrlTnH5mXD9HgjUvWWTswiccYXcpE1nGChAABAAAAAAAAAYBfQDEpGAKnybk8nH9TdFhK2BBFj3CGClkQqBQUDHBQZJN9kBA0X1x6kYAoADAKAIUFKI+xDJ9jEIAALEayaakMG9dxVj5SNOGRrkrypDuFQAEHZxlkz9DixltZtU8hhm3km3BYrJlLsBgQoKrEoBYIRlIygGCsDFgMAAAEAAAAAAAAAAFAAAAAAhWQiIyFZAJ2NdSXBlN4NEpZZK01vOTP0JghlVABQAAAAAAAAAAAAAAAAAAAMEYApCgUiltZSTWUsEpLqk48pj5nkqe5YMZpxptLuc8stOuOFyu2cIuVTEFuZ9d6A6QVFq9qw+dZ5R4/onpqpqNzTqVYeR45PvdjSjaWFK3ppeVYPDy5br23KY46bYU0oxUVhR9jYqrlNLHBsilTg8+phTgnTcvU89ePPurUabx6HFvrmNnaym3jMWb5J7eO55XrPUPBsqVNPzSkov9yxePj3duj0u0nr2tSqSy1SqZPrlClGjRhFJLEUeS6K0tWVGdeUcOqtx62vWVK2lUbwkefk7r62N6keT601h2FjUdGW6qs+VHW9JaJGb/AIrccyqLLUucHV3s5az1c7eXNCX/ANzvuotWXT+hQpUHh4cSYcftUyvp3XnuvOr3bxVravK+V7fQ+X75VZSnOTk288nLrVleXNarcPmTyjiqKjnHY+743j6j4Xm+R7XpVwiruEU9+OPq+TlltWyAmTWWTOlC47cEyMk1tXZaZqlWxrprMk37n03RtUttUpRVSMFJLHY+RRklnJ2mianUsLmLbxHPPJ5ufj9pp34MvWvqGr9L217byqR2qXskfLdZ0irY15w2NxR9f0fUo6jaqtCWYnV9WaVGvYurTjmTz6Hh4s7x5ar1Zd3b43a1p6bdwqxbjmSzg+4dJ6stTsct8xij4pqNBzrSg1zBnsOgNV+FcqDlzJ4NeTj7Tb18V9o+vReEJJvkwovdFNm3OeD5+LU/prRkpY4ZkkmyThg3tfbU063VLGN1Tl5Vn7Hynqrp/bvko8n2hYa5Oi17TKF1byxzN/Q6YZaryXi9Mvd+arm1lbVpZyauZSTXoew6p0SrbVJS2Yjk6GzpWXhVfEliSR7OPJ7sdZYOFOW7HBgZz25fhvMcmB6JdvLZ2AALAAAAAZ0yAA0oAAAAAAAAAACKyIrAhCkAoAAAAAAAAAAAAAAAAAAAAAAAAAAAAAAAAAAAAAAAAAAAAAAAJHmWRNt1cGUFjuXat+4TqNRnSpbqtNLu5I+sU4x0jQFJ+V1aR876dtHf6jsSztaZ7LrfUFS0u0oQfMYbWjzZ95N/T53d1PEr1Jf5n/ucbPkyVNtSb9WTGaZ6OP4YZJ5gkBS4ZX3LamtoHz3AEPhHHK4Ck1x2aDk4rMSrlZfcxnht24+TTs9L6ju9IqxcJTks5xk+odO9dUdUhGnduFLPqz403ziXYyU3DmhJ5+54OTgte/j8iR+kvDtqtLxLWsqufY4koVVLzwcV7nyLp/rXUtLcKcmti92fTtL6007VaUYXFZKpjsvc8dwsr1TWXbn7I/4iOpte2PJyo28K0d9PmD5OPUoKnLMTHtYfqhGMZLMpbWZKbg/JJs1N05fO8MijKPMFlDfslnq7GjqVWhzlv+Z2Vv1HNrDgee3qXEu5ViHYt49ds+3t09tbatTqpb5KJy1cUZ9qiPAKpNdmcmje1ab7/wBTPqer3Kqe3Jk5P2PK0tcnDCbOXDXs/NJGcsD1d9ufsZd1ydXS1mjLvM5Ub+hNcTM+hpys47cly/Y0wr032ZsVWLGjTNMpipZLkaQ5IY7pZI6sY/MyaGTSfqdfqmm0b+1lSnt7PujdVvreC80zrrnV6O3FKeZFk7X47fCOtekq2lXkrmjCTi5Z4Ok07VHU8lR7XHg+1dQV6er27ozw8LB8k1jpapY1JVKEHy8m8uKZx6vH8n0rsbe7jNKllc+pvlLbwpHiad7eWlZOqsJfU7m11mlNpznyeLk8T07j7/H50yx09HRvKkOMNnLpX8k1lYOgWq0FjEzb/E6Ml8547w576d8OXHXy9XCdveQ8OtKKi+7Z4bqnRFaVJ3Fo969NpzlqVvja6jMrjWrN2ngupnB7fHuePy8PlYYck7eFq16tzKlRqJpqSR9q/DzTFTtd0qSeVnLR8aua1v8AHqpCX60z7n+H+s0LiwdNTWVHB9acuXq/MeTj6dYvbuEYYUWQiWCmcXzPbdQNKSwyh9uDZcXndf0uM4yrRXZeh4yVN78NYPp9eHjUJU5LueE1iyla3MnFeVH0PD5tdV8Lz/G63i6K4pRuIunKK/Y8hruheF+bBfXg91OCUFOPzM4d3S+KoyhJemD2c2HvNx5vA8q8WcmXw+TyzKTzxjgyjy9p2ms6ZKxrvEcJ8nUqXO5HjnL6XT9RcZnh74tspvbtfYwLU5ppruYrseje5txsuu1ABGdAAKoAAAAAAAAAAAACAAACPcEXcq1yodjJdzCD4M/UM1ZdkYmTIWfKeuxFBUsvAqerHw/VM7nS7B3FhUq4+UxstFuLuUVRhuz3PpvTfR86ekVYV6eHI8/Jyad5i+R16TpVtzNEkm9yfc9v1H0ndUrmUaFLMTyNxZVLTy1I4ku5rjz2xljpxghgp2YAUhYBQU0ICkAIoKBDJduSepURXFuEcdHLqxycZrDM1YgAMq5UhTbTClkdhs05UZcF7nHjPBtU0wmmRCp5GCohCshZBCMpCgVkGQIwGxkACZLkaQAyMjQAZGRoAMgaADAwFAANABkZGgZC4yQiIyGWMmEpbQaaqkjQ3yZyllmDWSVtUwRLBTIAAoAAAAAAAAAAAAAAAAAAARlAEKTBQKWOOckJKDa4eCVZNo+MtHL0i0nqN/CmllM4sFlOL5bPpP4b9OOrXp3c4+WL7M8fNnH0ODDWO30XpLRaenaVSzDE0emp00stoxUIwntgsR9jYng8W9vJyZ25dMYt1JY9EWq/CkorsXhduCd3mXJdJvaUXmtmXynzXqWcr/VlQi8qFRcfzPpNeoo0XtWH7nzmyxX6lrKS3YkjGW3r8fvp9R0mio6ZbRxyoI4XVN2rTRK7Tw0js7Zxha01lLynkutrqErWpR3rzL3OHzXtwnfbqeirdXPh6lUWXxyeR681h176rbOWYxfCPZaHP+G9GRre3/2PlOo1/i9ar1J8p+h7fGw3k83n8nph24tKnKom329BhruZOeZ7YLBzrfTK93JKEJc/Q+5jnjhj2/Md55OAinPvdJr2Wd0JcfQ4Mo7IKT7+xqZzL4Zy47EMTNLKyY4Fl+2KgGBg1OkVYzyWeaklGHciQT8yS4fuXCe2d21L/T2fR+rVLOvTsak+Jc4Pp0lSuLZxmsxwz4NbXE7S5jV3NyXqfY+nNRjd6PTzzNr/AOh83zOL1y3I93DlLNPl2v2qt9RuHFYTfB1XT9xKhrdvFvh1D0fVkdt3UeP1HkqNRR1a2ceMSNZSZcbt4mW7Y/RtrONW3g4+yOQsL7nR9N13UsotvPCO3efHfsfJkst29Ge5Wab3GUpMRaQlyajPymODVUp05rlcmx5xgYW36ljprc1Xh+rtGVzatxifE9Ss1Y16kXHGWfpq8oRr0XFxzwz451voDp1PFiuM5PTx5OPHyXDLWT5xDyxeAJxe9+mGD2YXp15ML8gK1hZIuTbjQAGgABnSAACgAAAAAAAAAAIrIABCkwBQAAAAAAAAAAAAAAAAAAAAAAAAAAAAAAAACwW+e3sFQGUIb5uPbBjPyyS7g0AS8rwAgAAAAAAB9gLJ88GLk0sFg+Nz9DOFN15bor+RMrG5HvPw/sFC5qXFRcOD/wBjo+q734i+qU85UJYR7Wwpx0jpyldNpOcWv6HzHUazr31aee8snD5rV6jir2L24MY8Pks/NLKPRj8Oe1fCyQPmOC44Jq7TekABfgnaxcU/N2HDeV2Jx6kxyWVfhnJ05Rw1yao0amcweDZx7BSaGpSZ2Nc1WXzM22tzVoT3UpYkiN57kwl2OWfj43t6ePyco9lovXN7ZSjC7r5p9sfQ+i6V1lpF/BR53v6nwVxbfLORQuq1rJSpzax7Hz+Txr9R7cPKn3X6NVjC/j4lu1h/U41RStXsn9uD49pXWd9Zyi5V5uK9D3+kfiDYXUY069BOXbdLJ5bx5Y/T0TOZPQ+Eprcl9THdFcPub6VxbXsN9KvTinzjcjP4aO1tST+zMe9+K1cNTbh+Z/KZJT9WKkZxeFFlgm+7wNsm6C7jfF9iyivbJOF6DaXbJOf6WbI168O0jjubXuN0mNp250NRuYfrNi1a5X6zrk8fUu76DSu0WtXC/WZ/x2v/AIzqMZI8ImoOzeuXLfFQwlq9xLvM61YTNicX7F1F03VLupV7s0ZcXlFbS5MfGWcbWNS9Ljju9slCn3xyzRcWdO4i/EWUb5LCTz3Ek1HOf5CfxTLGS9PLaj0ra3eVSpcs8ZrPStbTIOokkj6u68YQ3NY+p846y1rx99tTeWn6GsZcq3hn6/bxUHWdRxT7HIjSu5cRf9DuumtM8SrKpWjlP3PX/AWuFilE+lweJMpux8HzfzmfFn64V84/hmpVH5Jf0ONcW9a14uHmXqfRNQVG1pSkklg8DeXCudReeYtjn8fDDLp6vD/I83kY7rvuk+kp6xXcpQzHuuD69030vDRIN7EsmHRtlRoaVQqQilKUecHroQe3LeTy5anw1zctt7SM1NZXoULD7LAfBiPJ17boCZ+g3Gvky3fhJPLyjgarp0Lq1ctuZM7Ly4NMk5yxny+wxy9b05cnFjcdX5fNa9GdC5nCXyrsacLJ63XNL3Qc4LDPJSTjKUXFrB97xuSZ4afl/M4c8Muo6bX7CN3bzmllpHzudB0K2yZ9VqR3xcWspnheptNlTrznBYR5ubg/lt9n8T5XtPTKugT/ADGn8pSyxGhFfqJDzL2LjZrT6vJd3UAJeVlityybckA9cAJQAEAAAAAAAAAABAAACepSYKrfS7G1minPHBvSygzRFCWClibCrhkLkth7O1stbuLGUfDng+mdOdX1KukVJVamZI+QRx6o7Sz1X4W1nRWfMefPi9naZu96j6vuZXUlSq8Hk7i9qXeZ1JZbJXqePUcpcmnGHx2NYcemMstpgoKjtpgIUuCyCFGBgoEwZDAEKBkCeoZe7EiKwcco4lVYZzc8HFrLLyZo0gDJlpyUVsYwQzGqIzUjW2TcaZrlReTNs0QkbM5NRKy7kYXBTUZYgowVWIwUmAIQyIAAwXARAXAwBAXAwBCoYAAABQhRgCAuBgAjFrky7EwZqMc4RpqMzm8I48pZI1GL7gAlUABkAAUAAAAAAAAAAAAAAAAAAAAAQAAWAqSxFYBjJZwc+S6jrxzeTmaVazu9Tt4Ri2nLDP0X0zpUNN01YSTwmfLPw50NXdV15x+R5R9tpU/JGC7YPncl7evk5PSajbF7o7il27I7SHKR5MoAAqYxpudjotSkkfJbfVq2ndUXc6VF1eT3fVd7Kz0+dSi/zF6HF6c6XoXiV9VT8SqsvgmfUe3x8bO3S3n4jX62U3ZSiu3odRf6jqGsS8bwam1Lk+kar0PY3FrKpBfmwjmKx6nlNJnU0+9WnXsFCM5NLj0OEsr34d3brrjXvh+knYzW2fs+/Y8DKWarqe59D666ZVKnVu7ZN0ucM+cRyvI/Q9/h/L5f5PuOfaU1UuqSfrI+x9P6ZQt7SMvDjLhPOD45bzVKrTn/AIXk+ndPdU26tPDrVEnjB7/Kxtx6fE4dSu81nSre9tZNwhHP0Pjer2kLXUKkFPKTPqGt9R29PTp+DUzI+UXtWd5dzqy7Mx42Oc+V5bGuUsxSXoYCPlygfRk67eS0ABmix9TKKWxv2MCwzhr3LhdUnXaU3vlye96K1J/GfDSflUTwP9nVR3Oi3nwV26+cZRw8me8ejiy9bt2HVtWLuZpY7ni8uOoUZf5jvNauXc1d+c5Z1MoJ6hbRXqzl66xenxL/ACfb+ipupo6m/oeownDcec6Ro+Do6h74PRLiGD5Of+z38k3UABHMDXAKmuwdN7goJrk8n1VpCurabSzweszg49zSVajNNehrG6rjyY7u35g16ylY3rjhpZZ10W5RPo/X+jbK8qkY9kfOKXlltZ7cMuno9vbFkm3wV+UNJSJNZwd8a4ZY6pnIK1gh0YAAFAAQAAAAAAAAAAAAAAAAAAAAAAAAAAAAAAAAAAAAAAAAAAAAAAAADZGOUtvLNZspSdOSmu4V3M9ArRs4V1GXmWTqpUFT3bnyvc9TT6nq1NPjbtRxGODydxX8atNvu2BpzKTyo8e5SxnUhHZjhkBQABAAAAAwJKPlwjv+kbD43UqdGS4Z0lLzQfufRejNPVraU9SmsYxycc66YtfWV98JpkLOD+R+h8+nLd5vVnd9Vah8XqdZZzHPB0CNYY7MlABv4cwvoQG4lAASrAAGV+QAA0AAkyoFWM8kDWVg3MZU9tNc1JzzFcHIhJqHFRxf0ZrU9iwYbKkpboo5Z8Mr04c9jsLPWr/TqikqtWaT/wAR7LSfxHrxgo1KX7ngfElt2zWEYqEl/Z/L6nj5PF1Nx7MPK9uq+56Z1vZ3kYxrOnDPud3Crpd3HdC+p5fomz85b9v65J/RnNtNXu7SSdKUn/7jz3gsd5yYv0FshHinJVE/VGMqVRfoZ8jsvxD1G1xFqOPqz0Vn+Jc6jSrzikc7xV0meL2z3rvAY3d1g6m1620eul41yk/sjs6Wu6JX+S5z/Iz+urvGs8bPqa5T+hyHc6dVS8OrkqVtL5ZZJ606cXc/Yj3P0OYqCfycmXwlZ9ombjR18d8nhrCNyorGXPByna1v8BPgqj+ZDS6cV4h2eSwnueNpvdGhS/tJYMHcWa4hUzIsiXca9qk3mWMGGx5ynlI11dV0mjnxq+1o6S/6y0y2ozhQuE2+xLhbWMbu9tPVGtwtKE6UWlL6Hzq2pz1DUXUnna/c061rE9S1PfKX5b9cncaTdabRpRUquJfY9/i8Wr28vn3L01h8vUWVvToW8duM4N6cYQlKUjqXrNlTh5ap0+p9QZg40pZyfSvLMJ0/JTweTPm3k19S6nu3UoSzn2PLQbglUffIr16tetvkYRbqz2PseXK/sm36bi4pwYaj73+HWqwvLWNCUl5InvIS2PnsfnronXJaVfOO7CbwfcLPVKd1RpPd3SPDlhduGXJvLddxOom+EYb/AKGCkv08ozWX3MXcc8ssbUcm/wBJPM+MGe5R7mMrqnFcsuO0nLMftlGisfMVQjF9zg1tSt4frOHPWaEf7w3+rK9ud8jCZbrs7qlGrDHDPI61prpeaEM59jtf49QT5qGNXVrW5jhzR6eG58dePyuXi5pqfLxW6dFvfTx9zr9UsIahbSfCbPUajG2rtqEu50sqboPbjg+pP547fImV8bPcfKbqydtfThJvavc0zX+E9v1BobrUnWhHlniZwlb1JRksYZ4cdzK7fpeHnx5cJZ8sEsLkwbeeDKcvE7Ei1HhneV1028bF7mJOXz6FNMAAM1KAAqAACgAAAAIAAAACqsO5y4fKcSHc5cPlDNUAFTQADUZ0zXYACNhGUjKyhQUKFJgoAAFAAhAAIBUyvsa8+Yz9CKhoqm41VFwzNHFABlXMkYGxmDMtbYswT5M2YsqMoy5OTT5RweUzdSqY7mto5UuCrsIyUkSX0NS7T4UhismfoaRCFAEIZADEpQBAUAQAACFAEBQBCgAAABjIq7FJUeI8GaunHrM42eTKcm5dyY4IoADKgAAAAGgAEt0gACzsAVdyN88LgXpQDcnwlybI0JfM2Z9jTWDOfftgwNzubQABF0AAugAMo49SbS1iDKWMiTSh9Qs7YmdGm6tzSgvWSRo5yek6V096hfwSjnZJM83Pn09fBNb2+ydD6QtO09Nxx4kUz2VJbVuOHYU40rCjBLDUEjmQe2m0+58/LtjK6vaz8z3GJV8pBOmN7AAKky08R1ZU3ynSPa9N01R0ag36o8V1ZRalOpnH1Pa9O1FV0ahBPLSOPLvT6fHlLjNO2lufy9vU8D1vZxp1/jqaxOmuGe+3Z47HlOtoRlp1VLDeDhjbHbj6rprK+/jfR6pVnuqS/wDsfJdRoq31SrSSxtZ7vpStKnCFu28ex5HqWjjV601w2z6fhZSV5PyGHtj066WVg2wqyotJPk1wW+HfsSL82Hy/c+1dWbfmrLjdORKtc3M/DbzFkq0qkIbUsM9z0loVK6tYV6ii/uztuoun7dWO6lCMZe5wvPjLqLcMr2+VqGxZn6mBuuvyq84PnDwaTtMrXK4gAOuLJnBku2THZuKpKPDJle9LrcSS8RbhGrLbsTMk1jC7FjFZyYs21vrUYtuosP0NVlB19btV3xMyk/EU1HhpHZ9GWEr7U4VMNqnM8/NnJjp7fEwy2+26PQ8GziseiOwzzgxpRUaUYR4eEbMbY4fc+Plf5PpZIACuVgSKfiFC4Cy6E/M0H7e49QTTNu3jus9KjcWlSW3PB8D1G2+GvpRxjB+otSoRuLOcWs5PgHW2mO21GpNLCR34703wzv1eRqTwkbNy2pmEsOKyhJNpYPXhk1zT1umW7cDGKwjI7yvPoABQABAAAAAAAAAAAAAAAAAAAAAAAAAAAAAAAAAAAAAAAAAAAAAAAADYHPHC7gmEFZRdSnznhiMVnPqG21hkywbJuW9Y7AFLo+UBQZtkXSAyXfAa82CsMQXHPJmo/EPEFjH9SWtTHbm6LaO71GlQSzuZ9G1mvHQ+npWSe2cfQ6rovSYwtnf1I/2T9TqetdW+N1KooS8jzwefK+zW/V5e5lK5rOp3bNefT2MqbwFHDbZ347qGV62xBkyFym6xJtAVAqICgba9bUBSF2llgABuEUgA6NUHPoAZ7FSj+ruZedfI+DAu5lmxcp/OVtpYp/KYFU1H0yW2fazf0x2RbzJcmxYSxEw8RTnhLAl5TncZW5llCUVJ8mLhBd0ZteKk4vGCNe5zvFK6TmsYx2Z8pyad7dUP7KWDjpJFyzF4NtzyLHZUOpNToceKcyHWOqQ7VjoWskwjF8au+PlTT00OvNYh2uDkQ/ELW1/8z/ueRwimL41X/Ln9PYf/ABE1h8K45/mR9e67PtccfzPGS4qwa7ZPZaPbW91bNbFuwePm/wCuPr+Nx/u+K01OrtZr/PWz+5olrmry5pVcSZ3sNMpUJ+emmjJ2FFy3Rgkj5mXmyXWn0f8AAs+XmJQ1W5e6vLKZwb7T5U1vku3J7aNCMXhpYOs1213UnKPZI78fke1c8/DmM28bFxnSaj8xYqNJZl8xivyp5xwbcxqLOD7Pj32j855mfpkniufymOZepnhLsiM9v65rt5P2Y34iRU85fymzYqa8VGMX6FcvR9iXGSajM5LlNVstakoVlUXo8n0jpvqKc6e3f8qwfNJSWzy8M36df1LSp8zSzycZhJd1w58Lcf4190o9Q1FH5zd/xJUx858+0rWKdxSW6ST+rO5jUjUjmMl+53nHx5fT43J+7B6Kr1DWkuJnBq6zdSz5zrE2n7lc1nsdseDjeHPyORule3FTvIxVWb+ZmPGOMGLlg6zHjjleTky6bHKGOTFVUvkNTqwXeUV92cavfULdZ3xf2ZnL9a4cPNb07BTqRe9vhCcviFlHnLnqOlTTXdHWT6thDiKZmcmMe/j8Hlz/ANnsJqVaLo57I8jrWh8ymonFfVb3OUdyZi+qIVk1OLZw5ssb8PqeH4efFbuvPzouhNxa9TCUHN5RydQvadeWYQwcOlua7nGZ6fUnFuN3aOPUhj+ruU6Y8krnlw2fagFRudvPlNIAwVAABQAAAAAAANAA9Ciw7nLh8pw49zm0/lLpmgLjkF0iAyGCigoMaogKDURCgGlUhCgAQmQMmYjIFoMgYJsYN+c2ehjhZGSbU9TGp8rKYy+VkHE9QZMhlXLZiysxZlWLZA2QsBmvLyZPkqRRtp1dvc5UWpRTOtkcqlU8qRrFmuVgMkZZQbNbRj6lJ6lAAAoAAAAAIAAAAAAAAAAAAAGqrLg2PscWrLkzWo0y7k7iQiRVABkAAAAAAADWzQACyaSjWeDKFRRXh4z9TF9uDOMYbd8n5vYmTeFbbOCncKLXd4Pc0+h4VbFXXj4xHdg8LaVVCvub7Hqo9ZX1O1VvGK8Pbtz9DFje483qUVCu4JfK8HCOXf1Y1au+Ly3yziGpemLoABWAAE2tCkMo9mXSMI8h8yKlhNiPPJnO6jtxyVJccH1f8KtJTualWpHhrKz9j5XQpuvcqCXqj9CdFWKs9NozisOUeT5/Nlt6+sY9ZCntaXojZV+ZY7GWVj6k7x57nnefLKbRPykMVxLBkWMzQAAuo8t1taSr6NPw87+exl0rrXw1nTt35pxWGjvry1+IotNZPnNRVdE1epWqJxpyeFkxZt7ePKSSPqi1KNWjJ8J4PL6/VdTTa9RvOCWt9RuaMXCeW1ydN1JqkbWyqW6lzJHO4aezCx13TCU7mFXt9DyPVe5arWcMy57I9JpWpWtnoUa0an/Nr9J1GnKjqWrV6mpS2U5Lyv6nfhy9a4+Rx3OPNpcLEufU27VFcSyzZqdjPT7qbS/Km/I/dHHikluyfW48/aafnebhuF9nrenupJafQjRa4XqdjrfVnjWe2Kzk8Kmp09yfJlHzLEmzrOCW7eXLk0S/NqzqS43PJgZN7+F6GJ1mGvhxuWwpAO4mhywFDPJUss2eh0mtbW2601S44RilI24UeWcK7vVTTUThycsj1eNw3K9sbqq6M6cafmdRpPB9b/DvQ1a2k6tSOHNblk+c9I6HW1zUN1aD2wkmj71ZWsbO2pUoLGIpM+Zzcu315rCOSntqp+iMpS3VM+hakfyn7mNOOKab7nk+3LLO2sgAaXYAASgADXSSW6OGfL/xG0yLtatZR55PqJ5brCw+K0ypHGWzeN1VxustvznOG2o4v0M+MG7VqLtr+pDGMM4sZZPZxtc832ybyQrWCHp108oACbAAFAAAAAAAAAAAAAAAAAAAAAAAAAAAAAAAAAAAAAAAAAAAAAEAAAAAUAAArIUeuzQACXj2txSTwuO5YvENz7kUc1E32Mqi3z2rsbmsZpetJJOrFbfT2O10ayle3dKFOLaUsSwddTjKjKOxZcng+ldLaRS0Wwq3lytsqkd0cnHLON4zpv1m9pdP6RKyhjdUgnx9j5ZOrKvV3zbf3O76n1SWrXu/PEOOGdFnEfqJjEue2FWTj2M4y3RJKO6KyZKO1HRMs/46CFZAzjlpCkKN6LdgKgye6TKoQpC72tu6AALegABNgADOwAE7AeJte3bkBLzJkWVctPKidzpehVNQUnhrhs6jxGpdj0ujdSysYSilHmLQXboa9lKyqzhLPc4p2Go3la+ryntWM54OvLC0ABU2AAHsAAahusUt2W/Q7nQNS+HuIwk+Gzp5Jx7epIJwkpruj5/k8PtH1vB8u8eU2+vwjSvrffFrL9jU7NqO32PI9P8AUEqLjTnLg9zQu6V1TTjJNs/M+T49m6/ceJ5GHJh26udk23hvg4V5aznbzjtb4PRQhKEpNrhmPhwlLEux5+PLLD5deXjmc6fJb+m7eq6coYZxovg9Z1bp0FdupBeVI8k1h4P0vgc0r8b+R8Wy2sgRGWD7mVlxfn71dJ2CWUZYMJNo5fIq4K4KS4ZiuSrKJYs3FpzrUJZjOWPudzZdSVLfEZJvHudK3NrhcGMaUZPzvBN6b9cMuso91b9VQnFbopHIfUNGf6oo+fy2QXlmzXicnw3j7mv2WPPyfjOLku4+gVOoKdFZjJSOtuesJrMY0snk0mu8n+5kpR9zn7ZNz8fxcbs7jXa903jdA4FS4rt58Wcs/U14b7GUYtd0NZV0lww+I1vxJ/NNkVH3kbZJsw7dyfqyrf7p/RsSMnGMV6FjOHqxJQl6lnFZ8sTkrXhSYceOC7YrsyPdnglwdJy6a4Qkp5bZtLl45RC44reTalRCnWOWWqgAK5gAAAAAAAQAAKAB9wjOEcs5cOImmjHJyOxqJWLBkwaQAKUAAZAAMAQENAUxKABAAKYlJQICEVSEBAMZPyspJdmBx2QrIZVymjFoyZizKsGQyZiUODF59DIhREvcKW1gxfJYjmUqqaNuThU3tZyovKLs0z+oyTPGBk1Eq5GSZGSouRkmRkmxcjJMjI2KCZGRsUEyMgUEyMlFBMlQAmStmPqAlwjhVH5jmTflODPuYvy1DGURcMqfBi+5FZAAgAAIAAXpYFSbIE2pFxWUawMkbbZnhYGV0THbGLWSySk8oxWEZKpFLscP296rt/j5WbgoxX3NiqTxjPBplPPYRbZ0+XG4ZT5ZtL0MSvghntkAB0x7bmlwTBkQkxLIhUm+xBuxx7nTUZ0y/QzUp7Vh9zf4TUc5NUqPl35Rw5b07ce3ZdNUHdaqoJZ7H6Q0KiqOmUYy9Inw/wDDm2jX12KcM8I++29ONKjGLaSSPnZu+ctjNbt69jZN+dY7GLrUYrmcP+5HHq6jb0+9WH/cjk4/qtcnvPgylFxWWdNX1+0pxbVSGf8AUdPd9fWVutslux7MrU4a9hB73hCXkkovufObn8S7Okm4wf8AU66p+KFCdCVRRnlfRh0nDX1mO9zx6HRavplpqClC5jnHK+58tn+Ile7jmhOab9Emcm3r63qUd8K1SO73iZ3qtY8eUrsq9pqVlVnG04hng8tq9TUZajCN5LKZ3sOl+oq7c/i5Y7nEu/w+16+rKo7nle5LdvbhNO50Xpy1urONecMpjWum8W8ZW0MbXnscLTat90rcq3v3OrTh3wuD21tc0dToKcJRUZL5WzMyejc0+b1alK+h8Nc8zpeWP3OjvbC4tKqclin3/kfRdc6bVb8y0ShJctr1PK1pO1l4N3SlUb4zhnq4+a414fJ4JyY6jzca1Nz20zY9y5fY7K40iN3mds4089ss66ta1rNYqPfj25Po8flR8fl8CspSgorZ39TGPm7GqlXWWnSl+zFSpKm+IS/Y9OPPi8mXiZxslJReGZRW5ZRqp3CkuaUs/ZlbnJ4jGS/kc8ufEnjZ/wBM9yi8Mwq140VmTNtPTq1wn5sNe5grVWqk7iSnj0ycMvJ18PZ4/ge13k4dW5lVpOVN8GrT7N6ldqklmXBnXhO+n4VpRnFP2izZa6PqWnT8dKpn6RZ4uXntfZx8XDCdPtnSmm2ulWlOUY7ajjyeqhXpyWWz89LVtcprClXwv8jM49R65DvOv/2M8vva5Z8Ht8P0C6yc1z5TYqkZPbFnwGn1fqtP53Xf/sZyoddX0f8A1s/6WbiTxpJ2+6N4Ippnxaj+Ital/axqv/2s59H8UqCwpUqn7Mbc74764lkri0snzi2/Ey0mlmEl98nZ23XtnWmk8JfVjbF4K9muewfl7nS0eo7Osk41ILP+Y59DUbaquatP/uQ2xeGuWmu5xb6hG4t2sZybndUHxGcP3MnFVKeYyX7iXsxwsfnDrOxdtqtaTWE5HmqcHLlH0f8AEiz8KUqjWcyPnFOTjk9/FY65430Zy7kwTOWZJnr308UjEYK8BGbCoACgAAAAAAAAAAAAAAAAAAAAAAAAAAAAAAAAAAAAAAAAAAAACAAAAFCoARgiruWTUe5F3Mt8VxJZZzyzuN0uOMuWqxjJS7F3JGdO2qV5flxkv5HbWvTNzXWd2Puamdb5P14/NdM5pcCEknuZ6aHStaLUZNNstbpSso4UkYymVc5zeP8A25PRuhfxO9lO5jupQW5fy5Ow616hpqlSs7WeFTWySydTQttS0mLdKs0mscHQXtG4jVlOvuk5PPY4frztdOLkwyvVcSMm22uzfJUlKpx2MN+yW1prJlJ7Y7kentLjYs8xZW8JZEGqq+pqlJxk88obTGW1s9CLlEjVi4vyiFRN4wX2buFVLLwOw8N7sqRN6Txg1jZ9pJcVGSb17E3L2L7Yuf2yyiNk4Zk6bwnknti183bFvBmotx3LsSpHjuWk/wAvaa3iuVmmORgS4YzwTpgwXHBjlmSlwDQMDKJuB61cFS5J3HYUs0S5fBio85MgZRslVlGKUH9zUUhYoACmgApmxKgALG8e2yO1rzGt9+OxMl7mcsNwv8buMHKVOe6n3O+0nqCpaOPiTwjo8EawfO5vFxyfZ8P8jlxzT6pZ67QvKcUpZfrydotkoZXc+N0bi5oyzTquKO9sOp6tvhVpSkfG8nw9Xp+i8X8rhlP5V7bVLCld2c4uOaj7HzHUbZ2l3Km1jB7u26otriK8uH9TqNfpUK9F14KOX9TfizLjrn52WHNj08nEzi93Y10+Kkk+xZPa+D9Jw5+2Pb8f5HD65dNjajLD7kaizHG7lg6Tp5/S/I8rsE36guDXTX7LOhykliPYRWX5ytEJcYzbazcKLXbkxT28LsQGLgzNz7V4fcw2RyUG5F3ftlFqPYspt4MAa3pqWfbJS4MZJMAfsjXtPpj4cTLbFAC5TJm9mEZJoxBNMWK+TEoJo2AALugAAAAAAAAAAmS4J6mSKJ2HeQZYxywOXQjwjZLglFYihPlmozVTz2GBHgppAZIAKCAmgyMkAAjKQbAZJkDYDJANhkpiUm1MkYIQMjuR9zJATBjLszNs1yfDINLIARpymYsrMGZEZiVmJRSAhQEe5C9kUG8M30p8HGbyZwlhgczPIyYx5jkuTUZq5GSZGTSLkZJkZMi5GSZGQLkZJkZAuRkmRksFyMkyMlGWRkxyVgXJDFMrA11ZYRxpdzbWfCNL7GL8tQTK0Yx7mxrgisQAQAAVAAEyWBVjJC44yXFBpZMKkmkVPLLUjhJnPlvT08E7W2pOtNL3ORc2Xg55NdnWVKaZuvrzxW8YPm5533fd4pjOO7cSMUmZcI1R3N5Mk3k+jw3cfH8qzfTKTyQrRDrlHi2AAmJpSAguWlxmwqSfLfYxMZtrGDjeXT0Y8W2yEpVMp8GNRODxltGTjUqRzRjuZjCFd/l1YYkzhycr1cfC9x0VrNvpFeNeWxvHqervvxGU040or+R4/QuhLjUqEKrjNQl6ps9pYfhbYw2zrVpp+uWzxZ57ei8Wo8pedZancTfhUqvPscL4/XbztSuFk+v2nRui2cV+am17o5sbawtP7KNOWP8AKjn7N44R8UjpGvXUsP4lJna2vQWoXEVKrVqrPufWv4lGCwqFPH+lGuet1flVGCX2Q9luMlfPrb8MXcf2t44492ee6o6Up6HV+Go11WbWcI+s3t842859njPB85k6mr9XW6qJuGWmPZqSPN6DpF5bXMbqVnUnD/C1wfX9C1qlOlCjU0+NLb6uJ66y0W3pWCpxpQf/ALUY1enLWay3tb9lg53LtLpstruzlFKCptv0RzW7anDMlCP3OglolDSoyrqrLjnls8jrfVdzdV/As/O+ySJajn9barazo1LWhbwqVefNFcnhtOhqVjWdy41dj7R9Ee66b6XqXzhe38ZRqvvF8nr6+g0JWypKEcL6CVl4DTOo43D8O5gqeOPN6nZ3Nlp+ow2wdJuS7r0NeqdFUqzlJOUWuVjg85VstS0ZtWtOdRfVm7bY3Jrs1LpGtbSdShWlJL0idPKxuaL89tKf3R3tt1Pq9LEbq2UV65OTLqRVfnp01/JFxuUSzbx1WrVztWnNY/yim5r57N/zR7B6rYyWW4Z/0o4N1qFvUfk2/wAkdZyZRm8WP26B1XH5bHP2Qd0sYnaKH3R2v8QuYRxQoRm/sjRGx1PVau2ra7IP1SM3kyWcWDob26lFfkR3N+kTqnZ3lxdQdaNSnDPOT6tpPQVKnKNXmUny0z0910Va39o1UShJRwsI53ku11Mfh5ro60062sYudOlVnx3R6iK0+rXebWlj7Hz7UtPvulrlxt4SlRXOWzdQ6soqgpVaqjV9UWS0/lk9/Klpnb4Kj/2mp2Wl1f8A5Wiv5Hj4dVW81/ao3w6gtZf35qzRMbj8vSz6d0uuv7Oiv5HFqdGabPtKkjq4a1av+/8A6m6OrUJfJWbf3M+xcbbta34f2FXtVpo4NX8MLSabjcwX2O2p6hCX94/3Nqvf8Mm/5l2u48ddfhc1nwrt/wAmdVcfh5fUIvw7iq39GfTIanWh+lM3R1mspc0oY+yLtLI+MVOm9btJPbUuGkavF12zfy3LSPuD1ONVYlSp/wDag6Fhcxaqqms/5UNs+kfHLbqzU7XHi0arx7neWX4mVaUlCpQePqe1u+k9Ju84mln2R0N7+G1hVyqNSTl9BKzeKPNdW69b6xp0X5VJ8nzKs/zWo9sn0TVugLu2jPZCo4RWe7PB1LZ0bipSa8yeMHfDk03+qXFrhhIPnsWVCdL51gieO57MOXp87Lh/nYJMyTwNyZg08noxy24cvHpkADTiAAAAAAAAAAAAAAAAAAAAAAAAAAAAAAAAAAAAAAAAAAAAAAAAFIUCBgjDUhnB2WnaXO8qqWHhnBoU/EqqK9T6H0/ZwpWsHJJMekt3XDyOacWO2zT9JoUKUd0Yt49TsFTjBeWC/kHGO94fCOu1HWo2UcRabOusZHxLycvk3WLtFKEKbnLCa9zV4kazzxg8Xd9TV6mcJYOPT6nuacPKkzF5MY7Yfjua/Py95U2OKjsUsGm+02he0l5IxaXsef07qXfL89qOT0lCvSuYbqcs5NY8uLHPx83i9vF6v09KOalPLS9jzyhKEvCmmvufW3SjKhKFRLL+h4PqDTfCryqU1wc8o+n4fmfudC4+E8pkk1NpY7mOZSe1rsbaMIyqwTfqcr8vfZcb7O107RXc0mzKv01VjU43HrNCpQhb8ex27inLO1fsbxx2+T5P5G8eWnzSpodxFcKTONLT7mHHgSf8j6koRcsOEf2NUqKba8OP7HS8VrGP5SXW3y52ldd6Ml/IwdtUXeDR9OnYU6neCX8jjz0K2n34/kcsuKu987CPmsqM0uU0E+MZPdaj0/bwt3KL5PIUrCM72VPL+bBz/XX0/H5+PPHbhtNvuZKKj+o9R/wtuhGST7Gmp0xJ9lI1OOuGfk8Xvp5xt5yllGSnjujup6FcU1tjTbSOJU0e6X90y7103Ofjrg717GO7PocmWmXUP7tmqVpcLvDA9mvbC/DXw/UbUX4eovRjbJd0PY1amcDOQyFlX9dndUEBds6UEKWMgAKgAC6PsABi1b0x9TJGW0mDcu0/2XBJRyhkkpcEuM2vrZWOJLsmZKCffgsa0lxhFaVT5uDnnwY5t48mWNYSlKn8k3/Iz+PqypqnNya+pj4UY9nkSUWsLuebLxJPh9Li87U1WDku67lpvL5MY03u5M5Qx2O3Hj69PLzc8zrKXfghIPjkp6K82WV+gAGdsyy/KgAexuAANbNoAAW7CogFm01VZACesTWgADUi7AANgAAugAA0AAIAAAAABCkfcoFCIBkbqUDVHlnLhHCKNi4RGh6mzHBqM1rAzyQqAyQAXIBAATIMkFICEVSAgFyQEAFMSkAgIBSkRWQYyZqlIzmzS3yAABGnKkjVJm2RpkBMkYDAjIGAIXuiFKGAABup1JN49Deji03iRyIssZrZhGLKmRjYhSAopSFAxAAAAAAAAMvQxL6DYnqJPCHqSXyk2OPUeXyYGUu5iRYiWDLJAFAAQAAWAACZAZZeMGJUIJjDyWUnJYYIyZTcbwz1WG3C4Ill8mTWUa9k89zx5YY+86e/Dlvpe29PajHcsmVPH6iycF2R7ccJJ08OVtvbF7vQx3pdzJTTi2YqpBvDiT9kx+Wv02zcNyfYu5LuRxcn5It/ZHaWGhXV7JKNOaz6uJ5uTysZ8O/F49+3WSyu5nTh4vlh3Po+jfhpd1dsq8ouL9Hg9vZdFaZpsVK4oQm17NHky57ft68eHH+nxnTulNS1Ca8KnlP6HstN/C29qxUrih5fsfSqdTSrWO2hbbZL1MZ6nWXEJNRfocLyZX7dpx4z6eatehtI061n4lLFTHsfOOobWjb9QxhRXlwz6zqlao7KrUcuyyfHrqU7zqWDc1t57/cntb8tzUfYemNQ8DQKMKbxJHZT1GpU4cjxtlq1vplpGE5RePZnWX3W9upSVNPI+S3fy93Vm5cs4Va/o2/zvGD5bedY3dWTVKpNL7HWz1bUbrvVlz9DNibfVa3U9jBYdTn7nWXPWlpTXFX+p85VvfXD/tHk30tHuJP8yWRD5ekv+t41acowq+nubeiLuV/rtCbefMeelo0YUpNpZwd70HS8HWqG3jzF6H6Jp5pU+RWkpU3J+iyY0pboeY8d1V1LHS6bhGWXLypR578HKztl13VfU6m/g6FTzS8uMmro7pWTfxl1T86llPBw+l+nq2o3s7y788ZS3Rz6H1GjClbRjShHCwZG6nBQhiBd+O5VFqeV2OJqFzC3ouTklj6kRslSU2/E7HFrabRqPMY8HRadq9bVrydOk5KNOWHldz1qjiC+3I3TdeavOm7a8bThlv6HU1+hrVrCpc/Y91FwUuFhkcGpuT5RZaS187X4f0G2/B/obaPQNvht0efse+xu+XgYcZJGt1q15Ww6PoUGm6f9Du6OlUKPG3COybwzLCayN1nbhVKUbajOpSWMLLOs0nXaV7UqQ35cZNHd3EN1CUV6rB801eb0TWqMafljUll4M6tqx7jWdIoarazjOOWz899Z9OXGk6jVnGG2j6cH6CtNVp/AePOSwvqfM+rbin1JdzsraD35zuxwdMdxuWz4fJaUbtLPp6FlV1CElh8H0e3/AAw1StThKNWKT9DtIfhbexhicotnT3i7tfJZapeU1xLkzodQ31OWd/8AU+u0/wALZqGaih/QyX4Wxl2hDH8ie2Jv6fLaPVt9TlmpU8vpyc2l1peucdlXy+vJ9AvfwmnVpRVNQWPsdTdfhReRpy8KUYtIszhqOph+IEKElGvW5+52tv1/p1aKUq39TxeqdLVdGr7bym5teqRxqelxrQ8SilFMtyxNR9OodU2NV+Sp/U7KnqltWSxI+Nzsr2i/y6mArzU7ZrNWWF9DNyh0+50LhOOYM5NO7uKVTxE+D4nadV3lLyzqT/Y9DY9d04RVOs5Nkl2Ppeoay69nOnu8215/Y+HztIvqFyuF5JVeT6Lb65a3dGUo4WYvuz5zqNx/4zFp8eIdPpdvqEOjdC1S2hOlTzPavRex0up/hbWalK0ocenB3+g3b+Cj4bw8I7qne3cX5quY+xm52fDncJbt8S1LozU9Pk99LCX0OgrW9ajJqa7H6U+I0+4jtuaO9+pwLrpfSL6MnTtopv3ZvHmy/tzy4pfmPzrll3I+rax+GdaopStnCK/keE1HpS90qT8VSlj2R6cPI39vPn4v9OkSk/sVpvsYVI1YzxtlH7oySk1hPk9c5Zp5cvGyna7l29Qvd9ibMPlmapufZnTHOVxywsYTnFdirlFcY0n51kZT5XY6bjFQAGaSgAEXoABWaAAgAAKAAAAAAAAAAAAAAAAAAAAAAAAAAoAAlWABTNq+025elxUr+mj6RaR20VE+caVJQ1Cm32PpNq1UoqUTrxavy+d+W/1mv6Z1IqFOUvofPdeud1xtT9T6I2ppwftg8nruhylLxIr6l5seunh/Fc2OGesnkpNYwyKPkyjK4g6GYTg8++DRGFWUcp4R45b8WP03tN+2NbakVsT9Uep6W1F7nCb7cI8xTaSxPkttdStq26DwsmvWfLjy8P8AkTWT6zUbqOP2Om6gtv8AkZyS5POw6llFLMnwi3PUCurdwbfJ0nJK+Zw+Blw8u8b08/U8lV57ltYudzD/AFGutLdUbOZYJfEU/ucsv/H2fIy1xvoelUlC1XvhHNdRwXJx7XyUoL3SOTVS8Fs93FqYbr8bz43l5tOBW1ahQm1KXJitdtn+s8TrdxUV9UjGXY65V6qXznl/fZlX2OP8VjljK+mR1ShU7SNquIT7M+YxvbiHaoboatdx/vWbvPTk/FbvVe61eq6dnuR4/S4Sq6lOX+Y4tfU7q4p7JVW0atPup2taU5M5fstr6PF4Ppwal7fU6UttKCfsZOdJPk8PT6qjBpS3PBzafVtrKS3QZ6MMo+RyeBy+29vVTjCccwMXRp7fMuTpLfqW2nU4WEdvG5jcxi4dmakxt+Hk8jDl4/th8HRnncjVPR7eos7eDnTpvbwzCnU8KDjOS/ctxxn0888jlv8ArXVz0G0a+Q0VOm7WS4h/Q7p16b/VH9x4sFjlfuMZhr4ezHy/ImP28tc9MQjByjT7fQ8vfWztq3h4wz6le1YK1m1/hPmWqSdW/wAnj5pd/wAX1vA8rkz6zbbTR7i5oqUY5yZS0C8i3mHB7DpylH+HQlJHa1KUH+k7YcOVxcvJ/Izjy1p8yekXcZPdHgwqWlSD7H0+VhRccuKOO9PtJPmkYnDlv5Zx/J4/0+YzjsXPcwipSfB9KraNZzXFFHX3XTcZQfgxUWa/Vk9PH5vFyf8AjwslJFjz3OyvNGuLOUnUeU+x1kW4zwyXcmno9sbP4rLCEWWpHzDGIknaetVsMgZ00nxegjiih9iNZWpjAALusmSYW7PqUAXLGWyAmohgABQZAGgyMgE1AyMgF0AACAAC7AAAAAQAAUAAAAAAAAAAAAACPuUYKCMoxyYpM5FKBUrKFJG5LCKlhECbC72YkKigiKBACBQDJAARAmBkQAggBMgAwQAUgAEAyQVBvgxyRsK1zk8mHcykYgUAEVyZGmTNsjTICAhQIwABCkKUAABY8M3RZoRsgys1yIspjHsZZAxYD7kyUZFMUy5AAAAAAAGRkACOSQyQH3JLsH3JJ8AceXchX3IRYAAKAAgAAAACAVEKbkKMjLhmIy+FwnbGbxF4FGpxyiyko9zGMlKWDxcl1lH0OLDeLc0nznBi2o+uQ4TliMFlnoNC6OvdSmpTozUH6ly59Rf8d0FOhWrvNKlKX0SO/wBI6VvNUnGM7epST/U0fT9B6HstNgpzeZLnElk9SrqjbUvBp0af3UUfO5PItvTvhhJNPHaN+G9vZxjVrV4Tf+Fnrbe30+xp7Fa0m0sZwcapUcpuTk19MmueXh5ZzkuXdenHGSOXUvO6prYvocWU6suXUb+hHiXcLbH1MysHjKPDhkvirD8oeGTbg3IbdVq9V/w24y8eU+I3larHUd9NttN9j7d1Bauem1pQzhR5Pj1Kiv4ikuVlirtLene3kvPVqRT9zm0tDm5ZlVbO8p28HSSSSl9Eb1QUImLlpm111HSadNcpM5MbWlHtTRyN7jxgniP2M3NnaRpwp8qCKmm+2DJVMEfmZPZZWu5gvBl5vQ5HRfl1uj6+Y4txTToyw32OR0bUjS1mi2+FI1LVfbNX1mnpOnOtJrK9D5pZW1fXdcqVqzk6MpJxT7HK6svp6pf1NPptuL9meq6Z0xU7OlBxxKK74JVei0qxjZWsYxiuY+h2NKCS83f6il5aaWOyMZNSW72MoVLqFF5qSUY/4mfNdc1ivrWpysLXcowkvNH1WTldfdRqjY1bKhP87nhdzDojT1TpwvKizUmud3JdI9joem07G0pySTnKPmfqdvv5xjg1UaahHKfc2P2RBjVhvi9rwzi1dSt7WG2rWgmvdmVzXVrTc89j5XeVLjXNfr27lONNdnF4LIR9Cn1NYwb/AD6f7iHU1lNOTrU0l9T4/reg1bS5oQo1qsnUkk/O+DvqnRM6WkyqyrVlmCfzsrT6GuprCcuLil+5ZdS2Py+PT/c+RaF0sru7jB3Vbn/Oz1y/DejKTcrqsv8A3yIzXsJ9R2Liv+Yp/ueH6yvrS7rQrwqw3QXCTOSvw2pRy/iq2P8AWzj1fw7sq7zUu6uY+m5moseTl1ZVqWUrKO6O79R7Xo+xoO3p16jjOo+7fc87rPR+m6Xazq/EPxI9k2zrdC6rhptwqMqiUI+rLtqPuFvOlCOMpYNnj05PuuD5guurZ5xXRrfXlGMZbaqY9Uey6h1xWUJRicvRtTVzo9Ot3kz5BrfVMr+jNwkpS9jboXW93p9nGi4Lj3HqPsMtXopqKnFy9UY3GpUFt5j9j4pPqi8je1K8E25vtk2/8UahUlGXhvgTFX0HqejZarYVKfh041WuH6nyGVr/AA++dq55wdtc9Q6pVvI1FReEdFfR1O81KVyrd8+xr1LXayhBQTwmceUKVTh00cZLWNqStGy/DazL/wCUkS4ptlPTqE02tqZ1lXQvErZjV2nYKw1vurSRZWWsKO6VpJMYzSyujuKd3YLFOrOS+hxIVpyuIOomnn1PQW9ZzrSpXEVGS7po63WKEVc0fD9X6HX6V9L6QnvsHmWT08Uzy3R1s1pzksnp1NxWMHLKG2blFegVSaeYzaMMKfdjYo+oxjO3Kp3cv1NtfU2SVlerw6tvTbfq0cNRTXcwk8PCfJJuLOTbrda/Dy0v6bqUakIN+iPm+s9DXmmybpqdVfRH2ClXlS5cnj6s5qvoVIeHOlTafGXFM3jy34XLVmn5qr2tejPbUpyj90YbHBZUz73rXQ+narSlVU1GeM4isHy7W+ibvT5ydClOcF6nq4+V5c+GV5aFRSeJIj78Eq0KtCo4VI7ZL0HZcntwz28mfBpQItS7B8PD7naXbzZ4aAXDIacwABqAAIgAAAAAAAAAAAAfAAEyi5CgKk32I+HyVAFcWo7scEXPYoAAyAAAAAoAAlURRjAfCMVLLtlTm6c1Jeh7jp7VYypwhN/ueFSyb7e7nb1Ftb4M973GebinLPWvqnhqfnjLv7GM4xqLbNJ/c8xpfUW1KNVpfc9FSvKNxFOM02erDkn2+DzeDnxZ7xcK+0KjXi2oxyebu+mqkMuDf2R7im1Lhss0ov5U19jVwxvcMPN5OG+uT5XWsbi2m06UmvsaJQ9ZLaz6pXtKNzDDjFfyPO3/AEvTqbpRbz9DxcuGW+n2PH8+ck+dPFxSksGKTjUxk7C70uraSeYvCODHDq9zOONj3zG3H2jJrJzdLg53UPpI4UmoyfJ2/TlNzuW5L14NS7rlyZ/9d9nv6cMU4f6UY3k3C2bNqTVOPHoarpOdm0lye/GfwfmrlP3PmepSctSqNnF2c/MdxfaZcyvJyjSbTOunpV1GTbpyPD6+uVtfpuPOXjmq07Ev1EawbJWdxBcwZrVKpn5TfvjpcLv7IcsN4kVZhLDXISTfJzvd3Grlnj0YjjlCLxLOBNLKwzOOFD6m50z+zSJyVROM2uex9K0Sn/yVOUn+k+b2tNVrlRbPpmnx8OxpKPsb4ruvD+R16b05W+XPB5LqLUalC68OLcco9fKWym5Y9D531TXlWv8Aheh15eo8H43hxzy3lHG/ideHPiyf8zkQ6gqwS7s6ZU80uW8inHDeTy45vu54cW9ad/LqicqUoum3wdP8Q7u7TcNv0NSm4vsjdZyc9RprHBbftvH9eE3I+jaHinpkE0djUqRUM4Rw7GGLGKORKEfBll+jPXjyaxfk/Ks5OfTpr/XlbzSx2NVPqqk2k6aR5bXJ4umlL9R1izLnLX8zh++7fb4/x+F45a+l0dXo3K4cVk7Gk1KOU8nyajd1rer5XJ/zPcaBrLrJU5NZSNzk28Plfj8uOe2NdnqNnG7pS8qTSPA6nYO2rN44yfTKk20sLhnmeorPdSlUUeyMZ90/Hc1365V4hzyiRlngyhGLeGyuG2WTEfenyBgHRxy+QPsA+xFyQABAAAAAAAAAAAATKzj1K+O4UBcPBAAACAJkoAAAAAAAAAAAAAAAAAAAAAEDJLJjg30oZRYUhT5OTGKSJFJBsqMmzEEKgQAAimKKFCAgFyQEABMhUBQTIyQCZAAEAAZAwwyCEyVsxygDZg5CTyYBWRizJGLCqACDkSZokZtmtsCFREUAAABSAooIAKZQ7mJY9ypXIXYLuSPYLuEZPuQN8kIKCADIEAFI20uATlsDKK8uWZYWMmDyvKZqDce4ElSykzEjm08BMCs1zM2a5ga2QrIRYAAKAAAAAAAKBlhKG4xHM/Iiy6UhJt89iSW5+T+Zako7VCPzLuZY8CHPLl2weflz09HFhutVSMU/N8x2GmaJX1GUfAhmT7HO6c6budZqxljy59UfZND0Kx0SzjGrSTrR9UfP5OXT6PFhp5zpv8PqNOMa+p0sR79j21N0LGCpWHypYZqrXc5+WL8nojh1ZO2pzquSSxlnluW69XzHMr3cny3x6nV19St6T3SlyeN13q3LlTt5NPseUle6neLMajw/oXqdrh49yvT6mtbtqtTbvO0o3dKtBKLPiS/idGW51X+x2GndRXltcRjVqvGcCc0+GsuG4Pr816oiW5nA0rUYXtumnl4Oe04sxpwrPCRs4wsmhNtm2DTkkaZci5s41tCu4pcuB8Gu4S03WNj4WX/ufoyhSTtJ032kj5N1505KFzO4pQ7Z9Cq6y3rb6SqRfLORGVWXfseWtNSdolSqp8HfW9/CtFYfcxnjtLHKk8Ejl9+wcHLnKMo4isM5WVmwmo7eO5YpNGLW58Ei2m0XFJEqr8mf2Ot0y7+DvIyzjDOxrPFKf2PN1ZvxePc7Yukj6ZoUYXusRvHy36n1PS4Qiljvg+bdFUovSaVRrz+59N01wVJZwngmSuwjnD3djpOoNTWmabWqwljasnLvdTo2MW6lSLXtuPkvXvVcbupK1t5NRksGZEeMvtbqaj1M7qtLNJ+ufqfVtB6k06hZU06mMI+WdN6VG7voU6ri8+7Po0enaNGisSppfdG7F09ausNPwtlXhd+TZHrTSspKt9+TxUNPoOThGUM9u6OXT6ajODkpQ/dGdJY7jqLqzTv4XOVKr5jz3Rd1QvdXrVG8txz/ALmyfS7rvwpzg4v6o6C2UtC1erClJLCxwWRZHeXFT4nW1DuoVOD32qPHT01L/wBNf7HzO1q/+I0qjfM5ps+m3tSFTTFRfLlBf7Cw08N0lteow298n0vlPz9j45eV63T+sqsm1Sj7H0TRuoqOq2EHF+d/UzYzYz6p1x6NZqSlt3Lg+Man1/rUK8pW9Typv1PVfidfVKtCjTjLs/8A6nyS8rOFWNN95Hfjwnrsju6nUmqa2/8AmpZT78mlaPCtPc48m3SreMaCbXJ2rj4dPcmL01HmL+0oWqUaXzvhnfdKdLPUcyuIZi2dNqVenVrRjFeZS5PQ6dfXdnSiqNRxyjnbpLXu7fonp61S8aOH9kcv/hbpf5mv6I8NPVNQrcyr5MFql2ltdRnO8jO3vV050tH/AP4jJaP0xT7f7I8B/E7j/GR6jXf6yfsq7fQlY9Nx9f6Iv/6cpcbv6I+dO+rf4zB3NWTy5E96PpS1DpyH6/8AYS1bQUvJP/Y+aOrnuzBzkuzLM6afSf41pqlxPg119d0VxaqVP9j507iUVyzj3d5S+FbbW77m8btrF12qV7etrdxK1eY54OsqSq17+hTXKckjiV7yMK8nCL3Pjg9N0VoNzqV741RNxjLKyjqPqnTGl/DaO/LjKTNtSO14O/trdW2mOGO0UdBXf5hzqNa4ZFlszSLFLkuIx2yTSj2ZhVlToR31OMGu7vI2lrOpN/Kj5jr3Vta5uZUaE2skyya4uLb6HU1qzzt39jbb6ra1niEuUfHFV1Gp5vEfP0ELvVbSe5VJYb9i45YvRl42WtvuVG8n/dM5kLijXj4N6+H3PkmjdXToVoU7iUm2z6LZ3VLUqKq02sv6luUnw4XG4/LrOoeg7K9U7izp5lL6HyfWNBvdKuJKvDbTbwj738VOjSUM9jVc6XYarbTjcUlKbi9rfub4ubvtyzm351qpUceH3ZYPNJyq/Oet6j6NutLuZVGs0221hdkeRrNOtsSwfR4+Xbx83H0qk3H6AY2rAPRjdvBcNAAOjM6AAQAAAAAAAAAAAK4pkIm0BHHASZknlmeFgKxjPDS9WcidpUeJNGmjFSqrK9T21polW+0G4uoR/s4+xzyz1W5juPEb3Gfh1PkFTYl+T3LGMm3TqQlv98GKXg1Hui8fY1jntL0nPr3BW03lEN7ZAATSAAKmgSaUQWcMwJWsYxlJuKK5J4yMJRMrejKtVjFerM12w+BThHymLWJZR3U+nK88Sj7exhLp+6jHl/0Jvpy/Zhv/ANdNOU1hxOfbatc2u1KWDgzo1KdeUJPsVwcsfQ54zddbjcpu/D1ln1K4peNPn7nfWWtW13hSnnJ83ccmdKvWtnmMsYO3tlj08HN4WHJux9UlNNZpGynGo4vceH0rqBqajUk2ext7xXNOOx+h6ePLGzt8TyfFz8e7jj6hp0LuhPMcs+f6npzsa7aWEj6bJtPb7nm+pLRO3nPHJjkw/i9v4vzc7fWvDxj4jz6no+mKc51pLHZnnYt06mPQ9h0pBNzaR4sJ/J9Tzr/1V657owS+hI4lDkuXJpM03VzTtabcvQ+hL/F+V9c8s/4spUabZhKyo1FyjhU9btpSw/8Ac3UtTouTzJY+5i+uu3pxx8nGXSz0mznFqS/ocKv09aKm5U48/Y7SF3QqdpL9zC8rRhQltmv3ONuG3TxMvI9+3zXUraVC9msYijiHO1WpKd9PLyjgia+n6P2uuwAFrNcrSobr4+mWSxbQ+x880OnvvkfRrZbaMV9C8PVfK/J8uUx0yuXi3n9j5trUt16fQ76e21qP6HzXUZ77ps3zZbX8XMtbcYZIQ80wfTy7oczS6bnf0zhnbaFDde0/ub9d9OmUmPHa+hWkdtukzK4SjRk/oxBNRwatRlstH9men11i/LTeXkdPm+qpTu5Y/wARxvCkvQzvambmp77jRGc33Z4rnZX6iYclwkZpNT5O26dko6hJnSTnJzwj0fTVo3c72u50x7a8iY4+PZk91Qlvpr7HXa1FLT6q+h2sYKMIYOo6iqKFpNfQ3Zp+U8PD/u1HzjZieSuW7gqkmSON7OdfqMv9WJQ+5DbFAAGpegABkAAAAAAAAAAF2xUd77oUoqtImcrb7mUWqMeO4aSo5xe2I8Oaw2iNyb3HIo2txdU5ShnEe/AHHaTfBJPjBZU50pYkWWHHIRIxWMkTyyJvsVLAFAAQAAAAAAAAAAF9DBmfoYMAmZJmGCpMQZZwZRi5MsKbkzlQpqKNstcaJtitqwZNr0MUwKQECAGSEAjGQFVFMUUgEBAKQEABjJAAAAEKABUzHIyBnkxbMXIxcgsJMwZWyMKgAAAAAACCtmLNzpo1OOBsRGT7GKeGXOQAAAEKQoAACoq7kRV3CORDsH3MYPgrZUAF2BAAAFBMjIFMovkwyZR2rlvlegt0M6tCo4OpGLwXw6lOgpuLwz13S9jT1SEaVfEYS7vBn1Xp9LT7V0bfE1F9zPvN6XTxMZLltdwJJP5nhkRZdppWapGxmuZTTWATJFUEyMhVBMjIFBMlAAAqgg9s8gslmHHczldLj8sFiNVzb79ju+ntEravewypbIy/kdNRofE1YU848yPsvSNjGxtE3BeaPdo+dz8j63BxXW3f2Ol22kUIRpxhnauUbajdae5y/kJJJ8Sya22pZR4blK9E+OmUpLa447ep4fqvWpWsPCjN+bjg9nP5JS9cM+Q9WVKlTUoRaeFMz6WHHu1jo2lVNQr+JUk8OTfJ7WjpFC3pqG2LZx+n6NONqpRxnCO1dPdV3ybR83yOfKZXGP0/g8OPpLk6a7saaz5Fg8trdjGjtqQaXrwe4v8AY6eG8Hh9duXUlGnDnnBvxva/Ll5+PHJ09F0NdzqU5KTbw8H0OOJYPA9DWUoW85SWMvJ7uDxJI+luPztZ4W5o1yUlNNejNiit7eTLckmmZqO5sK6qxSz2NuoaRQ1ChKM1Ft+50FnWnbyeMtNnaU9SbmlJ4RYPnfUf4fScp1KPH2PCXOmX2mzacKjS9cH6TVajcUUsRk/sdPq2j2l5ScZwhHj/AAm5ZTevl8DttZnCW2pFr05O4o6hSqr5kjuNd6Jo+I5UJNv6HlLjpnUbZOVKlUkl9SZYw+XeRqw7qSZswnyeUjXvbPitTlFr3Odb643iM0kc/Spp29ZZoVPseXbfxOH7nfSv6ToyW9co6Oe2VfcmdMca3H2HpJU6XT9OpKaivqzHVeu/hk7a2puclxmJ4b+PTpdPq1oy/MXomeh6P6d8esry5z5ucS5GUS9NdDRtb6juFUd3XpQbzhnJ1n8MbtW7q/FSnJL6H1nTnbRoqEIQW1Y4RzWoVYNNJr7HOXSSvyxVpah0/ebcVW4+uDvtInrGuz8KNWvTXufY9a6Ks9V3VGoqT9kcvR+m7XSKHkjFyUX6G7lFuUj4prOl6j07UoynfVKjqvtnsdjYz1etSTU66WPY5vXdpqNfUaNVW0vDpTz9MHp+lNfsa9GFvcKlCrhRS2ol1o3t465q6rbQc3OtwcTQ7W41HVKkq1SWcZ5PsGr6Zb3FnLw4Qbfsj5zZzpWGt14VmqccYyIsdeozpalGO9vZM+j0a07i3g5NrbFdz5pfXNC11KFVVE4ynnJ7y11fTq9vT/5mKaiuEVXE6ltKVXSak5RW73Oq6P30rnHiPbjsdp1Fe2M9EqwhcJyOi6TuLWFylUrKKx3JUrsOr9OlqFDcuNiyfIrim3qMVtb2ywfcNX1SxpWNZeNFtweD4/ZVPibuvLamt7w8fUntZ0zp2dGn4lNRj5TOvTdOhtdQzxKmsxjk6/VKzp2/iN+Z+g3abjqreg6l7N53YZ6ajUTpqOzGFg6fRqW2pKq+d3ud1JxguGuTGV18pqtUoy3cS4NqklDDXJgsvlLJfNnzLCJJKzqm5ewyvYOUEu5qdxCPdpF9F9a2/wAjFtvjBxaupUKa+dHAra9GOVDDZqcW1k07hRS5lNI0XF9Soxfmi2dBPULu7lthB/yNtHp/U7qSk6NTa/qX9emtLW1tyntjTb+xxadhqGqXmKcaqpv2XB7HR+i6c5x+Jbi/qfTdG0Kz0+2jGEYTa9XEutL8PnegdAuo4SrrL/zI+o6TolvpdGMYU4ptd0c+nTt6Mdz2xf2ONcalHDjFrjsa3EbL6tGjTcFJPKOgk1N5M69adaXmyjWoqK7mKjExy1kyzyTlc4LiPJdXXsqNtOCyso8Bo1rG4uo1amH9z6F1hYO6tKlZJ5jHsj51o1eVG4jRqLaZ55109vh2W9vYUbOnOe2NNHZT06hKik6MW8exr0mpFz4w+DtlOKUs45Pk5Z8kr9JjwY3B4PWtF8PNel5dvPBz+jdWnKtTtp1Gsv1Z3N9FTsqykl2PBWG+jr8FSzj6Ht8fkt/2fI83gmL7YmqS3t7zKnNzbae04GnOTs4TnnL9zmuCSTzg9WU13Hx/fHem6q6F1Z1bavSjOc1iMpeh8e6q6UqaVqDuYtumsvC7H1qo2pxkvQ4XUNrDUtFqwmkpv6HXhz1e2c8PadPhEpb6jmuE/QHI1C2lZXcqOOF6nGzwfU4s5Y+dzYaqgiZkem/Dw2doBkmSCgmRkCgmRkCgmRkCgmRkCiWMkJgDLssmdGLqz2o1+mDZb1nQnuSyB6bRemfj7im5VVTSfqfbtE0G2tdJlbboTjOKyz4JS6nr0Yx2Qxj2PfdJda1q+nVYVeJdlk8nPx55Xp3xykxb+pundOsak5xnRUl6JnznVKtvDMYQi39Dm9XajXuNYblUmk88bjzDk3VfLl9zXFjlj8sWyjeXlLBA3yTJ6IwoJkZNigmRkgpFJt7Rk2U8ZJTbHBybKSpXdLK9TiSk9+MGxScK1OfszDWO5K+oWM6dS2XkXY2VaEJQeIo6np++hXt0pSSZ3ra7LlG8ZuPz/k5cnHybfOdcsXQrzqdk2dNBNPln0fWtJje0OO654PB32l3NvV/s5YTOfcr7PieXOTj9b8uPOm2+JEXlliQxVU09rwiVU6nOMMZZbnT148eU1UqN02pQfr6HuOlbqVSlJSTeEePtbKtXko7G0e/6fsXa0m3Hui8cs+Xg/I54XHX27mOJSTaOi6oeLOeDu5PzJx7HmOp7uPgTp55O1ytxfG/HTLLnmnjpbXjtk9l0pHwozbWco8M4OU4vLxk+idN01GgvsceOT2fc/K3XG7yMsvODzPVFSSpzUZYPUywkeJ6prNVJxO3LbJ0+T+Nm+Tt5WFSsqjfjM2U61zKT/Pkjj7V3yZqWEccf5Tt+gz1L1HJjcXNN5+Jl+5nLU7n5XVnJHAcW3nLM08GbxQlwneiVWVWo3LIKuWVx4N446jGee6xBE+Sy4Rq1ZLrbvumobr9Hv6axBI8T0rSTuYz+h7d+WJqdPg/leWWyRwNVlizq/wCk+Z157qrf1PoutVNtpUXvE+cS5lJ/U4522vf+PlnGhCOQ9DWN18vaHoumqe64hL6nn4xTTPVdLUm3GX1GFtyc/I5Ncd29rhLg4GpQlVouMc9jntNSJPEVlpcnr3NafleLluHP7PmV5pFf4iUkpd/Y487Ksml4cv2Pp7o0587I/sR2VGby4R/Y8v6rbt9z/lbjNR88s9Hq1JpyjL9j2+laarenFvCZ2EaNOnwoR/YynKEYcy2nTHDTweR5vJzXX0yk1Tg3nODx/Ul+p5gn3R22parTtqbUZp5R4PULt3NfOSZXt7fxvBq+9+HEinkyw8lb2wyhTm5PlHOx9fk+ekAfdkyaZUEyMlZqgmRkgoJkZAoJkZAoJkZAoJkZAu3PORKL25yYtZM935e0LtfEW1JR7Hq+mr22p2dxGrTjlx4yeSg9jz3M41pRztbWfZg25uqSpyqycEu/odfDtyJScnlsZ4wE2uETJABQTIyBQTIyBQQAUEbwE8gUFwiMATGRyzZGGS6RIwybYU+TKMEjYuBo2YUTFyfoVrISwaQj9TJ9zFsJgUgyTIRckGQRQgIBUUiBAIMkyEUhSACABVBjkuQaUEyYObTBpkzFsjm2YuQNK2TJMkCxlknchchQDJMgUEyMgUEyMkHKkaZI5EkaZIyNOClwGiiAAoEKQoAAAZLuYmUe4StsSsiKEF2GSAC5GSAC5GSAC5CinNNkJzu4JSO/tNaqabafkyxJdjXca7cX9P8AOff6nTxf5qhLlFqVYKWyKM6aY8Vassl7CdNwipL1McmpNDJmqRsfY1SKMAAQAAAAAAABFABqNQJGX5mCmM/It5zzXD/ZybJqldwl/mR9v0qaq6fQx6RR8Lpzw4TfbKZ9h6M1ClqFm6UH5oRx3Pl883X3eG/weikkvlEHnuZRoTt8xq8t9iSXPB5ZisnyxnBS3Jex846w0ucJqrGPrk+jrMZZZxtS0+lf0cOOXguV6dOLUr5Zomvu1fh1pYWcHpZ9R2OzLq8nF1DoyTk50YJfyOoXR9/UnjKx9jzZePMrt9HDzLhNRs1bqCnVpbaE8s6zSdOvdTvNzhmO7J6XT+iKiqLxopo9rp+l2umU0vDw2jeHH6vPz+V7sdJ0+NlaqKWHjk7CHfJU0+3YrW1HR4hJubMdu5v6GcHjk1qf5jXuwJFyk8U+TdCk6k1CXzs3Rt3FrYu52ajb2Fm7u5xmP1AwoRWn0/FuPLD3PE9R9Zf8zGjYVN0tyTWTrep+q7jV7mdjp05Lnj1O06U6Ncc3epxU9y3L05LEs27nS6U69sqtyuWsnd29raVbZ7sfsdbWnGMlTo8QjwYq6dOapxfDLskYal0RpWoxdSUct/Q8fqf4axjl2lJv+R7mN5Wpv5vKcqnqax5mWUtfEb3onWrdvZQ8q+50tTTNRs5fm08YP0XK7tq6xOOThXGiaZecyo5z9TUqyvz1b1alG+8SfCPfaX15Tt6UKDqpbeO57Sv0XpM84t1k8/d/hmq05StacY5FM707ex6606jHM6+HI72y6806ay6/lPmFx+GmsKflnDCft/8Ak4N10lrNk/DjNfyRm47TCPu9v1jpVVKSrcHLjr1hcf2dTLPzerPXLWfh+I8L/KzKep65YR3KrL+UWZnHUyx2/Qt7daffQ8GtJYfHY+e9R6DZaPcK/ss5h5j5zDqjWKnapPcv8rNF11FrV0nSuKspQfGNrL+uxqTT9AdE6qtZ0OFavLM3g6/WOj6OoXlSpsbb57HxnTurNR0e2VC3qSgl6YZ2cev9ZdNSVxJP7MkxV6y/6BubmcYRpNxi+CUehrq2nGPhM8p/8RtWp968v2ZmvxE1KrHf48uPozclHrrvoy7mnF03tNVHoe7oxUqdJ5PKv8RdSqU8eNLP2Yh+IuqRWHWn+zJYOT1dp1xp1KlGsnFS4Oo02jSt6UnHu+TrNa6i1DWpJVpykovjhnCo1rxLjdj7D16Hr41peE2zz2qV/Gm6efU4sr28zsW79maHY31WfiYlz/lGMT1egsa1KlRipP0OTK/s88zOko6TqNaKUc/9pzbforV7lpqS/YmeOxyKur0KS/LmcGrr05LEpeU72h+G+pyxvcf2O80/8NKm5fERjKIxx1GXzqerzk8U5FitQu3iEc5PsVv0FpVtzVt0/wBjtLfRtCtsJW2Gvr/+CNbfGrTozVr/AA3Rzn7npdL/AAwlvTuqLT9eD6lB2lBfkQ2knq1NeTnf7mplpLXQWH4faZaxjLY932O8p6bQtYbKcV2x2NE7+rnKlwcWpf1XJeYly2zus9R02vG1ncUIeaPY8rY9W17HUlQvp7Yrvye5sdQUobKzzB90dJ1X0dR1S2ndWNNRqPszO2pdu5VzQ1O0jO2lub5Orr06lGpyvU8Jper3vTV66N7NumnhJI+l6fdWut2u+jjco55YVwW5NZkYNvJurUKlNtSOP6gZpr1K5I1vJnThuA415Rhc2lSn3ckfK9f0K6sbqVWlDCR9cq03Comuxw7+1oXcHGcMtiz2+W+PP0r5ZpGvOzmo3EtuD00eotOnBSdXkx1Ton4hOdGCWTpZdE36yotcfQ53x8a+hh+Ryk026z1JSnRlStp5ysHE6U0+5ur2FepHjPc7LTOiayqKVxFNJ+x7bT9NoafFQhDDRceKYuPL5V5Plz7altpKD9DZJuo9q/SZLyrd6GFOUacm36nR4rjN7ZwSxz6HHvGvCbfymye7eknwzo+p9SjY6dUjuxImEu3XqR8w6oqwlq9VR7HS+htvK7urqVZvOTV6H1OD4fM8n5F3M32MF3M32Pdfh877YgAiAAAAAAAAAAAAAAAAJnlI7DT72dldU1F4i3ycDbl59jNtSWfVGasc/XrpXV66sXng62KcVvfqG5SXm7lnLdTUF3RNKmc8giWFgpqIAA2gACbAyi9vJiWS8mSXtBtN5LJqWPoYxi2TmLM2OkvTsNN1GdrWis4R7zS9Ut7iMd8+T5q16o5Nrd16Mk4ywjWN08vP4k5u31OcpNZpco41azjdRxWR5ix6nhSSjVk2d5b65QuEsP8AqdJ635fJ5PF5uK/xcer05b5xCPD+hrj0vbbsyj/Q7hahSS7r9yq7hL9S/cW4RnHyPJn8a0W2lWtslsXP2OanUjHEV5Tj1L2jSjmTX7nV3XUlvSjKKbz9x74l4Obmvbtbi7pWtrNyeJHzrWL+V5eySeYs26lrFa4k4xnwzq/kh4k+5zt/i+14nhzhy22qK8i9co+kaRQdKzpygu8T5zZwdxWjjtlH0ywk4WlOPtE5cd/k5fleTeFkcio6mOTw3Usk7mSZ7erNulJ5Pn3UUpSvZLJ35b08P43HK5On2wcSFhF+ofc54PtZSy9oADVZVGTfBgXIl6SxF3EuUXAXJm13k/i9h0tTw4yPXS7HnemaWLeEj0T9TvJ0/L+f/Ll06DqCptoSXujwK5b+57LqmrtSXujxkHyzllH2vEx9eOI48kfBtXLNcu5ix68Mp9kHzg9p0vGUbfK9zxMP7WK92fROmqcY2DyuTfF1k5fkMsZwWu9UnJZOr1vUHZ0Iyzg7NPEcI8h1bVboRj9TpycunwfD48eTk7YrqiUeN/8AU5VDqenLvM8VFRa5LujH5Vg8/wC2193/ABeKfMe6qdSUYrPiHV3nUiqRajM8vKTfcJ0/VFmdq4+Nxf033d7OvLvk4yh6sslF/KiZb4K7euOHUN3oZReDHY+5kgxbtH3AfcGogADQAAyAAAAAAAAAAAAAAAAAAAAAAAAAAAAAAyFJgoJmaWSRgzdGAEjTNsYYMopGaNMscYJ6mTMPUDIhMgAEQAUgBABMlyAICAUEyCIDJCZAyBAAHchM4BFZi3gORhJkbVyJnJgZLsAIykYAAAAAAAAAAAAABzpGiSORI1SMjTgkuxmSXYsGsGRCiEKQoAAAZwMV3NiCVkVGLCCK+5MlAEyMlAEyMlAEyNrfmz2KAM4ySjva5D2y8+DAA2qk63HbaTsFx2CCwZrkbTXIK1IoBAAAAAAAABQQFlWKYteK/D7fUoglKrtbx9TGc6aw+Wrdul4S9PU9F0vrE9AvYb5uUakjz1VeBLdHlmTUq7jLlOJ4OXDb6/DyTWn6VsLuhrlnGvTlFOMVxk016UqWW4s+Q9KdWXGkVoUpZdPPLbPtGk6taa/QjicMy9jx542O3tHXqSksYJFPPc7O60pW8nKLyjrKkJKXC7GJf7S/+K4xztazk11KMIPypGe6TXMSxjBvzywPbtd9MY09sd2TKH5uU12E4rHke4ypOUc7o4FrHrawXlZk3ufAa3PHuYv8h8ckbWS2o321lKvJYLQoO8wuzO6h4Ol2sqlWSjti2sgYSnQ0WznVuXGTSyk2fKepepLrqHU/g7HxKdOeV5Vwb+pOpLnqC+VtbxbgpbW4npuj+kadnQjdXC86efMBr6U6Sp6bQhd3ijVn67u53l5ceJ+XRfhxj6I2ahe7ajowWIr2Oucm3kfJFlVSW3bl+5gmo8tZZQXSrscluz/IJYLF8lqdhpzy+THqmFXnDtJmEM00885MKs4UqbqSaWDUjWM25Xxr24ecmf8AEnCKW7B4zVerKNonslFyXoeYqddXMqjxS4Jp0/Va+teLKa3eJn1wWFxQkvzaKk/dnzjSetfHqKFVqOXg9nQvI3MVKm01j0NaZ16O1lTsKkcu1hk1fCaZUeJ2dNr6o0ZYyyXOxJWdTS9IlxCxpRf2OHV6c0+o8qhTRysv3G5+7M/st6N9ut/4TsXPxHSptexjPoy1uPkVOCO03P3ZVOS7SZqZK6av0TaOi1inlLueVq9PW1C+jb74ed+5764nL4ep5n2PmGoVan8fo+eXze5uZD2dt0PbYUs02jkPo2zjL5KZztPnN2qzJ/uclSlnuzNyHVvpCzmltp01g30enbG34lQpyOfufuyZfuT2TfaR0XS1De7Sk2jdCw0yUVFWlNGrc/djL9zNumvbTlU6GnU3hWkODJ17am/JRjE4U5bVlPJpq1lGjKpJ42rJuXbG3ZyvIpZSwjH45yjiNTH8zwWq9YxoQlRg02dBDrq4oyxsyYucnTc47X1eV3NvDm2Yup6tHitM6rhXlGVWSi36HrqF5TuqScGnx6Gpqs5Y2N3iuXCeCJpPlZfuYYSi3nkReUZyxZjN+ZmUnCMcbU2awYauIoSzvUsJeh2mnXzi1Cfmj7M6t9sGVOXhLJrWkk029R9JUddtnK32wqLzZXc+c2d9e9Hap4Vd1J05TxyuMH1Ow1CVtU3PlS4wzjdVdM23UNl8RDbGpTju8q9QrmWWoWuuWaq0tkZKK4TOvureVKo8xaR840jUr3prU1Rqxn4ak+ZPjufXLS5tuodOVenKO6XogOjxwVSwmb6trKlVdOSaSNUuOEBhGflbkshRU1nGDJL2I5yXG01uM6tYd5bTCVJQab5yZqCk8yeDOVKEknGeWiba9E2xppeUqSa3NF3OosY7GDlKHk28F9jWlk1VWxcGDot+vY2RoP51y36GFzc29rRlKvVUHjjJcbsjiahewtbec21mKPk/UWvS1G5lTUnhnO6p6kq167pUFupt4bR46oorM9+Z+x2ww7TPPUa9rjPBt9DCDcvM0Zn0OLHrb5vPnuou5m+xiD0vFvsABAAAAAAAAAAAAAAAABVLAxh5ICKSll5wZKG1b8/yMRkGx8sAF0gACgACAZZzHBiCSrOhS2syfJiC/JWajwYvK4TCYJcVxtVQx5sl+Lqx4hJoxyMHLLDL6dbcddxvp39xBYdWTNn8UuMcVJHEBmY5fbnbx3/5bp31zPvWkad05PMpNgHWYpNT4jZwllrJqqfmwx2MskL8zRjlYztbj4SSeMnq7PqWFGklKGeDyIy/cxjjqpycePJO3uF1NSq0pLYkeV1S7VzeNpcHBUpL1ZHy8s6ZXfRw8WPH3DY88MAExi53sABqshF3DEe5FZvsIcstReUwocS5MV1mXWn0fpyOLCmzuH3Z5/RNRtqVlCEqkVJeh2X8StmpYqx7Hb26fnOfxs8ubby/V0/zIJM8pHKR3/UNaFWsmpZ5Oj7vBztff4sLhxza03mRO82WK2yMVLE3wS1nplTjm4p/c+j6DTas+x88tXvu6fH6j6dpajCzx2eEa4e8tV4vyG7wuW2o8YyeG6nqqcnH2Z7hYTzk+d6/PN5UX1OueOLw/i8Llm6dRz6jCg/c1xbyzM89kl6ff5MddMnJNdjW485MgdJZHP4TcvYqa9iMEva27VzC5IAk6GAC6UABUAAQAAAAAAAAAAAAAAAAAAAAAAAAABnIAFawRclDGTZGP0M6UMPLN2EEtYxgZbcAFNsc8maYARWzApABCkAhUQoAjAYEKQoEIUgFIARAgAAAjC6DGb4DMZA0x3AAjRgq7EAFIwAAAAAAAAAAAAAADsZGiRyJGiRkaySXBl6kkWDXgFBRiTBkQomBgoAJcmZjHuVhmqUiK0BQECAAAAAAAAAACbNAQCKsU1y7mw1y7hWsAAAAAAAAAAAAIBl4a2b18xiZJS2/QuU3BjGCl8xrnUnCWIdjdyzDfCD8yPPng9HFyWORQlCrHZUeJM73Ruor7p+vGNB/lx92ealUjnxIcYOdaTV1TTnzk4ZcW3snI+79O9aWGrUYU7ytio1ykegraeq0PEtVui+cn5ug7mzq77eW1pnvOnPxFuLDbTvazcFxg8XL49+nTHmj6DXt69F+aOEcZwpVHhvk7PS+q9H16limvM+OZHIudF35qW+Dl/rNV2xu+3SqHgcx7DxZVP5HL+Cqxk4VecGupbODSgnyYvbdykcdzUVx3N1rRncyTkjl22k1Kkk5Lg7+20+lbRUpRwkVHCtrSnYQ8epxHHc+a9YdWVtRufgbKSliW1rJ2/4gdW+BQlZWc2qieODhdEdHzuaz1C8hu3+dPAR2XRXSFG1oyuruLU5eZcHqNQvHRi6dHGw3ahVVvCFKlwksHn7i5e/a2FRtVp5fzGLWHgzcVGiqke5hnPLNQAAUVPBJNy7GM/lM4YjHL9Qa2kmnHL9DxPV3UPwjlbwny12PW3tXwLSrP2jk+PatUnquvw5zHLRi5O/Fg49vZXOqXPizTcX9TuYaFTjFRknk9PpumU7Wxi1HlHKla05xylyeHLybMrH2+PxN4SvnepaOrCUatPPues6M1mdWCpTfrg4XUVCap89kjgdIS2ahCK/xHo4ua5PmeXw+tfXAAenTwSAAM+uk12AAsVruP+nqf6T5dqH/AJgo/wCo+o3H/T1P9J8u1D/zBR/1FH0rTv8ApUcpdzi6d/0qOUu5mwUACSp9gAJlKuTCEXOT3dkeZ6r1T4C3lSjLDkj1UntjwfOevoydek/Q3J01xYbryVpa1NQufGqJ7cndf8O0KizhmGhJSt9sfmyeytbJu2juXJ87n5bjk+5weNMo+dXum3VrLdQi8ReT03SfUM9/gVpYeduMnfVbKjKnNTjnys+fXFGWmavCceE55OvDzbefyfG9X2eL3JY7NGxLB0+g3rvbWM85SSR3Lxng9m+nyrNVAAZlm2thfnjs9SE5i95rJjbYmvlb7HPsdRqUZeFL5J8HXRhue4u9Oax3RkbOrOk7bU7KdehHNXblYR4TpzXLrpW/hZ3b2Uo98s+r6Zc7qWyq8pnkuvOk1f0Kt3a08TecPBB6um6GsWMbmg90pLJ0laEqVSUWuzPL9E9SVNKvPgLyflgsY7H06rYUb23VenH51kDycajiWVSTOdX02dJvg43hv5cP9iRfaNOVLhhQjSy4+py6Wm1qssxX9DsKWjTjh1cYNy7Nuoo5TxLu+xzqdlVqPxJR/L9WbNSv9L0ik5XKTkl6NHzvX/xHVWE6Gm1HBPtybx4rl8OWXJp6nW+odP0qlKMauKq9D5XrvUdzrNSUISzCL9GdTXub2/uZVbqe5M41zUhRjihxL1O+Pj3HuuP7WudWNGMozfmkcJUXUnv9DOTVbmpzL0MVOdN7W/Kevj43Lk5WTaT2gm3L3lPRJp4s89gKQ3HMAAAAAAAAAAAAAAAAAAAAF0AAGgAAAAAAAWwAAZAAFgFIUzlbvoAAbmevk3sABbq9mgAGK6TKQAAkS2AYDM/bO0ARS35TdQAGtaAAEpDGQlhlj3K1kSdFvauWUYLhkfBUzNjUrZCUlPOWbo3U4N8v9zjZa5GV6kavrVrVXVmm2R4XKLmmu6K5U3Hhck121lybmmKbbyVJZZFxEizk3YzMY22040riEm+zPaWuv2lOmo1KuHg8M4N8oYT5l3MfHcay4uPknrX0R69ZOHlqni9TuKdxdTcXnLOFGaS4NeHubJblWOHx+Phu8We2S9CFzINDDG/Znn7VAAdbEs6GQrIJ8MwABdAAAAAAAAgAAAAAAAAAAAAAAAAAAAAAAAAE7FHcoZybKdPklOGWcpJJAMJRJkmeQVmrkZIAMsggAEyCAUgIBcgxKBSAhAKYlAEBAKgRAgpAQC5MWxkxbCmSMNkyFAAAAAAAAAAAAAAAAAAAAAHYtmqSNrMJIyrV2MZcmbRgwMSMyMWXaJkhRgsELgFAJYYaKAguCtkANLkZIAaXIyQA0yBADSggAoIBpVImDFAZ5MJGXoYyA1sFZAAAAAAAAAAAADLz34AKMlLAntkuxiCaWXXwkYpcY4MakpwWKbcfsZmUEn3OeWF+nfDl61W2yu3CX5uZfc5k4RuMOOEdbNJfKKVeUH6mbr7a9c8v9XdW91eadJSoVpRS9j1+hfiNXtJxhcynNLvk8RQvItbZJfzNtS3p145jNJ/Q83J4+GX8nbHl5OOayffNI6y03UoRzGnGT92eot5WFdKSdJ5/zH5Sg7yyqbqVWo0vZnotM65v7BxUlOWPdnkz4NfDrObHkfpSSpQkoxisP1R5XrXqKnpGnVYxkvEXbD5PF2f4s1HbONSik8euDyupax/xTr0VVrbKcu6zwcPWx6tWfbs+mtJr9R627yvmVKeGlJH3GxsqdlYRpwiltjjg890jp9jpum0lTqwlJHqVtcW0+GjN2zu/Dx2sSn4uFnucCG3wWpRzL3PQ6pZt5lGOTz81UjLa4MsjXx8tNLcqvmeY+xsffhcDZ6vgvZGvhqZYsSNmXHqV4Q2zb/TXnPoK8Hsi08GW9N4wSbbS4J3UmV267W5uemVYpYew+TWDVHVlCfMnJ8/zPst/bqvZVIru4nyHV7Orp2peMoPCbZPTb28Ve+tU5xS3eX2NlSajx2weV07qSCoRc2ov6lv+o4ul+W02/Y8GXBlcq+5h5cx45Grqq7SjGMZZb9jd0LYSqR8aUXxLu/udBbW9zrV4nKEtqkfVNAsI6ZZ+FtWWsnq4uO4vkeXzzKu1AB6rqPnygAM3KHYABNDXcf8AT1P9J8u1D/zBR/1H1G4/6ep/pPl2of8AmCj/AKi7V9K07/pUcpdzi6d/0qOUu5LUUACVNgAFu0uUSfCR47rPT5VqXir9KyeyXLOHqdrG8tpw91glysduLmxxr5Z0zcwpXMadTC59T3sJ+JU8kkonzzW9JuNLvvFpRlhZ7HP0vqKUaMY1fK/qeLm4Zn/+vt+P5uM09rVknGSx2Xc+f9RuM7+kotZ3HoLzqSjG18souTR5K3pVtV1CM9ssKZnh8fPE8ryMc4+l9ILbo0oNeZ45PQU8qOJPk6zQKDtLVQcfY7ecYylnOH7H0Zj12+Dy3sSz6hox2pepkng52d9MTKfZ25wTKf2K55WMGCiNrvH6ZTk8YjwINJPK5Cwu5moKXYbNW/DbZznTrxe5tZ7Hr6VOF5aeaHD9GeYsLScrmHDaPZUoRo0/ZE2nb4t1z03W025d/b5Sck8R+56joXquGoUVa1XtlSW3zcZPV63b2d7aThWnBJJ9z4Rf3EdD1uU6Fby+JnhmmpNv0Z4VCpHLinlHGqQsKPNRU4/dny1/iq7S1jGEFNqK9jx2u/iTfarKUIU5U0/WLLhxZX5c8rjx95V9l1jqnTdMpNwdJte0j5rrv4oeNvpW8JRfbKyfO38Xezc6lzV59HJmyNrGHM5Z+57ePxZvdeTPzsPiM7rVtS1KtuqXNRwb7Mip04LdLGTGpc06UcLB1lxcTqt7c4+h6Zhjh8MT35O58OVc3ajHbH+h16cnJybzkkU85l/UzOssz6Z5LMZ18pjEsmcmpehiDpJJ8PPllayytuDEArmpAAAAAAAAAAAAAAAAAAAAAAAoAAbAAEAAFAADYAAgAAAXJAXZtcjJASzYuRkgGja5GSAIuRkgAuSZACgyAAABdgACAZqZgAiy5ZjgoC7XPlwQAaJdHHsZqUVDGOTAAPQyyjEFRU8DJAZ0oXJAXRuslJIORiAmlyMkAvbW6AATpAAF2AAIAAAAAAAAAAAAAAAAAAAAAAACgVLJCoCMBhATJnCGWYtG6CCVthFJGT5Iuw9SptNuORgyzwYgACAXIIADYICCsgAEAGQBCkIugmQQGlyTIANKgEAaQhSA0jMWzJmD7hTuMYIu5k+wEAAAAAAAAAAAAAAAAAAAAAdk0YSNjNcjKtbMGZsxYGLMWZmLCMSYMiFgFBSiApAAAAAAAAAGRkgAuRkgAuRkgAuSIBAZehjIy9DGQGDIVkAAAAAAAAAAAAAAAAAq7lmmuxF3LKaJd/Qxj9SySxwTOewwyesvy648mWPw15cXwcijcVYNYMUovv3I1JfKc8uLLe58PRjz42aydtRvdyxPBslTt6qznk6NOon3NkbmUGnnsY1J8s5cVz743Oq2ckm1nBxofE2dRVqKy19Tk0tUhKO2ozlUq9Ga2+hrLDjy+HLHk5cP9naaZ+IOo2MIxm0sfU9ppX4p154VzOMY+nJ8zrWFG4b2R5NE9PqpYXoebLxd/D1cfnYS6r9B2HXulXcMV7hJs7JX+i3izTr5b+h+ZJfE2zzF4wcuz6l1C1ktlXGDhl4uUenHyMc36Jrad43Nuty9DjT066gsOnwfIbX8SNWtopK4wkeis/xTUoRVzWbfrycbxZY/Lpcf6eynbyg/OsGD8Jep1dt+IWh3CxWbbf1OxpdQaFd/2S5f1RPVZGSjBvyvkzzBLDfJtjO1kt1LH7mqVvKUtyawZuN+mt4xhzyvRnS6voNHUYSyuX9Dv2oxWH3NeJLlMayZuWX0+Y3XQ1Xe40YSYs+iqkaqVeEkj6dFzpz8ST8pKqlXWafcmq6Tly06bTNAoadBSgufqjuU4zWX3RKc9vlqiUFuzDsO3PLeSgAu9kmgAE9Ptu0ABZEjXcf9PU/0ny7UP/MFH/UfUbj/AKep/pPl2of+YKP+o1pp9K07/pUcpdzi6d/0qOUu5mxmsiAE+CZT4oABtfWUfl/mTGOTNx8RYXoYt7VtZWLhHX6hpdHUqclJcv6Hi9T6Kak/Bgz6HGLhyiuTmPV1xlnw+U0eibmrUSnTlhM9jo3TNLTYpuOH9j0yTp8oxblUeW+EXZlciMYwjn0QSjN5yHUp7dnqzW6kaSxlEuVYln237YpdzB4ycd39GPzP+pora5Y0VmT/AKmZ3Uvq7BJNGyEM8I8zW610qhnc3+51l1+INlh/Dzaf3O8k+2df0+gK0cllrgu+ytv7aptPkN3+Il9yqVfCOkuurdVvM5rZJ/j3L4S8nq+8z6u0fTqT23C3rtwjzGsfio4UpRt6sW/ufHHWvbqadWWTbHT5Tl5kdePwcvmuGfmYzp6rUfxJ1K5g4xa5+p5S7u6+o1N1Tu3nub46dGnzJcGWaFL05R7+PxsZ8vHn5mX049KxqPG7OPucuFpRhzN4NFTUGliLOFVu6s/1HXKYT4cJObk/2dlVuqFGOIS5OvqahOo2l2OI/M/MZqMPRHD+Vuo9GPFxYTeRJSqPLMorYiZaLvXqdMeO/bOXLZ1ik22F2JKS9CrsdZjMfhytt7oACs0AAQAAAAAAAAAAAAAAAAAAAAAAAAAAAAAAAAAAAAAAAAAAAAAAAAAAAAAAAAAAAAAAAAAAAAAAAAAAAAAAAAAAAAAAAAAAAAAAAAAAAAAAAAAAAAAAAAAAAAAAAUBkEYFLgIoBI3xXBrijdjgqVUGEJdgjHPJTBPzGQDJAQCgEIAIAKCAAEyDIIpAQjQAAAAAAMgAgIBWYPuZvsYPuBF3Mn2MUZPsBAAAAAAAAAAAAAAAAAAAAAHYsxkZswZlWtmLM2YMDEjMiBEGAUsEIUFEKQoEZCsjAAAAAAIAAAAAAAAAAGQABGQrIAAAAAAAABAAAAAAAAC4IUsx2sujAALv1LQZAJ77JQjSZQZ9dty2fDW6fqiZqxfEmbc4GUcfTXw6/ulbKF5UpvmTOfDUU+51e1P1I6eezG8ouscutO6jcUavdIrtqFT5VFHReeHZs207qpB+pZy6+WMuG/VdpLS9/aSOHU0ypGTwzKnqU16M5ML9S7xNe2HJ0x/28br3RrUuzZnDUL2g/JUmv5HaxuKM1ztEoW8/WJjLhwq/5fLj9OLR6k1Om/wDqKmDn0Os76k/PWm0cd2dKXZo49TTE+zOGXjS/Dpj+Qy+49LQ6+2pb9zZz6P4h0P1Qf9Twk9Ll6NmiVjVh2UjP+Nl9PRj+Rx+31CH4gWs1h0nj+ZyaXXNpLtDB8l2V48KMjFu4XZSRm+Lk3PL47d7fZI9U2tV58v7nJp6/byfzx/c+I+JdL9c1/MyVzdR/vZ/ucr42btj5PF/b7otYtn/eQ/7jZHVbd/3kP+4+FLULxf3lT9zZHVLuP95U/cz+jOfTc5+K/b7otQt3/eQ/7jZG7oSX9pD/ALj4Ytau1/eT/c2R6guoLHiT/cl48/6a/ZxX7fcPiKP/AKsP+5F8ek/72H/cj4guo7r/ANSf7ma6kuf/AFJ/uScWazPj/t9nuK1L4ef5sO3+JHzDUakZdSW7UltUueTqH1JctNOc/wBzra+ozncxrZeYmv1Zr78f9vudnc0fCSU4r+ZynXo+lWH/AHI+KQ6mrqnxKX7mH/El1J/PP9zN4s0ufH/b7f8AEUUv7WH/AHIwd1QX97D/ALkfE/4/dPvVmv5mMtcuX/fT/cTx87253Lj3vb7U72gv72H/AHIweoUP/Vh/3I+Jy1i6f99P9zW9Vun/AH0/3NTx825y8c+3216tQh2qw/7jj1NftocuUX/M+LO9upc+PU/cxdzdP+9m/wCZqePm53n459vsVTq21hw0n/M4tXra0hHiB8lda5frNhO4qPD3Gv8AHzvTF8rCfb6XW68oNcRZwKvXkOdqaPC/D1ZerKrCpLvk6YeHl9uOXn4R6ev1tOTzFyRwavVt1VfFSZ1kNNfqzfHSo99x6P8ACx124/8AJT6i1NbvqnKrTONPUryfEqkmdhGzpwWG0HQox9Ylni4RL5+d+I6nFas/M2zdGwlI57nRgu8TVK9hFcYOn68I82Xk8uVYQ0z1bRyYW1Gl3SODU1KXojjTvqkvRmbnMfiNY8WWfzXb1K9Gm+Io0zv4rsdRKpOo88hRb9WT91vTpOGY/Lm1b2U1hSZxJTnJ92FDHqZcI16e327TLDE7jABjHGueXLPpMIuADtrrp58stgwgCy2fKJhewKQ1cpfgAARAAAAAAAAAAAAAAAAAAAAAAAAAAAAAAAAAAAAAALtyiFy0gG3BSZyAJtffIG70AKAAAAAAAAoAAAAAAABCkAAAAAAAAAAAAAAAAAAAAAAAAAAAAAAAAAAAAAAAAAAAAAAAAAAAAAAAAAAAoEZSMDJdhHuPQQ7gciKMjGPYoSmQ2CZCCDIUAQEAy9CAhAAIBQwQACAEUgIGghSAAAAAAAAAZOSeFgxnHLyjF8GdJ7oPII1trbj1DXkXJHB+LgPKlgKy28dzDa89zLLwRSaAyxhckLu3ECAAAAAAAAAAAAAAAAOzZgzNswbMqwZgzNmLAxIVhhGJQUsGIKQogKQCMjKyMAAAABMgAAAAAAAAAAAAAEZCsgAAAAAAAAEAAAAAAAAKQuR7WAAMjW/lqSAAHrIlkAMjKG02Nk25K8ehj5kPSQ0u1oRyNzLF4LuNb0NP1I0VyZPuYy45k3OWxOxd6xjPJktvqRwhnJynj+vcrpPJ/uNblLPGTKFepH3MsJdjFrJjLjy+nbDk48vmN8b+pT5jyzdDVK/rFHA2pPLOXQlReFLuc/fLB6MfF4+Tty6eqzb8yRyPjqcl5mjGlpsK6zCJauiVUuImb+Q9Plr/AIj3+D4qk+2CqpRn3aOM9IuorhcGl2d1Bln5KVxy/CZyuy+Ht5ruYuyoejOv23UDCVe4g+WdZ52Fc7+I5I7B2VMxdhBnCV9W9zJX1Zepf8rCuN/G8scl6dEwemRZr/iM13YepyX6jX7uNyy8TmxZ/wALj9SfwtfUn8TfuZLUn7lnPxpODmYvSlj1MY6ZScWm3k2/xNerDv6W5NMv7+Nr/H5mtaVBLHJlHSknxkynqEd3lfBY6i0u5Lz8aXx+f/1remrPOSrTIe7Mpaiv1Mweor0Zqc+GiePzNi0yl7szWmUfc4zv5PsyO+qejM3ycI6zw+auctNt0vmHwdCPqdf8XWfZjxLifZmL5uEa/wCO5r9Ox8OhH1G6hHu0cCNvd1Oxn/Cr6ouVx9jnfyHHj23j+J5crpy/iKC7SQd5RiuGjGj09dz/AE/0OZDpa5l3h/Q5X8pjl8PTPwWU+XXT1CK7NGl6lUzhdjuZdP07dZrQOru1Y0pOEVyY/wAvPPqOk/FYYd1x5X033NErqpLsaqqTfk7EhFnbjueXy5cnHxcbJ+JJGO1+pscpLgmW+56Jx15bzYfUYpL1LiLLtXqTC9DpMJ9uOXLb8MoxWBnBFlD7m/XFzuVXuXaTgZZPVkAyMmvWGgDIG9drqAAJf5IEKQk45j2AAKAAAAAACwi5ywu5jN7HhlNKCpNrIw2skEAAAAAAAAAAAAAAAAAAAAAAAAAAAy42mJYpqWX2BE2yz2MuccnodO6fuNQpOVKOUlk6u+s5WtRwmuU8BXXtclKsPsMBKgAAAqi2XYwMQZbWTawALgYAgGAAAAAhRgCAAAAAAAAAAAAAAAAAAACbkX0yDQAnkAAAAAAAAAAAAAAAAAAAAAAAAAAAAAAAAAAAUAAAZlT7mOGzOmuQN3oA+wCVACBApMkyBSDIyBSAEAgwMMCkJkZAAhUFgQuCYCgIUAAAAAAAAqIllmX9m9q9SNbWmZxW+4g38vqS3TUjGcJxXiY4MHmUcpHsLXQnqthstoZm+xqr9J3Om0t9zDEfsZ9pvW11Xk1J+oaTORdxpxqOMVymcdJ9jSEI8lfDLhx5MW8vIQAAAAAAAAAAAAAAAB2LMWZmLMqwZizNmLAxIZECMSgAQhSACFIagjIysjABgMCEKQCgAARlIwAAAFIAKCACsxZSMAQpAKAAAAAgAAAAAAAAAAAAAAAAAAAAAAAAAAAALJsABNLP4hPBnJ5i8GUVlm+nF54OXJh7O2PlXAo1bm3/AFvB2Nvr6p4VVSZhChujyjRVsoN90eHk8T2fQ4fy1jv6GsW9eKe3Gfc5tN21VZxH9zxTt6tOWYOWPobYX9ehxiTPn5+HyS9PrcX5HDKTb2jt7Z/oRh8BbTf9kjzVDXaifmgzsaWvxxykjz5cHLHuw5+LJ2M9KtvSmjS9IpS7QQp6zSn3aORHU6L/AFROVy5Y7zj4snFehU3+lGuWgwz8qOzhe05/rRtVSnLnejP+Ryxf8Ti+XS/wOH+FFWhRfojusw/xIm+K/Uh/k8hPF4v6dQunoyeMI3LpVP1j+6OxVZdtxsU3/wCoP8nkani8X9OtXSn1j+6Ml0p9Y/ujsVVx/eGSuMf3g/yeRf8AF4v6dculIr5tr/mbI9L0l3jE56u0v15D1GMf1IxfK5/iJ+ngx+Y48OmqC7wibo9O2y/uoles04d5In/EFFfqiX9vPVn+PPpsWhWa/uom2Oj2a/uUcGr1DRgsqUWdbcdY7MqNLJ0nHzZOeXJwR6WOm2kP0RX8yVqNpRp7vJ+54e46sr1sqNOSOvqatdVnzKeDrh4vLle3nz8vhxnT3FXXbG1WHBNnSX/VdOSaoxa+x5mVGtcSzKpJHIp2cYrzSTZ7uPwdPm835SSdVquNSvL2T21JJM4c4Tj/AGjzL3O0jRUX5Ymi4p921g+hxeL618fm/I3JwkuCx7mW3Bj2Z7MOOR4s+a5rLuQr7kOmTAADKAAAAAAAAAAAAAAACgAAAAIAAGxk4tR3ReGKbjB7qi3ZJiU1timza6HixjCPMvZE9mpGGHUeY8Ik4tPh8HNqWVzb0vzKEoqS4bRw0lGLTeWN7GAALpkAAAAAAAAAAAAAAAAAAAAAAAANkZxUVlGsJbngUj12j9QQs6EorjMWjzl9du6uJyy8NnH2OK4mTKh9TLTLyxjjHJhkje95KkWM0wXaZJGaRRjFYRSsgEIUgAhSAGQrIBGAwBDIxMgIRlIwDIUACgoEAAAAAQFAEGCmSxtLBht9SrngqeCY5yXRsaUSCXIJYAAIAAAAAAAAAAAAAAAAAAAAAAAAAAAAAAAABGUj7gZrsZwNa7GcO4G30IH2JkCkBADIAAAAFBBkCkfYZD7AYgAAVEKBSDJABTEoAgIBQRFGgABdoRjKby3wjOnF3VxGnT8ueMmEk44S9TkUWrZeIuZLk55dtyvqfR13a6HaQjd7Zyj3eTX15exvNOVa2klGT4SZ8yep17meN8oL7nLWrVfC8Go5Tivc444fz23b1p1Sz4st/PJlWaytom1VqNrjkxxtfLyelzYpv1BZSy8InYJQAAAAAAAAAAAAAAAHZsxZkzFmVYsxZkzFgYgpAiEKYtgCAgFICGoDIykYAMgAEAAoAAEZSMAAABCjAEBcEAIMAAQoAAmRkCghQICgCAoAgBAKAi4AgKQAAAAAAAAAAAAAAAGWFgpvTEB8EyRre2SeDmW8mnwjho7K3glFP1LO3LOdOR4k9vY1qEZvzPBkpvsSSTOsxjzyWVk90FthFOPuapR3fMkjdGbjHC7GMvN3OeUnw1OXOVxpW1N+polZZfDZztiMlwcrxSvRj5meP2634aVPs3+5Pz18uf3OzcUwopHDLxMb9PRj+V5J9uujc3VPtF/ubYardRXMTluKfcwdCHsccvBxv09WH5rOVgtZuF3RmtareqMfhqb9CfC0/Yx/x+LtPzuTYtZqmf8AHq3saPhafsPhKXsP+Pxan57Jteu136GD1q4foY/C0/Yvw1P2H/H4n/PZJ/Gbn2MJapcT9DZ8PT9i+BBehvH8dEv5n27cWVxXqe/7mpxrS9ZfudiqUUXajtPBkcMvymV+HWxoTk+ZS/c3RtX65OaoJPJkdMfGkeLP8ha40aCXdG3wYJGwmDtOOR5svKzv2KEcGLpLOcmeAamMjjeTLIjLw1wsmm5zODk1ybjCtzTwXcbwm/l1nqzCXDNk/LJ4Nb5MWvVjJpAXHBCTf2lAAVAAAAAAAAAAAAAAABQARljgbGID+hcOa8vddzNqoDKMofK/mOXZafVvK8aMFmcuxNrpqtY13UXg09zPonTXRVpFK+1KTpKS3LJv0Ppu30ajG71SG2C7vB0vU3WM7j/lLGp+VB4Sz6Hnu7dRufDk9d6pbbaVvZbJxitraSPnu3ltvk317vxJcvzPuaX35O+MZqAA6sAAFAAGQAAAAAAAAAAAAAAAABCgDNJbc+pgMvIpEUm5GbUZrlljHJmqUURdpCmscF2mSW3hFyWJWOBkpADeSBkyAICZApCkAMgYAjAAEMiFAhGUjAIpEUClMRkA+4DYAAFWPUAC7XJ+UzVPasyA1mVGDqV4w9x5c4R2ug6fO71OlGKzlkyy9Ztccd1xryydGm5YOCnwfQep+na1pp8qrhiK+h8/m6aexfMjM5ZW/RItPJiVUakE21wzDLNbZs0yBMlNMgAIAAAAAAAAAAAAAAAAAAAAAAAAAAAAAARlGMgEZwNZlFgbn2IFyXgCELwMICAPgxyBkDHIyBkTIKBMhggAFIABBkCkJkACkAAhQARSA19CggMVGxNtdjCcmuEVSaJ6k0RIyxy+GXdKbw15fcjin3Lny49DXq17CW3OCZcu5c4IE2xxiZk+4xzkAQFAEBQBAUAQAAAAAAAHZsxZkzFmVYsxZkyAYkMgEYmDNmDBgQxMsADEFBqDEhkQCEMiAYgowAAAAjKRgAAAKQoEZCsgAAAAABMAuAAGCjAEwMFwMATAwXAAhDIgES5MiYKBCFIAAAAAAAAAAAAAADJPgxCfI2aVmK7mT7GMe4+RuhHLOxpLEUcOhHLOclhIsjhy2iXJWEPU3LXm3QFfchGwAGpoUAF9ogRlIzO5SAAGo1sAA1DYABqGwAD4ZuwADadqACtAAEOgAFrIYz5jgyJ3ZnpZa6+tDDOOc+4jwcF9zN09fHldIQPuDLdoAAAAAAAAAAAAAAAAACoIy9CDJKsMEjubxHgzUN7xnB22m6XO9qKG1xS/UZajiWOnTvbiFOEXlvGcH0CzsrXp2y3XSjOuuVJM4FS5s+mrbYlCtUmuH6xZ5TUNWuNRm6jnJR9jNHO6g6mu7+UqVKq1SfZHSVJwhRUmszfdmh1ZTWzY/wDUZQhu4lLt6CYtbShBNTnP0JvVTlLhEk8S2p4TNmyNOOE8mp0lrAAG9sAAGwABAAAAAAAAAAAAAAAAABQAKlyDOK4CVYozwEisuk2xAZCLAgIFGAAIQpALkhMgAQAAAABSFAhGUjAIpEUAAAABQA7dygAnn5eDJUqjabllGtv2KpyXuFdzp1xZUGviKW4+j9JanodW4pwp2yjUb4bZ8hhVeex2ui3U6Gq0pqbikcuaW46jWF1X3/qGtptHTZSuYRnD2yfGtev9EqylG0tdk89zk9UazWubKdONaT+zPHOTjTUpct+5w48LHTLKNNypuWYyxH2NW02LdVbfohtPXjOnHLJrwDJoxNIAAgAAAAAAAAAAAAAAAAAAAAAAAAAAAAAAQCAjMomLMogbUAiAUEACXYxKyAAABUCAAMkAFyQAAQAAAAAAAAAAABsAANCjJBkujS5ITJRs0AAgAAAAAAAAAACMBgAAAAAA7NmLMmYsyrFkKyMAQEAGJSAQhSMIED7EKDBGRjYoAZRCFIABSACBgsAACoFyQhnaqQpQMcDBkMjs6Y4GDME3TpgVIuDJREyqMcMuGbEitcGttaacDBswME2jXgGZi+5RMEwZMgGJQAIQpAAKgBAUAQAAAAa0AAM0DFdzIEIr5RIrkyRYLksLXLtovKZzH2NFH5UbjpK8+WSrsRfMANuSy7kAJo2AAuhQQFFIwCaAAFQAAAAAAAAABBQQFTSggBpQQEanSkXzAE0u2u4i3HhHWy4k8nbz5pnVVV52ZuLvhdtT4YEu4JrTqAAAAAAAAAAAARgUEKAIu5kTDz5QRl3Cg84xyZRSbSXzPsdvY2cYRVa7WEu4XTHTNKlWmp3CcKX+I7e51mnpNDw7ZRk2sZwdZeaxPa6FGX5C7HSVZSrSyyaVtrV3e1JVKs3nOUsmnxOdi7MmxJCMVknqbZus4R2qK+5jGCb3N8iXchpPZJLdLn0K1h8MAaTYAAAAAAAAAAAAAAAAAAAAABAqCBSMqXJRUjbFcEisGQRksEbRiQIMhSCtRAVmLIqggAEBABDIgGJUAAAAApCAUBAACsgAAAUEKBUVYb5IAK8J8FTyjFFAvYsZyVRSXGCFRYbcqdw5w5bb+px5ydVKMuEiFJqJtnLFCKUOc9zW02ZGRqMtLTMHFm9mOCaal00YwDZOOTXjBF3swM4LkxayBQAUAAAABAAAAAAAAAAAAAAAAAAAAIBAMFQKBmnwRkKAAABkKyAAAAJkj7gCkAApAAIUAAAAAAAAAAABoAAUQFA2bQFBDYAAAAAAAAAQCgFAxYKxgCAEAoAA7NmLMmYsyrFkZWRgQhSAQhSAQjKRhEfYhX2IBGRlZGBQwGaVCFIEUhSARgMC3SgAJtKFwAajIXAKS1qYsWEjNLJkokmUX0rBRMlE2xgbFTNbielalT4LsOQocE2mNNeumnaHE24I4k2jQ0YtG5o1yRUa2YsyZiWAyFZCiAACEKQCoBAAAAIAAABUTYAoNa2IQyIu4s0KbaUcs1eqOVQWRGMr05NNYRsMYoyNPPQABigAKAAKAAAAAAAAAAAAAAAAAAAAAAACAABFAAVKPtg4NeGHk5qeWabqOIma7cddc0Qy9GYma9AACAAAAAAAAAAEAKCgDLG3H1Ikb6c40FmS3Z7fQEcihQjbx8SrhvujVc307jim8U/Y41SpOcvmePYxfHK/YNI5JLDM4yikapLdyVLgIOTb4KoPGSLhmbnxwBgwO4CAAAAAAAAAAAAAAAAAAAAAAAABV3IAjLHJnCJILJtxgqDQQ7gCEKQAQpAsGYsyZiyKAACEKQCkKQCAAAAABCkAqAQArIVkAAAClIjICYKAwIikRQKVEKipVKQoRSkGSikwVGSQGDia5xN74MXHKJpY4pTOccGvsNKAAAAAAAIAAAAAAAAAAAAAAAAAAAABgMlMSgZFMSgUEAFZAyAUEAAAAAAAAAAAAAAAAAAAAAAAAAAAAAAAAAAAAAAAAKAKCgTBMGQwBhgYMsEwBAUAdizFlZGZViyMpGBCFIBCFIBCFARGTBQBi0TBkQCApDQhCgAQoAxHOV7FKsbX7jWzelcVjh5NbeO5nT8vcxlHxJ8dhZqE7qJyfoMy9jOUo0orJso21e7mo20d2TllyadseLbXFr14NsaM6n9nHcet0XoqrcKM72lhevB6236Y0SxScsqS+h5M+e7+Xrx4Zr4fLqWl30/loSZsjpWopNytpJI+x2tvpeVGk/6HY1NPs2kpLyv6HG8938un6Z/T4Q6NWk8VIOJlDDlg+1V+k+n7qLdTO/7I85q/QEY0nU02lu9uDpj5F/tm8D5+qLSy1hehFSaT38exy7zT9SsZuN5DbCL4NSrU7iPL5iejHl24Z8enF2cknFL1NrliXHymiq1ubXY7S7eXKWVrZpm8GyTNUmaZa3IgZEWCsgIUCFIAAAAAAAABACogYI3hoqL5f1E0LJNYwWFOU1wuSb5S4R2elW1WvXjBLOTW9Lp18qbhHMuDUmju9VsnRnKNRYSOlnGK4Q9tlixW5nOoU8I4VKPmOzotbcM1i451kDKUV3MTWnnt7AAEAAUAAAAAAAAAAAAAAAAAAAAAAAAAAQAAIShPUpMFKJYeTCv54meSTWYszWsK6ua2PBgbq68xpM165QAEUAAAAAAAACAQFGQALkm5ghRluMfUAAXJABGirgAAACAAAAAAAAAAAAAAAAAAAAAAuDEpAKjOMNzMEjdTXIRnGO0r5DBURcF7kADBMFIBMDAAWI0TBSEVGAwBCFIAyTJSAMhEKgADAEyAAKgEADJkrIBQCoBkuSAC5LkgAIoKAKiFRUqlIUIoAKKjJMxKAk8mUeUYtGUSjCcEzjyhhnLkaJxBtpRWhjkMjTHJSFMgAAAAAAAAAAAAAAAAAAAAAAABgAAC5IALkpEAKyFZAAAAAAAAAAAAAAAAAAAAAAAAAAAAAAAAAAAAFwQyXYCYGCgCYKAAGQAGRkACgACYGDIAc1kZWRmVYkZSMCEKQCAFAhCkCIMFIBCGRAIQoNDEFAEwCkAhEvOvYyGUot+o2qV3ziJM+HTT9RHzLLN1lbyvLlUkm0cuTk1Hbi49t+laXV1OuljKz7H07QumKVlCMqlNZ7jp3Q4WdGNSUVlrJ6bHiJbeEj5vJy7fS4+KRJNQW2CxE11relVpcx8xujJU1hxz9Q4bvMnx7HluV27WSOio2VeldOSflzwd6quFBT54JG4h8vh8r1MlKNTnb2GtzaSpX88X4XDNMo6q7bFKrhfY59soSkk0jtYUoYxxg522Nx4C5qW9WTo38HOb4T+p4/qHpy40uca1PHhT82F7H0TqKjQw3GMVJepwdEofxO0uaFz+Y2sQcvQ9PFyVwzwfLfEjVg4x4ZoqPYtj7nc9TaJV0bUvASbUsvcl2OgqScXtfL9z6XFlt4eXDUqORg2MmLPQ8aMgZCwCAMoAhQAAAAAAAAIVEKSAjKNKVV8GJuoVFCX3N66HJt7CpV8sO57novp2u7+lKqsx+x5zS9Ro2lSMqkFLn1PqXTPVFjVcIwoQjL3PNy5WTp0xjrusOkZ1oTlRikz5neaDXtW93ofcupNdt6Ni6jjF/Q+UarrdG5nLEEsmeDK35Xlmo8rTpuE8M5ihhZQUY1JtrHc2S8iPXi8Wdak5ZwzIikm+xTbjQAAgAAAAAAAAAAAAAAAAAAAAAAAAAAAAIAAESAAXcqo1yH2MpdjBmaT5cOvHucQ7CvHNNs6/BmvVx3cAAR0AAAAAAAAAgEBQAAIUhQAAAAAAAAABAAAAAAAAAAAAAAAAAAAAAAQAAZxRuijXBG5BBgMFRCFIwBAQAAQLAmQGRQAAQhSACFIBCohUAYDAEAAFQCABkKyAUqIVACgoAYKAAKEEUAFKFIUIpcEMigUFAmCoAopi45MkZY4A4UlhmJsmsSZrIpghkY+plQAAAAAAAAAAAAAAAAAAAAAAAAAAAABUAgBWQpAAAAAAAAAAAAAAAAAAAAAAAAAAAAAAAECoBgYKAJgoAAAAAAAAAQKEUAXAAADAwBzCFwDDTEjMiMDEhkQqMSGRMAYkZkQCAuCAQhRgCAoAxBSAQFIBGTDcki4M4pbW/YEYVaWOzPY9F6Z4t0pyj6HkacnVqqLPqXSNBULaM0ucHg8ivqePOnoalVUYwpxS9jbUdSlR3Ri3xk6qlcKrezU3xGR33jxqU1CLysHz73XpjqaOr/mKjVSjn3OwjJPzReYnneoLWNDdXj8yOy0StKtplOUu7LY1fh22ymo5TWWYNypJ+Xg1PbGWUzkqarR2mGZHEneU6b3Smo4N9DV41VshLJwr/SY1cpJ5Z5yq62kVty4SLp0j0l3Z/HyxUk4o5OmWlLS03Ce7JqtbmN5aU5J5k1ycmNOm4tt8osRweq9NhqeiV71RXiwWEsHxGqpU3smsT9mfea9So7SdFL8p9z4v1Pbxpa3UcPlPbwXuPLzY9V1BMjJD6UfKygRjINRkABVAAAABAAAAAAAAUACpgN8n6s7/AKfvpW1eDcnx9ToIYycmnV2PKYV67qHWpXFk4qb/AHPGOcpyzlm+vcOpDDZoprMhGcvhzbbKRvm8mFKOIll3K8md7IrkzJErNRliwGCgAAAAAAAAAAoAAAAAAAIAAAAAAAAAAAAAoAAAAAwqLMGdfUWDspLKODXjhszXXjcdmDM13MZIxXpggRFIlAAWKAAIAAAAAAAAAAAAAAAAAAAAAAAAAAAAAAAAAAAAAAAAqLjkxRtjHJWa2015Q+5VwiAGQMAQAACAhAZCkCxCMpGFAABCFZAAAAAAAAAAAAAAAyFAAoGABQCigFCKEAgilIUAUhQKUhSwUpClBGRijIIoADUaLjBxjfXZo9CVUIvmKhjkyqgAIAAAAAAAAAAAAAAAAAAAAAAAAAAAAABSIoAAAAAAAAAAAAAAAAAAAAAAZCgAUFwAAAAAAAAAIUACohcACGXoQM0KCgQFAAIFAoAKOWCkObaEZQwMSFIyohDIxbAhC5JkAQZGQBBkZAAZGQIQuSZAEKGBjgZecFHBL8LPlvs6ad3FH1nptRVrGL9j5Tpq/wCejJ9j6boVbc1BcHzfIfV8f4XUKNW2rupDhSZts9VjRg/FbydzcUoXNNRcVlep1FTR3vxnueKfLvflx7qpU1a4UKb8j9Du7S3+Ds40cYaMLGxVrFJpN+5z508Q3NnS/DX06y6lVoYlJ8M5FrdRjOKfqa7+0nXpqSnhR5wdV4sqk0lmGzjk567JOnrJqVSSnGS2njupa9NzlTfLycurfVYUnFVWzgUrN1a/xNaamn+lm5B32gxjG1i8d0c+p+UnJ9jj2TiqWIx2pI0XNxJVo0nnzPBLGo1VNftadwraSfmPn/WMaM7ypUpLg+i6hptGlptSo4RdXupep8z1x/8ALS3PMz0cF/lHLmn8K8wQA+tHxskKMBI1GADAKgAAoACAAAAAAAAoAEYFawhFsr7Ej2ASbORbrk0JrPY5lGnjDLGc705kflJgJ8GSZdPHle2K74MmTbh5KWEYsFGAIAAAAAAAoAAKAAgADAADAwVAAEAAAAAAAAUABQAAAAADiXEe5yzTWhlMzW8K658MxzkzqLDNaeGYr0ztWsAZyCKAA0oACIAAAAAAAAAAAAAAAAAAAAAAAAAAAAAAAAAAAAAAAALucmkso48Y5ZyYeVFSrLgegfmD4WAjFgMAQjKRgQhSEAEGQsCMuSNhQEyMgGQNjIAAAAAAAyAAAAAAAUhcgUpMjIFAKUCgBAIYKkECjAwAKMDAFKTBSwUpClBGRjnkz28BAAxlPaGo41d8mr0MqktzMfQypErRFwyt5IIAAAAAAAAAAAAAAAAAAAAAAAAAAAAAAAAikGQKCZGQKAAAAAAAAAAAAAAFwBAXAwBCjBQBSDIAFwTAADAAAFwBCjAAFBQBCgM0KRFAhQABQUogLgYA5ZCkObaBgMDEjKRlQMDMxAhDLBAMQUAYkMiYAEMiYAjIUACGWCAYk/UjIY8rYpPlut6nh3UWfQdJr7LaFRPlnzWMnncez0K7VSjCm32PneRH0+C9PpFBqdCDzzgz2xcXl8nUabe7k4N9kba9y40pzi+x4fivTvbsFXpU4OLmsmScasFiWTzlCldX8HXhHMffJzrCtUp3Hgz4wat6b+nbulFxw5YOBd6bCt8rx9jscRqR5ZjHb6MzFldA9HlD8vc3n1N9to3hTUnUb+mTu+Hz6hp4zguzTCFKMYJJnVaoq1OtTqU6Tlt54O4UH3XcjdRRalFcjez4ecravd3U1SnbyjDs2fPup1GN9Uip/wAj6lqdSnbafUnLCmvofGtYqSudRnWzwz18GP8AKV5+bP8AjY4IAPpx8nKhSA0xQAFAABQAEAAAAAAABQIygCvsRdisfpARWZHZUliCODQjmZ2UY4ijWLlyfAjJEwXBp5bO2T+UwwVvgx3Ga3J0uBgm4bibLFABWdAABoABoAASqAAgDIJkC5GSZGS7XSgAiAAAAAAAAAALtAADawAA2ugwmsozZi1lEI66suTQzl148s4rRl6sKiKRFI3QAFQABAAAAAAAAAAAAAAAAAAAAAAAAAAAAAAAAAAAAAAAABnTXJv9DVTXJufYrJENmOQ2AIwABiy5IAIUhBAAFiEZSMKEKQAyFZAKAABGUjAFIUCkKQAAABSIoAoKAKQpRQAEUIBBFRSIoApCgUuCFLAKClEwbE+DEIqKaKrN0nhHFqSyyVqNT7gAyoAAAAIAAAAAAAAAAAAAAAAAAAAAAAAAAAAAAAAAAAoAAAAAAAABUBAUAQyIUAAAAAAAACgAAAABQUCYBlgmAIUFAELgFZoXAGAIwUACgoAAFHKIZEOTbEMpGBiRmTIyohDIxAEKQCAFAxIZEYAgIXQMBkGhkQMg0BG/T3BV2LIl6Rw2xwdjpF06NfGTr8ORr89OeU8Hk5+Pb18HLH0mwuHGO7PzG+d69yot/OeU0jUtqUajz6HeT/NcakXyj5ueHb34Xb1el6hQ06h8LU+Z8nGlWU9SlOHZnT217GnUXjQcpe+DvbN07lqUYpZOWV07/Tt6VOo6cZLt6m6UISwoLn1FKD2JbsYMZ1lST459xL0z96baE6MK6o1VmbO1VjBLfKP5Z0+mzo1byE6jjn6s9JqF7b0bLClF/ZkrpI6O4UFJqnxg4s1Uacm+InWXGo7riW2aSz7nVa31JC1tZQjLlx9GdOPC2scmUxjqOtNchTlK3jLlr3PnLlUqeZvynJva9XU7p1ZTb5fc40pbJ+EfT4eOx87l5N7QqAPXp4bdowUFRAUFVAUhCgAAAAAAAAAKBUQqJs0j7mT+UxM1yVL03WizM7LGInFtopehyVBxy3LKNYxyysyT1L6Ejhxk8rg4rvdlTbscvsjN5O9MY8e65DZMoitq1wt8IySf0OZQ6au663eI0vqMr9umUxwm7XEyhlHYPpy5jx4hhPpu6gt3iNmPe/0xjePL4ycNFMK1lc20m2pNfY1KrJvDhJfdGrlr6ax4vb4rkAlNb13RnLy+X1Ljl7OWWNxumILlRWGuSJOTN26TXegFfBG0Po13oBi5beWaZXazhRb+xzvJI3OK1yDHJjC2r3HMVJfyOXR0C7rrKm19xMvZr0xnzk42Rk576auoPDqmE+m7tR3eKMsrPpjH0t17OImUxlp1zSby5cfQw+I8J7ZQeffBznN/46Xim+q2gxT38pmyEcnbG7cs8LixAlLnBX8pb0z96QGmpUxSaXczt7G4rQU1J4Zj3dpxf2zBl/CbpvvL9jZDR7nHMmS5aay48Z9tINv8Hud68zwHotyp53PBP2f+M+uP9tQJW065h/i/Y07qlLiUJfsJn/4euN+K3PsVdhTxOGW0voWPke58o3KzlhZ24dwjhS7ncVoxrQ8qwzqZySlKOOQ6cV2wAimu5SadkBSFQABAAAAAAAAAAAAAAAAAAAAAAAAAAAAAAAAAAAABkAoBUBtpo2y7GMV5UUrLEmTIYAxDKyMCApABCkIukAKBiRmRGFQhkQCMhkQAAABGUjAFIAMiEAFBABkimKLkDIphkuQKUxKiptkAUGwIBBFRSIoApClFMjFdzNgCmt5MlkoyZY8kwJS2obNMK7wmcTOWZ1ZtvuakTaqACKAAAACAAAAAAAFAgKCiAoIaQFANIAAAAAAAAAAAAAAAAAAKCACggAoBQIVFIwKCACgFAgKAIAAmwFwUG0ALgG0CMsDANgQKgbAADYUhSmz0BSBFQBUUQFGBoCjBRoYgoA5RGUjObaBgMDFkZWRhAhQBiTBkQCArIBCMpGAIUGhiMFAEIZADHAXYuAgWbY7sMvzFkk0YLgxljuN43Qqk6ck4t8Hd6brcqeI1I8fU6RskpSn8voeTPhenj5tPf0byjcpSzFM7a0vlbpJcnyyhfXNtJYXH3O4t+oKu1bsHlz4K9mPNuPptPV3L6G6WqQlTa4zg+cU+opZ5kjY+ooRXM+TE4q1jyR6i5vKkK26E2vszRcdQThS2zqt/dnkbnqKpPPhtM6ivfXFy3uX9Tc4GsueR6C+6iluex5f0Ogub+peN75NfdnFhTak3PPJjPO7yns4+HTx8vPtU3RfHJk4714j7iLTj5u4efTsezHGSPFlntAAGAAAAAAIUgAAAAAAAAAACgARkVUbaayzWci3jmSLGM65lGO1GxR+ZylgYxE0XE6lTbCC9cFt04zG5VrhCrVqOME2m/Q9LpHT8Z01UrcP6meg6X4cd9WOM8npZJRjsh2Ew328PmeX+r+OPyxt7S3oxUNsGl9Dc0lxGCS+hx6k6VCjmcsM6e76kp2+Ywmmxc/W6ePjw5vJ+XfKhDu2sl8q42pnj5dS15SysYOTbdSqTSqSSNzPF1y8Dk451XpKlOhUjtlSj98HU32hUa8G6eE/oc2yv7S7koup5mcyUHRe6HKZesnHj8jm4L/J85u9Pq6fVbe7GfUkKnivd7Ht9YsPjqGVHlL0PCVYOxqOi+MsxZ6vteLzY8822TalMsntjwYQj5NxshHc8MzGc5ZkwWZEk1BZzz7GVeoqSwjXa2la9rRe3yZ5Lv2/jHT069qlKnVv6myMGk/VHpNO6ZVJKpUefozs9L0mjbU1NfMvodxCW5bZJJFnB/b5/kfkvT+GLhUdOoJLCjwb2ox4jBfyMqihT5i/ucWpqVvb/ADzwa1ji8F/fy9xy40ITWZSSZHSjF8JNHVS1uznL+1N9HWLSflVTJ0xywvyz/j887cqrbUaqS2xX8jq7/p6jVpuUGs49Dt4Sp1FlS7ljmD57FyxwvcdMOfl4r/J86urCtZ1fllhGEbjjGOT6De2VG9pNYWX9Dxep6PO0nKUYvB5spZ8Pq8PlTlmnFSUlkx384NVCq9zizbt82SWvRJrLtorrB7Lp6nCVhTbimzyFflHsenU1ZQwYndc/Ozv67p3Hh01/dr9iSpxX92v2M5SafY4uoah8LTzx2PVjjPt8Djwz5MtezeqUGs+Gv2MlQpuOXFHm31O1TaTRhHqjy8yQuWEe+eDyT7emlRoqPNOL/kcC50mhdRlhRT+iMbLWLe64nUOySilmk85Fxxs6cLly8F3Xz/VdFrWlXfBycV7HGt5+JFU5cM+i3Fv8VScZxWGeC1a1enalKUV5EctafT8Pyv8AInf01QfhzlFnXV6OKjl7s5+fESl7mm87RwHs/wBbqOHIxM2YMNbGQrIGpAAEQAAAAAAAAAAAAAAAAAAAAAAAAAAAAAAAAAAAAoAoCA5EflQEflQKyjAYAjIysjAEKQECFIRpACAUgIAyCZAAZITIGQAAEZSMAAAAAAAAAUgApTEoFyVMxBWWxMqZgmZJ8gZBAICopEZIAUFKBRggFwZowzgjngDZJpI41SYnUyaXLLIsHyydiphoKgAAAAAACAAAAAAFIUlAAFl0AALuU2AAzo2gAKAAAAAAAAAAAAAAAAAAAAACgmQBkCFQAoKAwC4IAAAABFDNCgoGJQUAGUAYlBQBDIFEKCgQFBRCgoDALgFAYKMATBMGWBgDkEyCHJsHchUBMEwZECJgjMsmLQEyTJcEwAbIXAAxwGUgAYAyaEwQpMgUhAAI3wCMVWLcsjkpCyJaqx6mMm4/ICi4xnZFuXzmMor9JQzllhK748la8S9DLw4S+ZFRTH6o3+2ooxivKTdNMpDpjxxzy5LVcpSXJVtSIDfrI522pjkyb8uCAz7X4NICkNACFAAAAQoAgBAKAgAAAAACgRlBARzrWDymcGHMkdpbxxHJY55t8+InGtVUqXcUu25HIk8ow0qS+Nkn7meT6Y48tSvoVvTULenn/CjYtueDXaSzCCl2wbLiDVROHY9OGvV+c5/5c/8AJ5LqPUJQqTowlyjz8KCr+aayzuOobWarzrYbR1VBt8Zx9zhyY/y2/ReP6zjnoyVCKWMcGEramuYrk3yptLO5P+ZgpY7oz/8ApMuSXdY211KyrKSeGj6FpV4rq0i5vPB86rOMnjbyb6OtVbWKhHcscdhjlMfhfK8f9+Hw+jeI/NFPh8HieprPbdqeOTU9brJKW6XJwby8q3r3uTeCZ8lryeF4mXDkW890FB/MZbvCbbMLam1TUzKuswyzWFt+XtyntyNLjKvXgu+We10fTfh6KUo4b5PP9PWfxVaTa+Rntow2qLXZI6YYyZbePzuf1x/XBuNKW31Nd5XVrb+LN4TM684KDmzxurapOvVlQjJ4Qz5LOny+Dxv2Z7rO+1+rKTjRmdPVq3Vw81Hk30qC+aS5Zs2HKS5P0WOPFxYzTr1QkjOCqU3mPc5mwmwZcNncc7y7+m601m5t5JVZ+X0PWadqCvKfLyeLnSUk8ks7qvZV09z257ExuUnbhz+PjzTcfREvDfBx7yjC4pvxFk62l1HQdDDWZCn1FbbsTjlHWckny8HF4/Jw5dPLX9r8LczljEW+DGinODl6I7LXb+2uYJ04rJ0ltVfmS7HG919vPd1tnWqR3bfU9n09xZQfoeMqxjnOOT2PTz/5SHsbwx3lHj83rjru5STPP9SSXhYXsd+2m+x0HUVNyp8ex35JZ8PlfjdZcvbx9tSU4vd7mxWcHPGODGhSkovEvU5caco0t7kePLit7fofIz9Oo4yk7SonHjk9roF+rui1nO1Hj6tNThk7TpSpKM6sfqd+OZfDzcvF+zj3XtJzntezseb6ntFLS51mvP7nofEw1HHc67XIqpYSpm85p8fxM8uPm9XhbbKppMzq0vEg37GK4ryh7GdWTjHHuYfdzy3Y6tvDeSZyZ1YbZGEUHWdjRMFkyx5Qat0xABGQABQAAAAAAAAAAAAAAAAAAAAAAAAAAAAAAAAqaMWAMsoyis9jB9zZTA3LsBkFZRgEYDJGCMC5JkEIRckDIGggKBiCkAgKQCEMmQCggApAAAAAAAAAABCgAAABSAqLkqkkYgGm3eiqSNCM0DTapIzjyjSmZKeAabgafEHiDZpvyY7kjV4hjuY2abZVEaZTyRsnA2aTOSMoCosmaa9TEAH3AAAAAAAQAAAAADsNyYyly1kb4vtElysWRSZRVJexWk1wjOrTr7Em1kj4EYSf6i7Md2JNGpU7gu5L0I5J+hqZ6PSoACoAAAAAAAAAAAAAAAAAAAAAIUAAVNIhANikipmtGaYGWBtYTMwMMEM2iYAiKMArNUAuAIAVBAArAhSFCqQpACKClAhWQClIUoFIUuhQBgaEAwMDSN5CkOLogBGAyTJMjIRclyYDIGeSGGSbgM2+DEmcgAQEAuSZIyZNC5GSEAoGSACAFKEKQlqRCkKT2X12jDANb2aRFIikSoQpC+xpQAGtAAJpNhCkAhSFAAAAAAIQpAKgEAAAAAAUCogT5INlGOZo7SCxA4VCHOTnL5cFjjyVF3NMH8NdQn6OSNz4NVSDr8L9PJbNufF3a+g21WNza03TayorscyjL8lqS5+p4rQdXdo3SqvGeOT1dK6jXmpxfAwy70+X5vj6y9mN5aU7qm6cksnmL7ptttwqNfY9fJJ1N2eA6MZc9zrlx3LuOHD5efFdPnNTTrq0fEZzRrVetnE7eUfuj6RKnDGHGP7HBuNLpV+XFL7I8+XDm+ph+Rws7eKjUguZYz7MknTqPKij0Vx0vQqZak93sdXU0atbN+HBs5/ryj1Yebheo4kaarLbjGDbGzjTjhyWWceNSvbVHvhhZOVCpCvHfu5R0xw26cmWVm42RpxVHYcO88kIperwcuDzI4d099SMf8yOlmnPiz63XqunLX4ai5tfOsndRlnMcdzj6fFOypJf4Tlxilybk+3wvMty5nUa3W+Hs5vPKPIW8XVuJVXymdz1TcylOdFHWWWI0Un3OeU3X2PE45OPbJ+Z4XGC5wX5W/qY4LjZixlbcjJMjBMHaZyt+2OtJKm6jWHjBlXjFw2pLOO5N0ofKskWZvL7nLOzem+Pk9HGp2cl5nUeCyouTaUzkty+XHBFSivNnk5XguXwuXNLXA+Cm5PM20baVLw+DlbpL04EUnyNab/bLXCuE8nsunZYsKeTyNx3PXdPRUrOCbNY596efzrvjd6mmdD1I/yuPY7zbGL4Z0XUUJul5Vng65ez4/4+65nkKEXKL59TfGLk/DbOLTdeEX5PUyjO4zuUDy3ku9P0fLJcu2dZ7PKpZ9Dv+nLd03KTXfk6a00y6u6yk6bxnJ7nT7OFvRUZcPB3w3Xk8zy8ePD1jmrbOOeMo6bX6nhafKR22xRlwzzHU91vpToJly39vj+HLyc+681T81Vz9zfJKePoa6UcU0jNZjwZfoObH104t3Fblg4vY51xE4E+GFwu2EjOHZmOMmS4QdKx9QARAABQAAAAAAAAAAAAAAAAAAAAAAAAAAAAAAAEYDAFfc2UzW+5spgbQCFZAQIARlIyAQpAQZCsgaQAgAgIBkiBAAyFZAAAAAAAAAAAAAAAAAAAAAAoAAAUEAyyTOTEqeAKCZGSCmWUYZJyBk2TkIyQGIKyFAAAAAAAAAAEAAAAABVwy+Il2iYpZZsxGKyy7k+Vkt6ipp91gcehKdCvcz20objtaHTWpyju+HeO558/Mwwevj8HPk+HVSTMO75Z3z0G9xiVF5OLW0G8isukzlPP4rXXL8Zy49us2rHc1uWHjByallVpPzxaMPDppcvk7482GTy5cWeHy1gA6uAAAAAAAAAAAAAAAAAAAAAAAAAAVAQuQQDJPk2bjQXcBvyU0qRmmBk0AuSlZoMFLgDEFAQwUACFBQoQyIAAKUGQyZCgUFAhQUoDBQUMDBlgYCMiFIcHRCSKSQGJCkYEAAEZMFYAgYDAhCkAuMjBV2IUTBMFYAxBSBUAAiUIUhUT1MjH1MhpUwRmRGBAAEBgAaVAAUAAEAAQTAKQAAAAAADAAEAYAAAAACkDKKyzE2U1yNM1zKEeDlpLBpox8psNPPlSSMYSUG9nd9zJvBY7e49pPkwlnw01LZuSqJcrk5NrrFxatQcsRNcqmVjJq2xay1k5fN6auN5Oso9JbdR0J4hOfP3O4ttTo1F5ZHgnQVTilxL3JF3dB8VTf7MsPmufJ+P48p0+kqpGfJXOKR4Cjql1Sxum2jtbXqalDCqxkzc8rb52f4yy9PU08SnldzKcYyyvU4FhrFvcVFOKwn6NnOjJVKjlF8G/eV5eTDPhm3U3+j061OTceccHkatrUsazi1iOT6RNptJ9jouobGEreU4R5wOSyTp7fA865fxyedhNSp7onFkk6yb90W0k1TVN9yXP5Ti/qjhL0+r+vc6e807y2kP9Jy4qTOr0qt4ttDHojs4zxJex3x7xfnvLtx5XjOpIunqEm+xwKUZOClHsd/1Tb+JSnViuTz9lU8ig+6OWU7fd8fOfqb55wgFLlpgzcPb4cZd27CAmTrOPS/rk7SVRQ/mWnym0NsZdzCSdN9+DFmq3OL37iylJzwZuEnAwbUoZUln7mqnKblhzWDU55il4ri3zktqROFHgx8WGcPGSSkvQ527WYZe06aKyfdnsenop2UGu54y4n5Wey6eb/htNomGH85Tzsf4O624ZrrW9O5jiosoyW6TLUnGjHMmj25PzfHc5y/xda9GtN2NvDC0S3i+IeU2/xCipfNH9yfxSlvxuWPucLMf6fQy/fndbrkUYUbZYp8M2vzeZ+hwaurWtOOWk/wCZ1F51LS2uNNNE/ZJ8OePh8meX8q7XUNQhb0pNPEkeKvbyV3Wc28tmq6vK91W+Z7WZ0qOFlmcs/Z9jh8bHhnXyypx8v1CjJy57By2vCM1LgkXkzt+WFzFbTqqq8x2tRuUWdbWjyab4q09kVckKiPQAAygQpGAAAAAAAAARg29xsj3JKOGCK8YM6EVOSUjUnk2QezkK7WtY0lYqpBeY6jw57nnsbql3UdLYpPBqjJ92wMNyT5MnKOcIwWHPk3PZt7cgawAEAAAAAAAAAAAIUhRUsm6Cwaom2IGZCkDKAEYAMEZFGQMAGQrIFQpAAIAAJkAAAAAAAAAAAAAAAAAAAAAAAAAAAAGQAAwMAAMDAADAAAAAAAAAAAAAoFXJCos+URlIVHPKX2a+IYI3FL6mZhKHqa9dpj2NN4wZeXH1LTkkmmiKOZZ9B7TGdt6tuoxjmL5O+0jpy71acfDhui/oadG06V7f03tbh68H27p2xtLKzglTUZI+R5Pl6uo+t4nh292PMaP0zZaQlO9p4lj29TuatzS2Ytn5UjmaxXoSWHHPJ56vRqSadKSUfVHxOfyLl9v1Xh+JJPhm6m6fJJ04VFiRx9s0yuUkjw/ssu9vo5cGFmtNF1oNrcQbcMvB4fWenK9CbnRhiK78H0CFy4vDybKqo3NGUZR5aPbw+dlj0+V5H4/HLdkfHMqD2T+YyUcs77qHRXQuXVgsRXJ0DfHB+r8XmmePb8f5vB+vLqElgrxjgkXufIwd/t4PoABVhghSGqyAAyoAAAAAAAAAAAAAAAAAAGBgAAXLIAMlJmaka0xkao5CaZTRGTNimdJZGayw8mUsJpIlOSlkzVNyWTHrVYST28GUV5VnuE8T2sjfmaNM7XCHBC4IoBtLgAMDBQHHqPKH2IohFyi8DaVRAi7F4D4GAHBcGLeDGVVKLAz3IbkcPxWPFY21p2BCkObSEkUjAxIykYEAAEYDAEDAYEIXJAKuwGUu5Us9jQjIXu8BrD5CIQyZDJtiRmRGiw2hCkKJ6mRiZACMpAIAAAAAgAKAAAAAgEKQAAAAAAAACMAAAAAAfASyUgbaKzI14OTaweeUVnL4c6msRMkssx7LgtN4fJXnrVXe1GFuqtVtRi2Z3S3Lg7npuVOVWUXhtfQxlNuky9Jt1MLO5eX4U/2EretCk3KEkfQ6cYKDShHn6HE1CzjUs5pRSf0Ribjzz8njll6aeFoSTSWcM2bGpd8mqtbu3unuyjl0VFrh5Ossy6r05e2vaVnCEZRw4I11LSD9kblNx4wVqM1yy/pxnbHHnlldV1tSda0eYSlhex6zQL914qMuXg89cbFS2to7LpalN3k8ryY4MfaeVw45cfb1uN6b9jj3FLxLOo5f1ORHyNo06hN07KaS9DrnOnwPGxmPLqPn1V+HrOxfKbNQjupLHuYy2z1Dc35vY5M0pJpnH4j9RcvXp2/StynGpCT7L1PSqSUGfPbC6lZXOHwpM9xaVYV4RkpZ4OvH3NPjeZw9+7C+tfHtJJnh5xlaX0009p9Eqt42pcHRaxo0alDxYczfoc88MnPw/Lnt6V51SVR5TMzhqNa1qyU4tLJvVeD/AFE48vX5fYvDLPaNhDF1I+5HVh7msubThcMrdE6bnypYwaaknW/Li+e3Bak5TajS5zwzutH0JSkqtTOVyYmXt26+04cd101LRLpx3bp4MlpFy5YW8+iQhGnT2KEcfYwlsp5lGMW/sLx7fPx/I+/JrT5reafXtUpSlLkxtZSl3yd71BexqvZFLKfOEdXaQjsk3wzO9Ps5c01LpjXinBnrunZbLGCxk8fWbT+h7Dp6S+EgdMM/5R4fKyuWFrvHUyvlwef6gnONPyzceDv5Syef6kinT7+h1zzr43h54/u7eQp061Zt/EyXPuV0a8J48eT+uS2tJKL5fc5Gxe55ve2v0efJhPpp8GrJc13+5h4Wx8vccnan6mDik8rk3MbXK5z6I1eNvhfzwVt+hmqstu3ahHDXJqYerGXJa1qGXybeEjBvHYdzcjleyXKODcRxk5y4ONcxbTJXbj6df6lYaaYZjb0AAChGUjAAAAAAAAAq4Yk8ohOcgEuTKT4BAMdzS7F354wbMrBhhNhSMU/UzcVjO4wmljhkjHjuBQAEAAAAAAAAAAAIUhRlE2xNUTbEDMhSBlCMpGAIykZGkYDABkKQCEKQCAEAoAAAAAAAAAAAAAAAAAAAAAAAAAAAAAAAAAAAAAAAAAAAAAAAAAKAAG9AUhTHtuumpYpyLKwr3dbbCEmvojjn03oS3tpbJPa547NHk8ryLxTce/w/GmdeYh0jcVYJyUoHHuen4WsGviE5e2T7LcJSo1IKnFeVpYR8n1jT72nqsZzpyVPfnv6Hy/8AMyzfV/4/HHt6XoWzdGzVSdvuw+7R7W4pKrT8SFXw8/pR0PTmu2ttZK0coJPGXg9Ereyu4b6dduT9Ezxcv8rt7OH+HWnmq1abqyhLLx6nHjOcJZecHaajazocwjle51MrmbexxST4PDyYvu+PyTTkqtCUeyIpRb7I4zhCDxu7mXkxxI89jvljb3HIdKEvYx8LHZmlTknwZqpLPY6YZSOer8Vx9V0+NfSK0njd6Hy+rS8CbhJH1ipWqzj4Tj5H3PnPU9BUtQns7H3vxfNbH5n8x48ldO3h8E7GOVtXPJluyj9Fh3Nvyec1QEyirnsTIgQpBGAAFUAAAAAAAAAAAAAAAAAAAAAAAAKkWKQ4NyzQDJVFv0Kqcn6GMkI53JJdzsIwnTpeaLN+j6dK5uaaceNx6nqLRI2domlh7E/6Gv2Rr1eH3LfuMXJN5NNRuMGvUifkXuTbNxchSRkmjiqTM1MqOSsEfc1KojNTjjuBkUx3x9y+JH3AyxkYMfEivUjrR9wsZjcaZVka3VYNOXlNZyap1UjjOtIm7d3BpnKs2YOWTFpe5jyF0ywMAGdjtCFIZVAwGBiRlIwBiZGIEYDABdyMq7hgaypFwZqIGCp75YM3+XwbYLa9xuo2zuZvCHsunFcNqUvcSju5OVcUZRajjsYOnsWCexpxHEwwcmUDTJYYjGkQkEGaisSFIURgMAAAAAAEIUgFIykZQIikQFABAKQoBkKyAQAAAAAAAAAASXJnDiJiZdkIkFzI59COEcKmsyOxprEUac86yBSFcNobNKuqVleOUnjc8GBor0PE2yhw4vLM5PRx6yllfSKM1VoRnS9sm2mlUpvxO55HRtfjRSo1G2+x6mnNV4ZpySyMc99Pg+T42eGfti6PWNDncylOjDOTzdW1u7J4awfQ0pxW1s49TTqdd+eKZu8G+47cHmXGeubwkbpf3j5MZ3UXxBnt6mg2jX9mjXS0SzpyzKkmYuFxezHz8MXjreyub6qoqOYs9rpem1LGhGUo44OVTtbejzSp7TbuqS4cvKV4PJ8/k5v4z4KU6bb3+h1WvX0adCUYP0OZf3dC1ovlZx7nh769neXO1N7Wzrb034PiZS+9arWl4lVXEv3OXKGZZMdvhUNke5upteHz3OeU3H0uTk9q4lzQVVKSXMeTs9D1WFNeFOXmzhHBhnM0/U4lS3nSn4sHjHJnjvr21ZM+P1yfRqT30t/oXKn5UeN0rXpwnGnWk2j1lG6pV6alTaTf1O85McnwefwuTDP2xcS90ajXTc48s8/ddPVIN+BD+h7SnFzT3STMcwi8SWTnlhjfh1w87Pimq+f/AMFvvWByLfQLqc/zIcHuHa+L5o4SGxUlh9zM8aV0y/K5WadPZ9O0KKUnDzfY7Wko0o7UbYNt8vgxquEIuba4+p2nFjjNPLlz8vkZev0ZkuZfIdHrOrU7aElRl5zRqvUMKcZUYN7voeZm6txN1JvMWccs9fD6XjeJ+qe1YxlK5rznLltnIjDaWjCME2kM+Y52PZlnc8tNFwng9d03BO0hk8ldSWGeu6dT+BpsYf7RnypccO3dywnwef6hX5f8jvtkm+50XUccUv5Hoy1XyfCxxvNt5Og/K/ub12ONbfK/ucldjj69vu8slrFhBhHWZajjlOmXoYmXoYj29nEAAakT9RjVWYmXqWSzEljWPy6yosM0S5Zyq8cNnGOVj1YXoABWgAAAAAKQoAAAGQrIAAAAAAAAAAAAAAAAAAAAAAEAgUZRN0TTE3RApCkDKEZSMCEKQjSMq7EZQKQEAEAAhCkAAAAAAAAAAAAAAAAAAAAAAAAAAAAAAAAAAAAAAAAAAAAAAAAAAAAVECF+EUpCoxhO1sQ7nRdavdMuFOnLEfudO0YzVWUcQlg58/jTkj2+L5d4q+06H1Pa3sFG4qZnj39Ttruxt9Uj5lmOD4RZXdxaS3eIeo0rrOtbTiq1STifH5PD9O4+3xedM+nq77pWnRk/hIeb04OuUtd0uXkWEvueh07q2xvVHjze7Z28fhb187Wn9T5+c/l2+pO8dx5GHVVXG2+n/Uv8X024f5U8yPbx6U027h5qMW39UdTqH4ftZlaRjAn6Jm4zybx10kZ0JrzPkzVKD5gaK3RWtU25KssL6HX1rLU9Pf5kpSx7I5ZeFZ3H0OH8jNTbuHTqLsa34mTpf4zVpcThUf8A7WZx16DfNOf7M82XFlj09F8vDJ3e+e3bI+f9R06tTVJ04rg9Uteop7ZU57n9DoqmpW711zq0Jyj9mfU/Hy4R8j8nyTN5edrKnzJcmt0qi9OD6ze9C1NZ0mndWUVTyt3J841SxraZVlSrJ5i8dj7vFz7un5fl4dXbrYw45MkkuxKct6ZJ5jI9tu48XxVXzsj7lhyyPuX6ZvyAAgAAAAAAAAAAAAAAAAAAAAAAAAqEYtshlGW0knexyaKW7Ej1+i6JZ3qjvjlv6HiXNt8HZWOsXFm1tm0ayqx9l0Do62p1I1FT4TyuDm9X9O1Lyli3hnEUv6HVfh91JK6o1vHm3tXGTb1R1nTtJuMJPt6HzbM7m9E1p8p1fpu8sKsnVp4SOknT2L6nr9Q6kp6jBueXn3PK3daE5tRR78ZZO3HNxiAhpgKYlAoIAD7EKQAAAAAAAAAACaHaEKQioGAwMSMpGAMTIgGLBWiYAi7lYS5I85AqNkUYRN8FkDKMN0cHeaFQTr4a78HWUqaXJ6rpjTa13exUYNrK7HnzzmN7dccd/DVr2jfC06VXHEuTzVaGZH3DqPplXml26Se6MOyPmtz0ne05ySoSxnuYw58cm7x2PIzicaoj0N3otW2T8SDjj3OjuYRg2s8npl24OIwR5yV8djcRCFIVEYKMAQAAAABCGWCYAEZlgjRRCIuBgAC4IQCkGQKyAAQFwMAQFwMAQAAAABSZ5KnlES8wSuTQjyc6C4NFvBYTOQuDUebOqQuSF05dmDOhBR3OUu6MCTXC5JY3jlpxnbSp1/EUvXJ2dDW61tNLEmkaIx8VJM3KhGNNx4ZLj/Tr7TL5d/b9QwrUluSi/qdlRvaVSP8AbRX8zw87X1jJr7Mx8KqlxOf7kmfJOnDl8Tiz7+3vVXpJ/wDURf8AMyle28V/aQf8zwHh1l+uf7sjhWa+ef7mpllflwx8Hj329vPWaFDnMWdTfdUqScadPn3R59Wkpx81SWfuzOnaRp+ufuZymV+HecHDjemutXuL2eXUklnsbqFsqUcvlm1QS7Iy7CzJ2y5JJrEWO7McNy47Ca3LBYy2xwdp8arl0yaWODBLPfsRPDbK5GbJrVJe3GuaG5N0/K/oYWt/c2VTlykkcvJjJKXojjcL9O05JrVdrb9ROaWU44O0o6xRrLlxj9zx0rdN8NowdvL0nJfzNYe0+XHPxuDPuvcvU6UXhVo/uWWqUIx3OpF/zPBqhJf3k/3ZHbzf95P92XLLP6csfC4N9vVXfUcF5YJcex0V7rdeq9sN2H7HDjaZ7yf7nIp0o012z9zlLy35enDj4OP/AFcaFGVZ+JOTz7M5dLHyNce4cU3nsVvjB2xn9pyZ+3Ua23GTXoZ7fLkPkZ4wLGblqyxxK6bTl6HoNG1WFvawg8cHTzipU3D3NCtcdpv9zlccvp1zzx5MfXJ7R69SXqjpta1WFxFJNdjo3a//AMkv3JO1UsZm/wBy/wA3Pi4ODju4zt45pNr3N6+UwpR8KG1GWeDWMu+zkytvSMIA6p7f2y9DEuSEk0yAFwVdpjgmfQreOAoipPlxLiPBwX3OyuFwdfKPJzr1YViC4GCOiAuBgIgLgYCoUYIBQTIyBWQAAAAABQICkAAAAAAAAAAFwBAXAwBEA+AijKJuiaoo2oCkJkZDOgjGSZyDQQpCNIwGABARgCkGQBBkAAAAAAAAAAAAAAAAAAAAAAAAAAAAAAAAAAAAAAAAAAAAAAAAAAAAKiBcFiKCZGTOu9x13PXVZZEG5y242r3Mcmcp7qe3GPqXK36c5IwmnTa9UbJSUY5SyzDd5cGMVhnLPH2mq7cXJ65bd3o9OpcU041nTl7ZPR0a17ZJNVak8Hi7O6lbXEaifb0Pe6PfQvIR3qOX9D8/5nDlhn0/V+D5GOfH8ufp3Wtza1FGpSm0n6nutM64t7imlVjGLx6nhq9pCp+lJe6RxZ6PSabjXkn7Js8U5bh8vXfGnJ8PrtLUtPvFu8elH6ZNnw2l115lRmfFlY3NB5p1arS/zs5NHWNTtOIQnLHuzrPKl6cM/B5Mfh9YraDpdZeWhROuq9G2c5bowpo8PT6z1eivNbvH1N8fxNuqHFSnFfdI64yZuGWOeHy9PW6EoV5b1tjgyt+irOlJOdKE5e55uP4rycNuIfsjH/4pzp8xUH/JHsw8fKTp4uTnmV7fTaNtRoWkaKcYRS7Hyv8AEyzslGEqXhqXq0dfqH4o3dTdsgufbB4nWeorjWJZq5X8zfHw8ky3Xn5eXC4ull5ajUe2fQzisy8xjT8jz3MpS3vPY+rhetV8jP5WWI9jAqIdNsgAAAAAAAAAAAAAAAAAAAAAAAAAAxecmaXBAUVPazLfyuPUwLF4ZnS7ez6e1VWtvUjF7G0dTrupylW5e/J1MbiUVw2vsa6knUeXyPWbamSKu6seFtDp4W7dknCjgx7epq2s27UgBEQowAAAAAAAAAAAAAAAACjtCFIYVAwGBiRlIwBCkAjAYAmcGS5Iu5G8AZNcnOs6UZNZOByzfRrSpvuB7XSbDS57ZXbwvXg+idPVdBsZJ2s/P27I+KUb6pvw5eU7KjqdajKMqc8co8fPh7PRxZR+iJXVLwHUqPyJZR856q6xdC42WU049mcvQ9eV/o1eFSWZQps+YajV8SvVbf6n/uefj47K755dM9U169vtyk08nnKkJSk5VDkVJVPRmiSm+8j6OEeHJom4LhGo2SUYvkjafZHTXZ9MSFwCssQUgAjKRgRFIigAAAIykYAiKRAUhSARlIygAAAAAAAARgMAAABY8GUVmRj2NtJZYZzrm0FiKNpjTWEZG48t+QAGmaFxkhtpxyGazpRwbGwlhBDRMlSGGN2COaGm5mo3IxcskGl9mTeWQIBjYACm0IykYRCMpCUCFIZalQy2oxLuC7NqJtQyTcDa4SIMkCABAKQpAIwGADMWZMxZF2AAsAAGkAAFEVERUGajQXBfUYM1WurHdE6+rHDO1xlHX3MeTNd+OuKACPQAAMgACwIUgKAAAAAAAAoAAAACAAAAAAAAFIUAAAIwgwijZEzXYwiZrsBAABCFIBSEyCACFQBmLMmYsAQpAAAAAAAAAAAAAAAAAAAAAAAAAAAAAAAAAAAAAAAAAAAAAAAAAAAAAAAAAAAAAAoAAzYSqnFPzdjl2up3VrNfDvyo4eE+GZqSisI4cvDOT5evh8rLi6j22mdTQlFRvJ4O6p6jp9ZJ055Z8s2VHLOeDk07utRWIzwz5fN+N9vh9/xfzOOE/k+pq6js4fBxqt/Clltnzxapf44rcGqpqF5PiVTJxw/EZS7enm/N8eWPT1+odRUlBxUzyF9du6qZTysmiW6fM3kx4XGD6fF4Mxnb4HkfkbnemvZBdmM47GaijLyr0PVMHhvPawTfqV4DlFehMp9jUwjNztAAbmMjFUgBbGQAEUAAAAAAAAAAAAAAAAAAAAAAAAABQAAGQGSACAAAAQAAAAAAAAAAAAAAAAAAB2hCkMqgYAGJGZMjAhDIxAjAYAhjjkyKBYvCMlNZ7GAA3qfsciFxsSysnDi8Iy3EuMq43Ver0nWPg6FSOeKiwdLqNfNZuL4bycBVH7skpZXLOfo6XLZKbl6mmdOclxPBk2YSb9zrjNOd7atji+ZZMk0+ywRiJo+lIGQMqYlDAhDIgEQKAIAyAUMoAxIjIgAhSARlIyoACgCApAAAAgMgBiCkAyfc5FuuxxVy0dharhFkc865CWECy7GMe5uR5r8qAyIqVTkUlwaoo5MflRYisJcAFNJjMsGW1EBU0uETK9gAaR9yFIZABkAEZSMCAAlEIZEJoYjBSZGlTAIzBjRpmMmtFGljIhANKzIQDQMADQMjAMogKQsAAGgAABFREZICfqM3jBiY8marNHDuY/Q5a7GFRZiyWLjdOpa5IbJrlmKMvX7bYgku5UF0AEApCGQKgKAICgCAoAAgAoIAAKAICkYAAACkKAAAEYRRFclGcTNCJJAAX0AGJGZEAxIZkIMDJAgFMWAwBAAAAAAAAAAAAAAAAAAAAAAAAAAAAAAAAAAAAAAAAAAAAAAAAAAAAAAAAAAAAAAAsFQZARFTw8hvPJClmO2plIjqN8IsaTfLkMDJjLGr7T+llJp4Qw5epAZkyZ2u1r1Mt6SxgwB0mN/tdz+gqaXoYgmmWfiRX6SSmpdo4MQVQADYAAbAAAAAAAAAAAAAAAAAAAAAAAAAAAAAUAABSAAQIoAAAgAAAAAAAAAAAAAAAAAADtCFIZVAABGRlZGAMTIxAjAYAgyCAXIyQAXdgbjF9yE2NikNxgVl0bXJGzHILBGEUGhGQrIRAMBgCFIAAAEZCsgGQAAhCkAEKQCMq7EZV2AoAAEKQAAAKgEAIQpAM6ccs7CgsI4dBZZz4rCNRw5KzkYx7l9CLuzccNqWKIZxRSs4o3LsYxiZhAADabAANgABsQhSARgMACMpGBACMiwICBdKYNlfY1Z5CyMmyDIBoAAAAAAQAUECIKACIEKQsAAFAAAEVERUBSYKXBmiGMlmLMmMZQNuuqxwzScyvHBxDD041g0QzaIHSViQyIFQoAAAAAAAAAEAAAAAUAACMpGAAAApCgAAAMooxNkUUZLsGUAQgIABCZApAQgZAAEIykYAAAAAAAAAAAAAAAAAAAAAAAAAAAAAAAAAAAAAAAAAAAAAAAAAAAAAAAAAAAAAAAAAAACkKN6AAGpYaAAXcNAAMXI0gAC7AAC0AA0gAAAAAAAAAAAAAAAAAAAAAAAAAAAAAAAoAAAAAAAAAAgAAAAAAAAAAAAAAAAAADtCFIZVAABGRlZGAJgpAJgmDIgGOBgoAxwCkYExyCkGgyMkYKaMDBkQCAAbEZCshUACgQhSAEMBFAmCYMgBAABCFIAJgoAmCgAAAAJgoAmBgoAmcE3FZjgDInqVFS5QRyraBzHwaKEcI3tcmnmyu2SXBgu5sS8pgl5mWVjofBspvLMGjZShyaiWuQlhFDXBCsrgYIAvS4ICA6UEIBSFxwMBGILgjQAhCEFGMmJU+AsGsGtzwZSfBol3Iu2zdlGG0IBdrgpiAbZEwQA2uBggCbXBMAA2YLggBtcDBABcDBABcDBABcDBANjLBcGJRsHwVMxYIi9zJGIA1XFPg4Ljg7Ko96OvqrEjDvha1tE2FSbLHuyusYOODW5YN8jRJBsTyUiRQGSZAAZyUiKAAAAmCggmAUATIyAAyAAAAKBSFAZJkDAFitxuisI10+5tyBGwmRhEBomCkAmBgACYJgyIBMAMAQjKRgAAAAAAAAAAAAAAAAAAAAAAAAAAAAAAAAAAAAAAAAAAAAAAAAAAAAAAAAAAAAAAAAAAAGQBoMjIBNGzIyANGzIyAXRsAAAAAAAAAAAAFBGcae5PDMUlLu8HM0q3lWr7Ipyy8GLlpZHCeYvDQxxk9Breh1LFw8j8yTOilGaWxxwvcTLa6YAY28A0yAAAAAAAAAAAAAAAAAAAAAAAAAAAAAAAAAAAAAAAAAAAAAAAA7QhSGVQAARkZWRgCFIAIUgEAAEIykYAhSARgMAZEKQCAAsEZCshUC4IZgYkMiAQAAAABAABCFIAAAAAAAAAAAAAAR9xgPuZYAxM4LMkYPuZw4aYR2UI4SNhxHcpJchXS9zThcHM9DH1OK7pe5Y3CfqGfRyU22cimmkcCFdbjmQrLabjNwb22XBxvHWS/Er3KkwcjAwcf4le4+JXuF9HIwMM4/xK9x8SvcHo34Jhmj4le5PiV7g9G95RMs0O4RPiEE9W/LGTj/EIjuED1cjkmGcf4lD4lEPVvHocf4le5jK5XuSrMG6TMMcnHlcr3CuUZ2vo5OCGn4lGPxK9y7PRyAcf4lD4lDZ6VyAcf4lD4lDZ6VyAcf4lD4lDZ6VyAcf4lD4lDZ6VyAcf4lD4lDZ6VyAcf4lD4lDZ6VyAcf4lD4lDZ6VyAcf4lD4lDZ6VyBg4/wASvcfEr3JaejklON8SvcfEr3Js9HJwMHH+JXuPiV7jZ6OTgY4OP8SvcvxKG09G+MeGcK5h5mbHc4Xc0zqbw6Yxri0kTPIxyNuA7RGRxMkZ44DTQ44MTbNGsDEYKQAAAAAAAAgAACAAAACgAAABAMkVIiM0gLBGQiiPuQUhUSQEIAwJkAICkKQCMBgCEZSMAAAAAAAAAAAAAAAAAAAAAAAAAAAAAAAAAAAAAAAAAAAAAAAAAAAAAAAAAAAAAAAAAAAAAAAAAAAAAAAAAAAAAAAAlAAF30NlGmqlRKXY+j9I2PT8KkJVKzVX1WPX9z5tCp4bycmzuK1rdU6u7EdybOOc21H2vqyGgu2i61bE1BbVhe33PjuqTp+M/hnmHudt1HrNLVYUpUX8kEpfseV8SafD8pOPHSnPr3Azu5B3YAAAAAAAAAAAAAAAAAAAAAAAAAAAAAAAAAAAAAAAAAAAAAAAAdoQpDKoAAIyMrIwBCkAEKQCAACEZSMCkZQwMWAwAAAAAFgjIysMqITJSAAAAAAAAAQAAQhSAUAACFIAAAAhSAAAAGQAAyAAzkAA9QZa9QCnq20m2zmp+U4lKJyvQ1GbiR7lZEDUT1AAU9VRSIZBMUZGGTIX1Yt8jLD7kMHqZMWykYPVMlRiXsQ9UkzROTz3Nk5GmTBMTLGWQEa9V3P3GWQA9VyxlkAPVcsZZAD1XLGWQA9VyxlkAPVcsZZAD1XLGWQA9VyxlkAPVcsZZAD1XLLlmJUD1ZZYyyFIeq5YyyFCeq5ZcsgB6rkIArOmQIigCgoExk1Tjg3YEo5QWOJzkyXYzlTwa28BpW0Qi7lAAAAACAAAIAABSFRQAAAxMhtAQ7m5I1xWDYgDIVkIBiysgAjKRgCIpEBSFIBCkKBCMpGAAAAAAUBAAAAIAAAAAAAAAAAAAAAAAAAAAAAAAAAAAAAAAAAAAAAAAAAAAAAAAAAAAAAAAAAAAAAAAAAAAAAAAAAAGgAB09egxku54xkgOeWKqpNLGeCADHEAAVAAEAAAAAAAAAAAAAAAAAAAAAAAAAAAAAAAAAAAAAAAAAAAAAB2hCkMqgAAjIysjAEKQAQpAIAAIRlIwKGAwMWAwAAAAAFgjDKyMohCjAEAAQAAAAZAgAwBCFwMAAAAIUgAAACFIAAAAAAAAAAANgXcBd0U25lKPBs9SU+Il7s1GbQoSb4Lg0m0AANgBAu0ZCsxGzdRgMZMm6hH2LkjBuojGXYyXBrnJEN1rkzAreWQiygAC7AADYAAbAADYAAbAADYAAbAADYAAbAADYVELkG1KY5LkhuqUi5LgJtQBgG1BcDBQRkiYKglUpEUIuBHuA0FhUSaOHOLTOXyYyp5C7cZdgZSg48sxCgJkySyBAVrDIQATIyAAAAqIOwFALgoiNiRglybkgbTARWQISIZYyRLKIrFkKvNPau5JeWW19wBGUYAhEUgFIXJAIUhUBCMpGAAAAAAVAAAAAIAAAAAAAAAAAAAAAAAAAAAAAAAAAAAAAAAAAAAAAAAAAAAAAAAAAAAAAAAAAAAAAAAAAAAAAAAAAAFAAGvboAAZtAADGgAAAAAAAAAAAAAAAAAAAAAAAAAAAAAAAAAAAAAAAAAAAAAAAAAAO0IUhlUAAEZGVkYAhSACFIBAABCMpGBQwGBiwGAAAAFRCosEYYYZRAABCFIEEAgBGAwBQAAI+xSPsBAAAAABkKyAQpCgAAAAAEIUgFAAgFisshnTWZGkcyPylQS8pUuDUZZRfJH3C4YKRGRlZGFACEojIGQgjDAZBCFIBGzRM2SZqk8kaYJFLgjAAAgAAAAAAAAAAAAAAAAAAAAAAAAEKQChAIDOJkYooGQIXIGRSFDIikRQKgECopk+xiZd0WDEpcEKNc45Rx5LBy+xhKnu7ErUcVFzgylScTXgiss5IVdgZ0IQuANCFBSrsIzIjCbEZx5MVHJtjHBWRRMi5IBCFIBkniLNUG3ksm8os8QaxyGo5NC0lcLZT+dnMvenriwsY3dV5TMtAuIUdSp1Z4cV6M7/qLX6OpWnwUIRjt9UZqvEELNbZtGOQikYIaEYDBBCrsQq7ACMpGAKQoAAAAAAAAEAAAIBAUAACFIAAAAAAAAAAAAAAAAAAAAAAAAAAAAAAAAAAAAAAAAAAAAAAAAAAAAAAAAAAAAAAAAAAAAAAAAAAAAAAAAAAAAAAAAAAAAAAAAAAAAAAAAAAAAAAAAAAAAAAAAAAAAAAdoQpDKoAAIyMrIwBCkAEKQCAACEZSMChhBgYsGWCAQFIAKjEqLAYYYZRAABCFIEECoYAxYKxgAAABH2KR9gIAAAAAMhQBiUYAAAAAABCGRMAAEPUAbaCzI1epy6EF3NI3/AKQuwBqMsX3MhgFSIyMrIw0MxMmYkojMTJkwQQMj4YIBi+xW8GuUngDCbNfqZN5IRpTFlAEBQQQFAEAIBQAAAAAAAAAAAAAAAAAAIUAAgAMkUxQyBmUxRmkgjIpChBFIigVAIpUDJEGcFgzaMPUuWMFDbuWCxW3uIvDK+RpZUmk0cadI5WENqZNLtwcY4Ic10YvnBi6C9iaVwwch0PoY+C/YaGkpu8NBU0NI0myMNyybNkSrCXAKwUcFyVkwETJRgAQhSAHjBjH5Xu7lZJebuGoypzdOOVwivyvxVJts1t5jt9BnEdvoZq7G8vJCkwEQhcA0IwAQQq7AZAEYAApABQQAUEAFBAAAAAIBAUAACFAEBQBAAAAAAAAAAABQBAUgAAAAAAAAAAAAAAAAAAAAAAAAAAAAAAAAAAAAAAAAAAAAAAAAAAAAAAAAAAAAAAAAAAAAAAAAAAAAAAAAAAAAAAAAAAAAAAAAAAAAAAAAAAAdoQpDKoAAIyMrIwBCkAEKQCAACEZSMCrsVkXYrAhCkAEKQCFRCosBhhhlEAAEIUgRUGEGBGAwAAAAj7FI+wEAAAAAAAAIUgAAAAAAAABdiLuVdiLuA9TmUexw/U5lHsaRuABqM0ABUiMjKyMNBGUjJRiwGCDB9wV9wyDXJmqTNkzS+4EABGgAAAAQAABCFIARSIoAAAAAAAAAAAAAAAAAAAAABV2AXYAZRNi7GuJsXYClIUMiKiIqAyQCBUUhSFgpSFKKu5SLuUsFKiFRRi28k3G1JYMWkYVr3EckyswYNrwYsmSg2xeSoySDAxDAZBAABCFIBGQrIFiEKQyqkZSMARlIzQgAIBCkAAAAAAAAAAAAAAAAABAICgAAAAAAAMhWQAAAAAAAACgAARlIwAAAAAAAAAAAAAAAAAAAAAAAAAAAAAAAAAAAAAAAAAAAAAAAAAAAAAAAAAAAAAAAAAAAAAAAAAAAAAAAAAAAAAAAAAAAAAAAAAAAAAAAAAA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ata:image/jpeg;base64,/9j/4AAQSkZJRgABAQAAAQABAAD/2wBDAAgGBgcGBQgHBwcJCQgKDBQNDAsLDBkSEw8UHRofHh0aHBwgJC4nICIsIxwcKDcpLDAxNDQ0Hyc5PTgyPC4zNDL/2wBDAQkJCQwLDBgNDRgyIRwhMjIyMjIyMjIyMjIyMjIyMjIyMjIyMjIyMjIyMjIyMjIyMjIyMjIyMjIyMjIyMjIyMjL/wAARCARsB9oDASIAAhEBAxEB/8QAHAABAQACAwEBAAAAAAAAAAAAAAECAwQFBgcI/8QARxAAAgEDAwIEBAQDBgQEBQQDAAECAwQRBRIhBjETIkFRFDJhcQcjQpEVgaEzQ1JicrEWJDSSJTZTghdEwdHhJjVj8HOi8f/EABsBAQEBAQEBAQEAAAAAAAAAAAABAgMEBQYH/8QAKREBAQACAgICAgICAwEBAQAAAAECEQMhBBIxQQUTIlEUMhUjYUJxBv/aAAwDAQACEQMRAD8A+blBT9I+GFiMFQFAAAAFgEBCgAAAAAgAAAACAAAVPghMgYTRguDc0apLDAPkBAARlIwIAAAAAEZSMAEAgKAABCkAAAAUhQIRlIwKgyFAhMGWBgCJFwZYGAJgjWTPBVEDBRM0jLaVIAkUpCs0BMjIRSAAAABfQxZckDUYMxaNjRNoVqwRxN20m0DTtIbtpjKPIGvGS4MksBkEyA0AAAAAAAAAAAAAAAAAAAAAAAAAAAAAAoAAIoAMyLAAG71GtoXAyMmPZjtAUhd7XdAAAAAAAAAAAAAAAAAAAAAAAAAAAAAAAAAAAAAAAAAAAAAAAAAAAAAAAAAAAAAAAAAAAAAAAAAAAAAAAAAAAAAAAAAAAAAAAAAAAAAAAAAAAAAAAAAAAAAAAAAAAAAAAAAAAL2IVihnJjjA7MuciCqfoVRcmKdJykcunTUUbiVjSjtN+3cYtexlBtGohjHAK+WQIBdwEBkQEAAZIAIMgAUxKSgQEILkEQCgIAAJkACAZApAQgEGQAAAApAAICEGSIQZAAEAzBjkZINpS7RtMtAQwUAAABCkaLBCFwTBQRSJclAAEyAAAADJMgATIyBSMZL3AehjKJS54A0t4BZRyQARjJGwACeQAAAAjKRgAgEBQMjIAhckAAAAUgyAIyjAGJUXZkyUAIkZJFSwUBgYLkZAYKkTJcgXJMkyQDLcTJjgpWaoJkZCKUmRkCgmRkAwQuQ0uBgmSuXAVCAgAYGC4A1yRi0bsGLhkg1kM3TfuYYAAuDFsCgiZQAAAAAAAAAAAAAAAAAAAAAACNjI2KAufUN4G4etUBLMWyRe70M7ayxsUMJ5lgyaS9STLd0xNsAZOOFk17uTeo6TJkCrsQdMW7AAAAAAAAAAAAAAAAAAAAAAAAAAAAAAAAAAAAAAAAAAAAAAAAAAAAAAAZAAAAAAAAAAAAAAAAAAAAAAAAAAAAAAAAAAAAAAAAAAAAAAAAAAAAAAAAAAAAAAAAAAAAAAAAAAmSrkAUxbK+Sg1k2UqbbJTg5M5kIbUWJsjBRQeTPdngcGkrGJnwiNexg4t+pYMwRJpFIgAMgCBsgADJALkgIAKQZJQICZAoIMhQDJMgACAAQIgpCkAhSFAAEyBSDJCAQpAKMkAAgAADAwQcsEGTLQQEyBQTIyBQTILAYBMlApiXIAgIBkQgAAEAAAAVEAFICZAprZmYsDFmLM2YsCIoAAAACMpGAIikQFAAAAAAAAGAZYAmBgywEgLEoQAAAAAAAAAAAAAAlAAEAAAAAAABQABQAAAAAyMkyMgU1tGeTEDWydzY4mLWAJjAAAAAAAAAAAAAAAAAAAAAAAAm1UsLsRPc8YwTPODZ5UuO5GofDprO7Bj4Sj+ob5vj0JhOS3MdNdquHjJZVHT7RyZThFSTi84MJS3dzWXrD2uX0m7es4wYuDi87s5MnKG3CfJljhGZMd9FmU+jlow24ZmmitG7htj2/ti2kQxlF5Ml2MSWVq6+gAFZAAAAAAAAAAAAAAAAAAAAAAAAAAAAAAAAAAAAAAAAAAAAAAAAVEKiAGQrIBQAAAAAAAAAAAAAAAAAAAAAAAAAAAAAAAAAUAAAABAAAAAAAAAAAAAAAAAAAAAAAAAAAAAACpZIZRAwaGSyMSgzOnFyZIwycyFLakyxKyp08IzCkU1pEx6lK+xCxAAFAAhgAQZAEBMgUIgTApAQKAmQQCAgFRTEEAAgGRAQACBAUEyQCjJBkCkBALkGORkLFyTJMkyFZZGTHJMgZZJkxyGwMtw3GsEHPABkQhWQACkAAhkURkMiDYxKCjYxIZEGwBSDYhDIg2AKQbAEBdgwABAUAYsxZmQDAFZAAIMgUjAAERSMCgxKBQCgQGRcAYLubCYLkAUmRkCgxbJkDMGGRkDMGGRkDMGGRkDMGGRkDMGGRkIzBhkZBpmDDIyDTMGGRkGmYMMjIGYMMjIVmDDIyBmRmOQBkDEAZDBiMgVsxfJQBg1ghmyNAYgrRiBQAAAAAAAAAAAAAApdJUBQZ2C27ee5Irc+OxltTg2a0prlJv7ImWWo7ceFyqyk08LudnYaBe6i14azn6Hf8AT/SlS+hGtNYT55PY2VGhpFalGVNPnHB8zm82YXWn1eLwMspt5yz/AA8v42U6temuFnscL/hdb9jhz9j7bKrC80qSox25ijwtWCt7vwZ43+7Pn8vmZvp+J4PFbqvn1bpOuqstkOPsdXd6bXtG1VXHofVnRSk5Npo4FzYULrKlTTZzw/IZY3dezm/FceU1i+UNNSM88HrNY6dahKVJY+x5Lw5W1XwquWz7fjeZ+yPzHm+DeGiabMX3LtaquX6Syw+x7Za+bZpiC7GlkxUs8FFA8N5zkylOO1JLLQXTECNSPZrkrWeOxNppAMOPDeQUAAAAAAAAAAAAAAAAAAAAAAAAACNNrCeAKDFT2cNZM1JT9ME2vqgM3Sz+pHb09KnLTo1lFvP0HserpQbKlvOnUeU8fYjhvj5XjA2aYAi8vD7lKgAAKiAAGQoAAy4MWEAYsqyXSqABoAAQAAUAAQAAAAAvRoAKll4E7NICzi4/URW76A0gMnDb65McprINALGaT5RZNPsZ9hiApJBRcuUdMZsAGs8LuTOx8jKaNKAnkGZ3NgABtAAF0ugABAAEUALGDk+4EBXB9jDxVB7XFtsLJtkC49SBAAAAAAAAAAABnAIxsRsLuZJIzjFZLO0220o5OT+lGNKKx2NmDcmkYYLnBSYKInlmRMDI2igxyTJNjJkJkEAEAAEIBQjFlQFICBQEKQQAgBFIisghCkApCkAgQAFIAF0gABoIRswbYNM2Qwy8jIGZiQBVZMgATJDIAMDABBzgAZEZEVkQFIUgEKQZApAQC5BMgAATIFBMgAMkGQKQEAuSEBYKCAopTEy9AIQpAJIxMpGIEIUgFAAAMACFBQIUYAFKQoAAgFBAAAAAAAAAAAAAAAAAAAAAAAAAAAAAAAAAAAAAAAAAAAAAjKGBgyGTIBAAAAAAAAAAAAAApCjawABJ2lh4bk+Ges6R0Z6heU6c6flfq0eYobnVSSyj7N0Ta21vo1O6k0qqxxg8Pmc3pi+n+P4LnlHc3FjS03TIQpJbl7HnarzVUp+j4ydtfX861WSxmJ01xJVK9OL4y8H5nk5/fJ+y4vFmGHb2fTty6trKGzK7ZNGrdJK9undKvs+hz9BtXbWyUFnKydzKO6OJ8Hez2fK5c/15/wAXzXUNNurGOIRnUS9UaadXdHDjiS7o+lSpQnTlBxTWH3R83vaXwuo1vRSkceTj1j09/ieRcs5Mmqoo1k4yiuTw/VGj+FVlXguF7Hvpxio7l3wdXq9FXWmzi1yx4vk3DOYvX5vh4cnHcnzBzToJepg3wb7u2dCvKGOxx492fr+HL2wlfz3yeP05LFjP0Ykk+wjFSYnHw55N2uMgqVTGVFstNfDycsbm/T2PSdN28NRrqhJLsdre9GKw33FeLjCSzFmbl21HhV5pb2tuPQynUVWeEsG292KvtpvMU8M1Ojz4lPnBqJYwcdnDeQVycnl9yGmAAAAAAAAAAAAAAAAAAAAAAAAAqju4zghYvDAuFD6mLq7mko4MZS5NicGuWZrUdrpei0b9rxLpU8+7PrujdNae9Dp0PiqcmvU+Hwq1Kb8jf7nruneoalKSp1KjSS9zlnLfhpu6j0+ztq1SEK0G17HiV+XUms5TZytXuKlxqdaW5uLl7nCqtwccG8JftGck89jEu+UlyuCHVigAIAAAAADHcUmAS116vwyRTDJU8mfZi8dUAFmSetAAaiUABUAAQAAFAATWzYGs+oCWWNGyM9nD5MnFzWexqn5ZGUXcVMRhDJzt9Hfj47yXpjhRfM8mXgyrSzHOPod3pHT9O7mndtwWT3Vh0loFKK3XL/Y45+X1qPbj4sk7fMFZ18eWnJlVjdv+4n+x9wtOnumKaW66X7HZ09C6bqrbC4T/AJHmy8mr/jY1+d529eDxKnJBZpx2tcn6Hqfhzo97FyhPP2R5DXvwvdGblZ05TSM4eVlPlMvGk+HyWDanul2MptS7cnd6x0zf2MJKpQcUjpaSp0sxm8S9j38PPMvl5OThsRz3LGMYIYR3b5Nrj0MzvbPpwuOgADTNAAa2bAAZ2aAAAOTY0fiLhU84OMb7SrKhW8SK5CvS6p0xGysKVwquXNZweYmo5fC8p3l/1LcXtpTt5RW2CwdFOpBSw3zIEa92/wA3YFaUeI9iBKAAAAAAAAAAUAARBdzkU45NMVlnLprCNYozjwZEYOgpMkAAEBmgQEAyICAATIAAgABMgTApAQguQY5KABABQRMEAgIBkTIIABABWyZJkmSNLkZMckb5ArZixkoEBcEAAAAAAAAAAADnAEZkCIpEBSFIBAABACAEUi7lAhMGRAAwABCFABkKRgQcgFgnI5KCgXJABSAARmODNkAxwTBkyATAKAIXAKu4E2suCgCYDRSACkABvCJFblwXj1JKX+FYCGAWHPcxlGTlwybWM1F4IVxksLJdjxnI2MSZI8pmUZJLlFQBAFUZIRgXIyQAXJTEoFBABQQAUEAFBABQQAUAAAAAAAAAgFBABcjJAAZMFAGAKQACMICgAAAAAAAFICUUEBrCNRztJi6mpUov5G+T6taP4e3VGlxA+Y9NuL162hLs2fWdV06pS3V6P9n7I+H+Wl70/Rfic8ZY05lN4Rxq+z4uh77lkznUcbaLXz+prqQc9lRd48n5rhl9u363ku8On0rTpqFtDH+FHIlOVSR0HTF58VaS3PLjwejpRR9Obj835GP8mupHFLy/MeI6poQoSpza80me4qcSaOn17Tld227GXFZQyu468F9bK8RGUopKfZitSi6bf6TC2ThUnCt33NLJleT2ZimsfQ+fOL/t2+5+6Xi7fNtfShf1MdjpYvLZ3HUOVe1JHURSxk/ZeFbcNPwPn3fLSKlF5RZS3y57FbRjhnpyjw7en6b1Gz0uvGrUeGj1Gs9WUtXsY0PE3QiuFk+YOTxg30bhxTWfQ5+st3VlLvwo1ZKn+pmmFSdODhF8Mwm3Opn6mT4Z0iWnPr3ABpkAAAAAAAAAAAAAAAAAAAAAAAAACAOKMdqMmCaXabmuxnGrKmt0PnMCjR7VZTlLl9yfN8wBTaptLBAAgAAAAAAAIyaMGjNvgxJVxtjBphPa+fUyHh+JwnycrHrwz31SUlFpP1KnkwjQnSlmo9xamZPyJoky0uWEvw2Sg4x3PsY5MYVG/JJ9i+p1mTz5cdigiKalY9TAwXJMlZAAFhgmeS8oiWWTdiyT7Z7XjJj2ZjOo00kdjptp8TUinjn3OeXJXow4Jl8NVnplbUKyp0lmTPUWfTdewiqlxDEfsclXVnpVsoxprxl+pHBnV1K+k5Rqy2PssHnsvJ8PV+/Dxpqu7jf6RbxUar8xrnrOkJ4i/wCp1lrpFe6bU6cs+7ic/wD4MuJQ8ThJe5xvDNuGXm3K7+m2Gr6VnzPj7nYW2t6YmvAl5vueaudK+EyppPBwtuyX5fDO+PjSztx/z9XT6jZ61qiSdtP8tf7HoNO6whCpG3van5kvqfFaWo31BrFdqK7o7/TeoLWtT8OpD/mH2m/Q83N42vh7+DyJnH1++0jTtdotzhuUj5N1f+HHw2+vaUcLv2PRafqV3pkVeVbjxKK/RF5Peadf2eu2aUoLMovhnlnJlx12zmNj8q1qU7erKlU7xeDU5pPDPsHX3QjjuurWCUV5ng+SSnTjKUJU2pRbXKPocPP7Tt4OTDtjGLl2J+rb6hQlJ+SWDY4ZjtXz+rPdjbXlyx01gYwBkyAAzF2AhTaBVKUXwEQA5SMVTjJ5l3MgNLsABEAAAAAAAAAAKAAREbaayzlRWEceiuTlN+U3IgnkjZF3BoXJMgg2AAIIGCEFAINgQpBsCFINiAEY2LkgAApBkgEKQAgEwF0EBAaUEIDSkbJkkgaMoZMQRVyYvuUAQoAFbIAAAAAAAAAAAAHNBAzIZIABSAgAEAAmQQDJFMUUAQEAyICAARgDIjKRgQAFgAAoAAAAADIVkAjIVkAAAAEABcjJMjIFyMkyMgMjJMjIGS5LKUYxxgxXfksqcW85AxgnKWeyNzpbsKLyzGOWttNZZ3OhaHeXVwn4Layc8rpZHTztp0/nbX3MHGXoz2HVXTt3QnTlTovG1Z/Y8hKNajPbUhgku10kXh8mTcWvQklujkwUF7m5WdKADQEZSMAAABSFAAAAQPsQCggAyBF2KAAADIyTIyBcjJMjIFyMkyMgXIJkoAAAAAAAAGJCkAjCDCAoAAAAAAAAACygANfBrbl6XP4fUaVxnG1n6B6buqWr6FGUkpNn51U5JYR9U/DXXY28aNnVniPHc+V5mHvt9Dw87hlK7bU7CpZXk6ji3BvheholKKp8NPK/Y97f2VLU6D7bcNppHz27tqthcVVWTjHPlz6nwMuL0r9bweV7Y6ruembh0aypLtKR7uScKh4bpO0ddu45xCR7tzVXlM6TLbwc19skktyyaqkd0HFrOUbM4eBJ+iLZqbZnTyep9NO7k6tKezHsdPW6blRt3Vq1+F7s9/Ur07eLjJpJngeutfo2+m1qNGa3eiR28fhmeW0z8uzGx8k16SWsVaSe6K9TqJcPg33NbxV4zfnfc0bso/Q8OHpH5vycvbPaRzk2LsYFydtPPtW0YZDWTJxwkPVTGFkiyzPjBlDCjkjO2vsCt5eSFAABQAAAAAAAAAAAAAAAAAAAAACAQBgMF0IUhRoAANAAAAAIAAAAACkKQioZQpb3ndjBibaMd81T9ZcEuPSzbbRtq17cQhShKfpwe90r8P6d5YKdW4VOs/7t9zd0hpFHStNqXlykpx8yUlk49Xq6pPqWNzTaVNei7Hkz3K9GGWnjtd0Sel39Sll4j6nVH0vrOzV7osNQprM6j5wfNGnFtPuiY5u+5lAuSA9GGW3DPBkCIp2jhcdAAKyzSW0w7MZwMmcslmFySUfMmdpYSzFQi9rfqdUnvqKK9Wey6Y6fd/cU1JNRfqeXLOb7ejHl/XNORo/T9fUbtRk5OD/Uz6NpnRsLKEakmpL2Z3ej6Hb6baRhHDa9Wji611GtOpShFrOMHK5W3XG8nLffvNnd1tN0+kvyqW5I8hqvWFJTcKVusfRHm9U1ivfVpOTaWfRnU75J+/3PZ4/j3/bJ4uTlknrHNv8AVPi5N+HjJ1+1Sec4M+JLkwcF6M9vrI4zvtHSy/m4MalPbNOm8P6G2PsJQ2vcuUYz45Y6Y+RlhenM0zW6tlXUK+akF6S7Hu7HVXp9One0pblVaWxeh80nBVVu9TuOntTlVuHa3T20oLytnyPI8bvp9vwuf36yfdacqGraQ09s5Tp8r2Pg/XPTn8JvpbafEm3lI+i9N60tMqyVeeKcn5W/Y0/iBeaRqNnOpGvF1VHhJfQ8fHvDP1fR5OOfMfBd0qVTf6Gzc8+J7+hrrOe500vL7lhN7dnsfZ4cuny+XHVXOeQMA1a8wGAzWMEKQpVVEKiAAAAAAAAEAAAAAAAAoFXchV3Qnyjk0o8G1sxpryhvk3EMlyYsuS0UgIQXIJkEAmQMgUZICAQEApAQACFQAAACZKQAQEAqYIAsBkgCo2TIyTIDIZMgAACAAAAAAAAAAAAAAAAAAAOaRlyQyI0EAmAwAQAAAITBSMAGwGBGyZDAGS7EC7A0IAALkgAAAACFIAyUxKBQQAGzHJWQBkAAQAAAAAAAAAAAAAMpY2GJm2tgRLafh1NyPddM9SSt60YynhZ9zwkHHJsp15UaicXjkzYu31Pq/qiM3TjTqcOCzz9D5pfXKuKrk3kxvbupdSi3LOEcZR9zMxkmltRvCMU2JFjE3IyAAoAAKAAAAAAAAAAAAAAAAAAAAAABGAAAApCgAAAAGQAGRkCAABgcAj7CiPOeAlIyykib+S4qbWV4iuRl4LTnGUtslkWyEjGLjJiXBlVUYJOKwEsx5JssSKbWSDEl2fAIzQAGjdZx+X6nIsNSq2F0qkXjBw+U+OxlmDXK5OPJxyu/Fyar7l0h1pRuqFOhcVc4XbJ6XU9Jo65GnKMd0VyfnK0v61nUUqU8Hr9O6+u7WCjKtLCPkc/jbvw+xw+TqfL7TplhS0q2lRgsRl3OZDbGGafY+U0PxBjXpvdN5+pspdRXd7VSo3KjF+jZ48fGyj2ftwvb6JW1ehSqOE5eY0Vr6ukpwflZ52jr2n2FJTvkqs/Vpnn9b/EOynGVO2i444R6MPHtuq5cnPJOnououoadrQl408TxwfG9c1S41O6lOEs02NS1q41Go3UqNxz6nVSnKMsRflPocHDMfp8rm59/BiMobI/Ou5jtxwzZ5VHcvmMH35PoydPDll7JgoAZMlb3LDIAA9MAEBLAAAAAAAAAAAAAAAAAAAAAAAAAAAAAAAChgAEAAFAAEAAAAAAAD7AGyxSaMVyjJdhilY/qwdzoNgrvUKLxnE0dPLjk970FZxqU7itJf2aycs7XbD4dn1terTbelaU3hTpx4/kfNqTqU/O+x3vWepPUNSg4t4h5f24POOrKVTw/Qkm52l+en1HQbulrmlx09vc4Rbx/I8FremSsb6qpRwt3ByOn9Qq6TeqqpPbLC4PpepdPUuo9KpV6EVCoobpOXqccrMa7YS34fFXF9/Qm5YO41TR7jTrh05wk1n0R1tSllbFBqXvg3L101MtfLjtVF5v0mdOpBf2nr2NbjUj5ZZaMqsVOMdvddyzl11W7Mc5uNkuWnHsXhx47iFSChta5Ne/bPs8HTDk282eGmxR45MXxky3p8mNRfLj1HL/4cWWr25GnWzrXMePU+3dFaYo2kam3zLB8o0GlHx6eV3Z9z6b2UNM3Y4WDyck6cfIy76cnXNR/h1g5xlioj5Fq2q1b+4nvlnk9F1lrLrXFShCXB4eSkpbn6nq8TjmPy8XLlazhOUk9xjuYzhGLPo2/TyXRnIAOeXybVJt4R3mlaFc6hHEYZizpaSzVivqfWui7eH8Oc3jKOXlcnpjNO3Dh7V4jVOlbnT6Eqnh4S+h5S4k7eSa4knyffdVo0q1jLxEmvqfDeoVThqU6cFxuweXHP347a9vFLjySR2dncXOveDRt3u8PiR3OpaLYWlJUtQji5lFbeDm9EaMrSwuLppJ7NyOz0m0j1Jdu4rR3qlJx5+jwfJzy/lt+iwu4+Van0/Wpt1qMPyvc8/UtqlKTbR+rP+HNNnbeDO3TPh3X/TctNuqtWklGk3wjtw8t/tx5sMf6eB5Aaw8MH1sNWPlZzVAAarM+AAEAAgFBEUCkKQAAAAAAAAAAABV3RAu4RzKcvKV9zCn2Mn3KiMrnHhIxZlTnT5zEqDlExcuCylFzWEWUcvCG10206LqQzFcmhqak17Hf2Gnzdup4zlex113aShUk+3JPaLpwc7H5+xnup1Hin3MHJZxJZJvhCWYxwyoyacXh9yBycnkhEGQACsgIAGSALDIyARTIAAEBAKRsjZGwI5Mm5hmIVlkAABlLuCMoLOeexnGDqfIScXSUc87jk20VTqxz2ZK1poxHHhf3xi6U4cS7n0fR+laN5ZLVGo7V6N8njdehGjqFSMFiKOeOW1sjqnF4MYvnksZOWTF8M3GWyWPQxGcgqAAAAAAAAAAA5eQCGQGQAABABTEyAhGUjABgMDFgrIBV2BUQ0IAAAAAEKRgCAmGAKTDAFBABWQAAAAIAAAAAAAAAAAAADOVgdzGUcS4CLt+oUc+plxt7kTwZqpLMWMsreWWT44AxismW5RME3nsVrJYigAqgAAAAAAAAAAAAAAAAAAAAAAABGUgAAACkKAAAEZMlZAGRkACgAAMZBYtJ8ga5LkyjHCyySlmRm3lBUcvZHN022d3cKmlyarShCc1veD33Seiac7qFepXSfscOTLS4vJ6tpFSzoRm4tpnSVIzk0lFrB986k0DS3pVOdWsoxfZnynWqFjZz/wCWqKZOPP2aseZy6flkuQZ1ZutPc1jBhg7MUABdppV3wWVLjOSJ4K+V3NztPisEmn7ldVx/SVPazZvTXZGcuOVucljHdOccxk4/QtO5uocRryj9cmHCTMG2zF4MW5zZf25i1K6XE6k6i+pxZZryc3LGOcCFaUONqZisuTfbJJxSVf237Xf4nlSx6Ff5a2vn6mThGKymY53cM3JIxc9pHh7u/wBCvkzUFHlPJg+5vbNuwAEQABAAAAAAAAAAAAAAAAAAAAAAAAAAAAAAAAAAAAAAAAAAAAAAAAAAABcIv6RlNcFWNmPUuJUksqP3PqHRdFUdJu5N4zTZ8xXzQT90fU9KiqehVGnjNI4cny7YfD5xqVTF5V43ed/7nHpQjXljiL9xc1Grmrxnzv8A3NEaklPdjBvGdMX5e36Z6aoXtzHxruEVw/Mz6tfWNKx062VO6jGMI84fzHwK1v6lKrGXiSjyuzPVa/1RXnpNtSpzbxHD5PNyYW13wzkj29zqOkX0HRnTob+25nSV+kdPvE9l5Rg37M+Xq7qtyl4s85z8zORb6nXhy61TP+pl9bI55Xde/fQFtKm4wvKc5JejPB6poMtNuqilUys8HedNa7cPVHGc5OLSXLOx6+sVGytriHefL/cxcLe2sM7jdPnUqbpzznKNsbhOaXh5Mprjjk46qShUWInTCaenUyjkzW7lLBG87UI1d8ueGR/Mbyz308949V6DR5Yr037M+u2N9Gn07UalysHxrS6m15z2PX0tXktKnR3cs6TimUj5vkZWV1mp3LralObeUzj1ZKUUkYVcze71JHtyerHH1eS5+zJrhGMu5NzAl7ctdgALl8qqeGmj1vTnVD02n4U4tpv1PJLujm2Vsry8p05txz7GPI4/fCOnHnca9trnWEbnT5U6a2yfsfOL6XiVoVZvmU13+56HWNGp2EJSjUk8e7PM3lN1IwcspJpnlnH68devi5N8sfXNKqQpaA9s0t1I7T8OowdpcNtZ8R/7nz/SdRnV0ydOLbUIYO66J1h21Ook/NvfH8z43JO36Xj+H1+s4xj3SZ8f/FapGem7Y4zu7ntq2s1LjiXEn6Hyj8QdTVxSdDd5k+x04ca58z5yAD6vHenyuT5AAbvyzPgABpAhSAEUIAUhSAAAAAAAAAAAAHqB6oDk0+xkYU3wZMrIzNbYrsa2bGlhYZqJWdOm5yWInPttOq1qyxTk/wCRptK0YSWcHsdD1G1hOO9wT+qOPJXTGPSaDoMnYR30n29UeN6j0O5p3E3ClPGfRH2TSNUtq1ooxcMJeiPK9SdSW9GU6e2m/T5UeXHPK56sbsj47O2lTbU4NP6nGmlTnnGTvtUu6V1UcltX2R0lXGeOT2z4ccmpy3PKWCBkKgQACkAYEKQJhYoGRkjQQZIAIMkYEkzHJZGIFGAigAAAI032KZRltZRlJqEUn5s/0M6C8OopyefoaMZbbJ4kpPlYwZrT1VHqqpbWnw0MqHsjpL66VzN1H3Z17bbyZY3R5ZmQZRaWTCXLMnFJcMxiueTSCTRTJtGJUAAAAAAAAAABzSAZMgyMEAjAYAhSFAEBAKCDIFICAUEyDShGAEQAACogAoGRkAYmRiAAAAAAAABAAAAAAhSFEKQoAAAAASgABEoACoAAy1AAGgAAAAACFIAABAAAAAAAAAAAAAAAAAAAAAAAAAAAAAAAAAJJZRRjIEjEyxgi4G4RWyNTac6y1i5tqqUJeVfU60sZYkcssVxe96j6jrXvT9tRc8tfU8FVqPdmT7m6peSqU1Tb4Rx6mJNGcMdNWsozjj6gjgog9E6jnQAGasAAWdJZugAHs1pAUGdppCoAspoABo6AAEuvoABAAAAAAAAAAAAAAAAAAAAAAAAAAAAAAAAAAAAAAAAAAAAAAAAAAAAj7FAEp8IyXMyYwix9zU+Csu9SC/zI+p2kcaC//wDEfLKXNeP+pH1axxU0KSXpSPPn8uuHw+VXP/U1P9T/ANzFdzO7WLup/rf+5rOuHw5Z/JNdjdUrudOMM9jX3RisZJfk+iFL1MakeTa5YXBg02dJhLCZObpVxC2uYym8LKPonUtGpqGgWkqSylDP9T5fGUYtOS9T6N0nqkLm3qW11LdHa4wWexxz/jdO2GW+nzq5i6FVxfvyaJR3PdHueq6l0OpYXW6cdyqPMWl6HmXB066z8pj5dN+ncaVCanksnPg3Ti5SzHsapRku5x129Usykc+wqKL5O9pzjKOUeVt622ok/c9JaVISo/U9PHlrp8rzuC/LkcsxaCkRyye+Wer5EnacsAdyTH7bskAAS/LmJ4eTk21xOjXjW9YnHXcym/bsa+Yu7K59/q9S9yqksxZ1NzJypqL+X0N21ShtXc4tsp3V26K/S8nl5s5jNPb43Hc85XK0i7uNPnKFXinV4/kdpUvI6bcwnZPyPmX3Mq1pSuY0YQjzDudF1LCra3FOnTmlFrnB8fKbyfqMJ64vWVetaVO2dTxf+Y+54HVtRnqV1Oq3lyOvqSlF7qjyWHnWY8Hq4sNPLz5C7AA9sxfOzAAa10wAAyoAAAAAAAAAAAAAAAAAABH3KANtJm7Jx4PBuTKyGUFwzERljJYKm4yN1K4cKyeTjOXJV3yLGpX0XQNc8Gjhz/T7nl9fvfibqTznzHDt7uVOOEziV6jnNtsnovswnIkcOJrm8sJtRLIzWT4ZCZyDKAIMgUjGSAUxZSAgAA0AEAEAAjAAAAAAAAAAAAAAAAAAAAAAAAAAAAAAABywXBMGVQDAAjAYAgBGygQZJkaRS5IuWXA0IQrQwNB6EBCgCZGQKAAAJkAMjIJkC5BMjIFBMjIFBMjIFBMjIADJMgUEyMgUgyCiFGCAUEyMgUEyMkooJkZCKCZGSmlBMjJlVBMjJoUEyMgUEyMgUgyAAAIAAAAAAAAAAAAAAAAAAAAAAAAAAAAAAAABYvD5IGsiiyaMMDaZLguIxeUWM9vLjkr5Mt/k24Q6WVhvWc4MnFSaZGsomCaNs3D1yYlTwsELUAAQABk31pAAGLF2oJkZJo3VBMgugABTUAAQAAAAAAAAAAAAAAAAAAAAAAAAAAAAAAAAAAAAAAAAAAAAAAAAAAAAAAAAZfobMYPyjdhYCWImseysqXFVP6n1Tp2Xj6NcL2ps+UQl5z6d0RVdbTb2L9KbPNydV1wvT5zqC23tRf53/uafQ5ur0XDUJr0c3/ucKeIcI64fDGU7TdgwWcmxwTgpZ5IPtJpUvcyylwY5MWss1updK+5zLK6qW1aFSFRpReWkcNJEg9snyc7Le6suo+raXrdl1LYu2r0oQqqO1Sl3POa70dVsZy8GbreuY8nk6V1Vta0alOUljnCZ7fQ+uZxUYV6UZfWSTMXDJuZb+Xiatpc0HtlRmse6NDk1xKDX3Pr8q+jast9arSpyl6JHT610bZzt3XsqvicZ8pjcny7cWVl/8fNHDLyng5dnXlCrGLlwaKtGdKtOm0/K8GrPh1M5MW3e49PLcOTHUemhUUjKVRROtsHWupKFvBzn7I95pPQV1qVFTr0508rJ0y8vGdWvmX8dl86eVjVjJ+hmzu9V6JvNMTlTpTlFd2dDCWyWyr5ZezPV4/k4ZdbeXn8XLDH20zBcNywuV7h4XdnfLKPHJdo+xFLEHkxdWK9TDfWrzUadPcn7HO8uMerDx8uT4jXVnNxxTTcvod3YW0bWhGvJLfLv7muzs1atVqi/MX6GZV72E5Y3JP8Awny/K5N3p93w/F/XN5OZVvoWNvUbipSmuPoeIuLqpXnJ1ZOTy8ZPb2HT17rdOcp0ZqEFmL9zrq3S0aWqU6FduCb9TzY59vfnq/Dx3hy3bmm17Gcluj5fKfaLD8LrC8tlONw3n7nm+o+gKGmRlKFVvH1Z6sefCPDycWdfOewN1eg6FWUJcJPCNEniSXoevj5Zn/q8XJx5RQZYTjkjTSydbufLigAIoAAAAAAAAAAAAAAAAAAAAyEVPBti8mjJspyKabjOSSSMEYy8xCMtiYSwyJ4WCFlSs1LDJLLMc4LvLamqmAsN4DkYJYeTN21GT4ZC9yYCaQFwMA0gLgmAaQDACgBMhVMS5MQKYlABAAAAAAAAAAAAAAAAAAAAAAAAAAAAAAAA5hGUjMqMhWQCMBgCEKCwYkMiFQXcyZiu5kwMWAwBGQyIBiCgC4IZEAxBSACFIBCkKAAAAAAAABAAAAAAAACFIAAAAAAAAAAAAAAAAAAAAAAAAAAAAAAAAAAAAAAAAAAAAAAAAAAAAAAAAAAAAAAAAAAAAAAAAAAAAAFAAAAAQAAAAAAAAAAAAAAAAAAAAAAAAAAAAAAAAAAAAAAAAAAAAAAAAAAAAAAAAAAAAAAAAJcMegfJC49FIrzH0HoS4UaF1Bv5otHz5Hp+kbvwrxQz80sHDkm63i1dU0Phr3lYcnk87ndLDPc/iPaOF/bSguHBN/seG+WoawvS5Czux6FMm13MTbkAAqozHDXJm1kJpcMERSzwzNRlHmJjtXdBVGgrfmcYKSb3Z9z6f0fdOtp9eE3nFKX+x8qxU+bPlPo34fz8WN1FvtTf+xyyxny7YV4TVJVFqNfjjezheFCrzI7zqGnCjeVfLhuTOipKU48GMpNOnHl2+q/hh05Rq31O4lHMXjnB9yoxjSgqVNLEfofO/wALrVw0ihUfc+lqMY845Z8fyLZX05ZY4moWlK6tJ05JZlHHY/P3XOiw0vVsKOG8s/RVRxjTlN+iyfE/xJnHUdUUKP8AatYTLwctw7ScWHJ1XgYu5VupQQo2t/Xk3s4OTQ0DWKVNOcsw9sHLem6s6ajby2y+x7f8q1wy8LilcanYU4P/AJnhepsne2dh/wBJLMl7m2h09rFSTVzNS3duDsqPSStvPdKL9TlfItd+Px8J8PPxutS1G5304ptnsenuhnqdaNS5pvd3ZjY0rWd4rS0pONX0Z9i0GyVtYU21ipjlnnz5LXbOSTphpWlU9Oto0YRSWMPg8V17o0adzG7px+RZyfTZOMO503UllC+0iulHMtvBymV24Y15HozWZTsoR3cnqL3QLfV6Oaqzn6Hy3Qrh6ZrkLKbxj0PsOnXHjUYqLNXJux8e676Gt7ClGrRg/d8HyauoxqOK9Hg/VnU2mO/0ytvWdsHg/MeqWDtb+rGS/W/9z3+Jn28XNh062OVwVyk+H2MarcavHYuco+nbt87KaoAAgAAAAAAAAAAAAAAAAAAAAAxM4MxaCeAOQmDCLMwAAAMgZABAQDIEAFBABSAgAEKgBCkAhCkAAAAAAAAAAAAAAAAAEKQAikRQKQpAAAAAAAAAAAA5hGUjMqMhWQCMBgCFIUsEIUjKgishWBiwGAAHoAIARgZBmIApGCMAQoAxKUAQFAEBWQAAAIAAAAAAAAQoAgKAICgCAoAgKAICgCAAAAAAAAAFaTxyCIDNpU0scsiTm90lgLpiBLO7heX3AAABAAAAAAAAAAAAAAAAAAAAAAAAAAAAAAAAAAAAAAAAAAAAAUAAAABAAAAAAAAAAAAAAAAAAAAAAAAAAAAAAAAAAAAAAAAAAAAAAAAAAAAAAAAAAAAAAAAAjyJcACowOfpFw6GpUOcedHDM6D23NKXtLJjKdbbxr6h1fRV9YQuEs7KUef5Hy1LdyfV7Ka1DpW4fzOMcHy2vTdKq6b4ZjFqzbTFbptB8Mi4m0U7RzoAAGcBQ3cgAVraY5XsUAYNyn5U8HrOj9S/h1y4yf9p5f3PKuG3zrl+xvpXL8SnKPDhJPg45bdcfh7jrnS9qoVqcMqa3Nr7HgpRcMpPB9Z0W/t+oNFrUbqUY1YQ2wT7s8BrWh19OrSUqctuW8s4/LfH8vqn4X6vCnaUbepNLHuz6ZLWbWDeasH/M/NfS9zcxuo07dSlL2TPqFtoE6lt8RdXdSk3FvDkz53PJt9TDWtPVa31Rb0rOrtnH5fRnyyznHW+oadedVRgm08s4+qW1zVufh6NSdRN7cpnZ6N0HdNKUpVIN892YmtOvrqdPoPwOmwo7JVKL/wDcdbc3Om2GZKFKf2Zxo9BVqtPbK9rL/wB7ORP8OIuhzeVJPHrJllkc7jXS3fVFtUfh29i5PtmKbwcWjpOoa1XjidSlGXo1g7XTtLj09fKnUpqpGcsZms4Po9rQtasY1aMYcJdkTKwx3HQ6B0nR0qnCdaEalVfqfc9PDFNZS49jN88JcEnLZBcZOdq3JXz3WTTXourScPRlhcUm8b1n2Nzk1FtLIlZn9vivVVstM6mlcLjGT23Sl87ilCTnhNHnPxEtFOVW4k9r5Og0vqKrYWVOFqvFqLhxRfluXb7RfXNBWdSE6sFui1yz859f2cLbUt1KpGSbb8rPewjq+v0/zqVajFLh5xk+f9a6ZLTL2FOpVlJyX6nk9HBfWuXLjuPI05KXzLkzntxwYumovfkOCxvT7n2cO4+TyTVYgA25gAIAAAAAAAAAAAAAAAAAAAMxMgBYM2p8GkqYG4GtMyTAr7GJQBiCkAAgAoIAKQACFQIBkQxDApCFAAAAAAAAAAAAAGABCgCGRACAAFIAAAAAAAAAAAAHMIykZkGQrIBGAwBCkKWCEZSMoFZCsDFgMAPQD0AEIykYAAACMpGAAAAAAAAAZCsgAAAQAAAAAAAAAAAAAAAAAAAAAAAEAAAAAAAAEcIGa2sEa05KosrjJzaVtXvq0aVvHduOJLzNJHM0y9q6bf06rliKDTZeabcWFNwrw2tHXHa6xqtTUriVTdmDOqCAACAAAAAAAAAAAAAAAAAAAAAAAAAAAAAAAAAAAAAAAAAAAAAAAAAAAAAAAAAAAAAAAAAAAAAAAAAAAAAAAAAAAAAAAAAAAAAAAAAAAAAAAAAAAAAAAAAAAAAmQDOHkEfcutwny+kdDXSqaNXtpvmbxj+Z5Hqi1+C1yVPGFydh0ddulqNGinxKRzfxDtP/ABadaK4wzheq6/TxO3zuQM8/lL3MDtPhyoACgAAAAAtPLnh9i+Et+aXLXcjeyOS+eCUoPG7uMtabxrsNP1Wdnd0p0pcxfPJ9KtdQ0zqS12alUUazSWEj5O4wS3RXm9TdbXF1RkqtOeGjhcNtYZdvo2jadb6N1Q3b80V2bR6nqCvqVxZRdvTTglnh+h8f/wCJLmHPifme56S365rxsVTq1c5i0eHn4bXu483pej5K5v34/wA8Zn2WlTh4cWkuy9D82aB1LC11RScsKc8n3jROoLe9oQSlltL1PFlx3GPX7dPQKCbzgwcZKTwuDJy3U/I0WLaj5msmO03XSa9pVO6t5VUvPBZRwulLpqzqUqzxPc0l/M7+7mo2tVN91weFoanR06/VKo/M5NoatNV7/wAWNCl53g81rHUkbGM3vwscHWa11NGhTlUlPye2T5xqt/e69V8O1k9qee3oX9dX1r3XTes3WrahVb5hGXufR4T3Qjt54PkXT9zHSKDWGqkly/qd7S1q/rUpRoVGpPsX11F1qNX4heHKlVVV4jyfKum66odQPDzTysZPpk9A1jWK3/PTU6Uu/B851K3p6Rr86NNYcJL/AHNYxcY/Qlg92mUHGK80PY+P/i3p1L+IUq1ThqOf6H0Lp3XqVTS6UZS5hD3PnX4o30b+utryksf0NYblTlx6fKak6VSLjTeSKWIKHsa6fhUZbccm6VPjxF2Z9rg7xfG5vliADs4gAAAAgAAAAAAAAAAAAAAAAAAAUgAyRkjBGSAyyTIyQACAAAAAAYEyMkAFyCFAgYDAhSFAAAAAAAAAAAAGAwIUhQKQpAAAAAAAAAAAAAAAAAOYRlBkYsFIAZCkAhljgxMs8FGI7kbCGxcYGMlfYIsE2kawZmEgh6EbKuxjIKDBimZ54AxAwAJkAYAAYGAAGAAJkpAHcYCKBMDBQBMEwUATAKAIAAABQJgYKAJgYKAJgYKAJgYKAJgYKAJgYKAJgjWDIjAgAAFTwQAKnmaceMGamnQcZcy9zABdrF4p7X3IAAAAQAAAAAAAAAAAAAAAAAAAmSsgDJckAFAAAAAAAAAAAAAAAAAAAAAAAAAAAAAAAAAAAAAAAAAAAAEAAAAAEAAFAAUAAAAAAAAAAAAAAAAAAAAAAAAAAAAAAAAAABcEwUCY5X5XGb+UwGUu7b6ZL8VL1XZ9OVPB1q3z/iPcda0FXtKlxxjB890yttvqc+2GfR9XpfGdH1K+7/8AuDhnrbrjOu3y3PPcolRUV8xN3GDrhNzpn138LgNYIuTJQi+8i2WJ61hu5GfoZTppLyyywprGH3JufbXpudM40sxzlGO3nGTDOX82DNwiocT5HtEnDnWcYLOG+BjDxng0bsLGTZHCWW+5iZS/J+rOEltffJg3Pdw2o+wjHEs5yZSmt2MF9sY3OLKVikpTw+/uXlvbnhG6lp9S5fkzz7HqtN6Iu76EM0ppP1PLy8s+nq48LHmLS3rVJb6cJPb6pdj12kdSXWlJKXiNL1wfR+meg6Om6XcxqpTnUhxuXKPGdQ6TX0unVpRtXJNt7sHiyz9unuwn9vRaT+IcZziqk8L6s7ar1lGo04VV/JnwS5VWLb3yhL2ydvov50tta6cVju2Z9I6vrmpdYp2/lll49DwF/r1SvcfEJSzH6HJttOtFzO/Tz7tnGv6NtQvoU6VSM4v2LJIlcS3vrvUr5SqzmqD9JcI+h6NqWlWlGMZW0HJLmXueTuLelc6a7WhiNV/4e56fSeiqtXTaTlUmm13yS5SJvTvv43o+N3w1N4OLX6o0+M1KjapJeiTOMvw/nCWVdTefTLNv/BjtFvlNyS9zO8S2WOq1rruXw0oW9KpTl6NJnnaFm9Zfjy/tJcts7rqO2o22nzajHcvoY9N0N1OM2sJoz/8AhjK6tXt1pW6klUknwsI87rkbq5pyr1JSSXOGfTriNGGZTpR49Wj571nq0J1lRowjtaw9qO3Fhu9s8uXTxdGEKi3PGSzyuM8GqNNxluzhGxqOMqWT7HFNY6j4vN/sxABpyAAAAAAAAAAAAAAAAAAAAAAAABgAAXJABlkuTFFAEwUAAAAI+xSMCAAAAAAAAmCgAAAAAAAAAAAAAAEwUAAAAAAAAAAAAAAAAAAAAObgFIzIhDIgEIZEAxDRTLHAGrBnGJkomyMQMdmUVUjkU4ZZuVI1FcLwuDB0jsfC47GEqX0Bp17hhGuUTnVIYZx5xCONgqRm4jAGOCFDAxGCgBgYAAYJgoAhCsAQAAAABAAAAAAFAEBSAAAAAAAAAAAAAAAAAAABAUAQFAEBQBAUAQFAEBQBAUAYgAAVEKgAKAICgCAoAjIZMgEBQBAAAAAAAAAAAAAAAAAAAAAAAAAAAAAAAAAAAAAAAAAAAAA0AAGgAA0gAAoAAAAAAAAAAAAAAAAAAAAAAAAAAAAAAAAAAAAAoANfsjV6BxjkElj1OWWfbMntdM6MtlVNH1C1zX/D+af/APeD5dGcE8n03R5Sq9DOMfp/sefk5cY+hxeLllHzW6io1pR9jj5WcHaXGk3la9ltXf6HPt+kL2ok3Hv9Dy5fkJxvRh+Pzt6edTRdu491a9FTwnUp/wBDs6XSVnTX5lIzl+R3Hv4/xV+3zalRnu8iyzOnpt1Uk34Z9SpdP6ZB+WlycmlpthDKUDx5/ke3px/FR8o/g93LtTNFa0q28sVI4PrV1QsrahOW3GEfO9Wn8fqSpUPXJ24fLuTHN4mPFHW2mm3F/U2UIbmcyr05qCikqLyj7F+H/RtOhZ0ru5p91y8Htp9O6ZlydNf0On77t4bhi/MEtHv6MXKrSwkdp0303U1u9prY3BvDaPr3V2m6ZToSpUYeaSwb/wANtBp22nOq4edS4ZnLyKzcY02H4a2trbxkovxF6YOwtLy60SuqV3RjTt84hLHc98vKsy7nVa1pdPU7Z+LHcoLcv5Hmy5bUmo5FCvQuKcJQa5WTqupbOzqWdSpcYjFLl4Ol0jW6Ng69K6fyvEDz3Uuv3OrXXwFrPKqLsawve25k+adV2tlG7qTsp7vY6XTLK+va/hwg+PZn1a3/AA1vK9spzpJzf0MtP6QutBvHWuIYpt+x192tvMQ6R1F0YyVOWce7N1l0zXhWU7yMotH2XS7mwuqKpxXmSwdjLRLOuvzoZyYyyS14TQukbapUjeU25M+j21GNC0hTwlj6Fs7K3saShRjiKNsYyc25fKcrazanhwgtx0+q30djpxxyjnX1/QoQcZP0PD69qkKVKdeMsKJcJbWPt4rq2/jG5nbVJYRssdf0+y0ymvGxJI8J1JqVXUtQlXjLMWdQqknHFR8Hv4+DcLz+r2usdZ1qsZQpNNdkeLuLutcydSp3yatspPPojGU3J7UevHikeLk59s1N1aLXqa4x28PuZw/KfIabm5ejPTj08mWWwAFYAAAAAAAAAAAAAAAAAAAAAAAAAAAAAApABQQAUEAFBAAAAAAAAAAAAAAAAAAAAAAAAAAAAAAAAAAAAAAAAAAAAAAAc0FIZEIUAQhQBiXcDJQyKMqaycmEMmunDByqa5Nz4WN1KklycmnauUljs2KFJVcRbx9TtrS3lKpCEY7sSRyzy00493pU6MKc8cPk4lagpRzGOD6PqWiupp1KUY5ew8bWsrijuhKhLv3wZx5NmnnKlHEeUcKpHGeDvLii4JqSwzqa0cNnaJXXzRj6G+pE477hmoGUgECBUEoAAgYmRiAAAAABYAAKgKAICgIgKAiAoAgKAICgLEBQFQBgAAAAAAAAAAAAAAAAAAAAAAAAMgAAmEMIoAmECkBAABoAAAAAAAAAAAAABgBAXBCkAhCsgAAAAAAAAAAAAAAAAAAAAAAAAAAAAAAAAGXCWTFyXsTlvBsjBLlsqMMCK2yy+UWX0McuPOMmLWozU1427a9pMeJN7XgSrbqe3ZhkhRa8zbWRKulnFway8iTyHBt574DkpG/plAAQAAAAAAAAAAAAAAAAAAAAAAAAAAAAAAABAqWWkQcrsGm2cVSXPJp3+J24J4mf7R4fszdb21a5qKFKlJp+qPL5HPMK93jeJlytSyvqbLe3q1qmxU58vCe1nqtL6R3balWbWfRnsbTS7a0hHNKDx64Plc3nyfD73jfiO914nTeibmu41JVEl3w8H1PQtAVnoaoz2yj7I4dOi7qcY0o7V24PZaTpsqOnqM5Nv6njz8m5x6uTjx4eniK9raU7mUVQ5X0N1Cg67UacHH+R2l7aJX8uOMnfWlvRhRg9sc4PNjLlbt3uUwxlk+XSW+gXDxJ1ODnrRcRxLDZ2++CWMpEdalHl1EW2R57y8m+nRVtFUU2kjoLq2dlOTm+H2PZ3Wo0I08KUWzwvUuoRdKTTSwjEm69PFycmt15PqXUHbpwUs7l6DoHQparqtG5nBuGeco86pVdZ1SFHD5ng+/dC9PR0fR0pQW/h8rk9vF08Hm8vtNOB1NrsOnbB0afG19onjY32sa091vfSpR74bwcjrmjUlq9adVtU2/XsdD8TO0pU5UW2voeqV82SuVe2Grq6ozq3E6sYvnHJ9W6Jrr+GbHTcXld1g8DovVVGk407ijGWeMyXY+kaNe2VzSU6M6cX/hiYzi+r0OVJ4NVapHwqkXhYi+5lvW3judDrt5so4hLD9cGMcE9XzPrO+jRu9tHyty7o7XoLSleUleV0pyi+GzxvWNeMr+ilPOZcn0r8N4bdK45WUbymsT1097R2qGEsI1XFpRuYuM4KRum8LymUeI5ZzlHitY02pp1eFag9kE8tI7vRdUp6hb7t6W3h5Zq6grRnaVItLO3g+aW2svTJzouthyk33NTtX1+4v6VvF8qX2Z1V31BBw2xi4ng/+J5QWVLxH7HV33Vl9VThSsJv6pGpij1OqaxGMJTnNPHPc+X9S9Uqu5UabeHxwatZvtUqQe+2qwUjxtWNWNRyqKWc9menikXPH+DanKSy2YOLz34NXjTnPGxpe5uljYsPLPqcWtPj825Uy0RJEyU76jjZV79w+wDMs7QABQAAAAAAAAAAAAAAAAAAAAAAAAAAAAAAAAAAAAAAAAAAAAAAAAAAAAAZCgAUDAGIMsEwBAXAwAZCkAhkuxCoAAAAAAAAAAAAAAAADnkKDIxBSAQFIBBGfOAFHkDl0nk5VJZaOHTkkcqlLlG58K7rT7eNaoos9vodlYQqLxKnJ4C3uZUmnB+Y7ahqE0oyUvN6nn5cbfhuPsKjRdtlNOMUeN17UrZVHGk4t/Yx0nXZ1rGtCc84jg8pf1qTqyk/my8HHjwyl7OnB1Cr4lRtrB0dfuzsK9bc3k66tJcntnwzXDqs4zXJvqvLNQSsSGRAyxBQC1AAEDEywTAEBcDAEBcMYCoC4GAALgAQFAEBQEQFAEBQBAUBYgKArFkMmiYYEBcMYYEAAQAAAAAAAAAAUAAAAAAXAwGUBcDAEAAAhRgEQDAwFAMAAAAoAAAAAAAAECgCFIBGQrIAAAAAAAAAAAAAAAAAAAAAAAAAAAAAAAABcpGOXIkotmUPKLsZrEV9SPfnOPKYRb8ROXy5PVaKtIuZRoXCzKRytbkdPpemyv7lKMcpl1W2lavYlymfben+jbCnbxuLalhejwfMusdGvbTUq05RxScuODOPJjbqLY8jSm9slLg17drMq8ZQlH+pG8neMVAAEAAAAAAAAAAAAAAAAAAAAAAAAAAAAAAABAZa5XcDJL8N4/Jb0FfXUFV8vpwfQdEsqNjCOxJ490eDs5P4uEl8qfJ7uzqKdspRPzXncmW+37P8ZMLHqElUpKSWPsVT8XEH6HCs7ndBRbOVFpSzHufGzu338cdTcen0G0jCm5y9Gel+Jpxp4zweEoapWo0nBS7nc2Ny61jmo8zPRx5yR8fyeLLLk7cPWL5wrydLDeTRS1uvGCWDrryU3fTXoaZNwxn1MZc2n0sPFxuE27aprVzLsjjSv68/myv5nDdVxaNibmsM8/7MrXacGOE+GXjKTeZvOPc8J1Lq7dTwYSzzg9PqldWlBzTwz57Toz1bWVGHP5iyfR8bD2x3XzvM55hNSPc/h100765jeTh/Zy3H3qlGKppJJJI850doq0jS4rbt3wTZ6CO5y8nynsskfms+S55dvC9f6DO/spypQy8vsfIfGuLetK2nHiHHJ+l7mnCpScanyny7qzouTc7myp+Z8t4N4Vd6fP8AwreUHKpUcZ+iOx0HXLnS7qDjJukny2zoKzVpcuF73TwjG61CjJeHbvys6WNTd+H33S+pra9tI1FVTqv0PIdU9QK3k1Tlmc3jB830/qCppiTU8Y+pv03W7XUNTc9SlupqScTGq3q/09BZ9J3Wt29e9vKcoumt0Pqel6F1eWmzWnVsRcpYSZ2FTq/S6ejuhZzx+XjueW0bTL/VL9ajbrKhJ8kyu+mK+2boxjvzwN2+L9jzlldXdNKndvj1O5jcwnScaT5wZkYeY6qulSoyw+yPmtjon/EerQqNy2KTTaPYdXXHknCT5fBv/DTT1/DqtWS8+94/c3Ol05tv+HOn0cSdSf8AM7q16TsaCW1J/dHfRi5RxISapozck289qPSdnqEFCpBJJekT571P+GVJbp2cXOWOEfZYttfcjhEuPJZT2+n5R1LpfVNPi1VtnGK9Tz8U6VZqXf2P1xqehW2qRlCvDdFnzXqP8KoVVOpp9v5+/Y9fH5GnLPgxyfEm8sHc6t03e6TVlGvDCT9jpU8t/Q9eHPt5c+FkMmKazgyfCyz2Y2WPJlx2fQBDzvgs04dw5oCKSfYpdGgAEAABADAwNgBgDcAAAAAFAAAAAAAAAAAAAAAAAAAAAAAAAAAAAAAAABgAUAIpcEKBMDBcgCYGCjGQMSGe1mOAIATIVQTJQAAAAAAAAAAAAADsCFwDIxBSYAhDIgEKMAsGcXycqnI4SZthPBV27KnUSeTk06+MnVeJxwbaVRkpt31hqToQqLPc4lW58SbbOA54aw+5Kk8RzkhtsrTTlwcKrIeLlGmc8mjbXN8mtmTeTEJsIUgZqAAMgADQAAAAAAAAAAIAAAAAAAAAAAAAAALAABdgABsAANsQAGQAAAAAAAAABdgABsAANquxSLsUIAADEAAAAAABNATBRgaWJgYLgYGlTAwXAwUTAwXAwBMDBcDAEwC4D7AQgIAIAAAAAAAAAAAAAAAAAAAAAAAAAAAAAAAAABSFRC29JKM5Fhv+LhseJejOMzbb1fArRqexyym3SV9ZpdWT0jpiNOVXNRez+h5C76rp6hKXxCck/c85eXtW5zmUlB+hxpwUoJKWGYx45Phdtl5cQr1s044WTVJp9icR47lawdcWKgANIAAAAAAAAAAAAAAAAAAAAAAAAAAAAAKiFRADMX2MmRdwqUZunNHstEuN9CMMnj5pbkdzodzsuIxbPhfkOG2v034nmlnb2lvU2VMHcUmpRTOhjz5kc60uGnhn57PH1yfq+Pl3OnYv+0R6PTlizTPPxSk0z0Fk8WOTfHNvPzzvbo7zi8mzj1PO19DkXv8AbyZpp4aZwzm69XHluSG1NZIp7Z4LTeco0Xc1Rg5t9jpxTd06c3J64vNdT36VN00+cnY/hloDvdQq1pxyk8rJ4+9qz1HWJUY5ayu33PvfQ2jLTdPo1dvM48n1+LH1x0/MeZz+2T2FCHh0Yw9EsGxrDynwZSSdPj2Or1PUaem6fUqVJpNe5q9vld2rqF/S0+m61apFx9snybq/8TKE1K2toz3Ly5imzznWHV9zqd5UtaE5pf5WcTQNA8Wo611LdnnzC5Y4Tb2+P42XJe3RqyvNaufEzJJvPKO/s+irqUVJ1I/zweml8HYQ4jTWEdbcdUUqVTZFxx9DH7rXty8bHjjVLoatOnl1Ifujjz6GuIQlKFWCaWe6LPrbZPw1yR9VuVOTz3TLhyZVJx4+riaHpF9LWaVKdXfT8TDS9j9E6RpVtYWcIU6ajmKbwfIPw2ure6ua868oqW7K3H2Wlc0owT8WOMHS4/b5XNLMm6dvQlLmHJ1WrXFO1o4pLDfHBybvVKVGm5wlGb9keQv9U8aVSVV7FhtZJOmJL8vLdSzqO8oxlUz4kuFk+hdE2jtdLaaxnk+ZWdtX6g1qDSlso1D7Xp9qrW0hBL9KLkty25ke2TCrHckZx+UuMoxWWMViKKwUIxI1lYMsEDUroNW6csNRpzU7eLm13Z8d6t/Da4spyr0Eti5xHk+/7U/U1VbWlVg41aamn7nTDk0WSvx9cWNaM3BwlB+7WDiyn4L2T82D9G9Xfh9Q1SnUq26jSb9Io+Ma50ndaTKSlSnKK/U0e/j8n6ccuPfTzsvNBOHBIU5vLnLKI4yUnF5WCqbpyUX6ntwzmTw8vFcWXDltisBra8M3+RU96aycdy3PJ3t3NPNje+wgIZmLV7UZJkG94/aetZZLkxyUmpU6gBgYJ6ruAAL0bgACIAAAAAAAAAAAAAAAAAAAAAAAAEZQARQABDIgAoKBAC4DNQpQBMAuAAKu4HYCswZkTAGGDHBswTaFjDBS4JgKAAAAAAAAAAAAAOywQpDIhCgCEKRgTAZSFiMMmSkGiYKbbYzwbY1DilUmiG3J8XP8jGdfcsGhNoxwNG2zdwa5SDZCiZKTCKAIAEQFwMBNIC4GCqgLgAQFAEAAAAAQFAEBSMACcjkCgnJQABAKCeplgCAAAAi8AQDJMgQF4HANIC8EeAaAADQAAaAOC8BEBcIgAFwi4QEXYpByFUAAYguBgIgLgYAgLgYBtCjAyFlAMjJF2Ad+wwwAAygAMvQxbChJdiOTMXJsAQACFAAAAAAAAAAAAAAAAAAAAAAAAAAAAAAAAAAq7BhEIyMxlnHHcyYXA03KviTnQ8NrktOEEuZckTaln1MWk3ksi7ZwpU1luX2I3lkayC6jNoACAAAAAAAAAAAAAAAAAAAAAAAAAAAAAAqIAAZCgojeWbbeu6FZSNMs5yiySlRz+o8vlcfs9/ic36695pl2q1vDk7GPlkmjx+gXjjNU6j4S4PUQqtrPp6H5TzeO41+3/Hck5MXd29fMoxPV28caS5HhLact2V3Pc2U3Lp1uXzHHg+DysrMtR0ld7qjNKi45+plLcqrcuxIy3N5/kc7817uLC+sqRahydB1LqHg2lTDO8qeXmXynguqrlVruVCm/Izt4mFuTzefyeuGnM6C0v+Ka94kllPB+krGhG3sKVPCW2OD5h+FuhRoUKV04YbXc+r7OPsfW5JqvyfJlcsmqVTwaUpy7I+L/AIk9USdxUtaM+Gn2Z9P6m1D4PSbh5w1Hg/ON5VnrGuKU/Ny/9zPxNuvDx+1cvp/R3cVldVk+fc9HqN5T062Sg1lI2W8FYafFPiKPGahd1tSvnQpvKUsHn4sbyZ6fZzzx8fjlpc6lfanW8OjByTeOGdnpnQt5f4lcQqRT+rPUdMdP2un2/j3MMSxuXB6f+OKEPyJeVH1cPC6+H5PzvzUmepXk6H4UWmPEnUqKX3Z1eq/h7XoRfwsJzS+rPef8RVHw58fc5lHqHKUXPh8dzp/g5fMeGfm+/l8XpPUem7mP5corPPJ7PTuvVVpKnWq7V2fJ6fW9CtNZtJzUN09uUfGNU0d6Tqao1Y7Yts5ZYa6fV8fyceaPpdTqunTlupVt6+rPOaj1ZW1C4jQeFFySyvua9I0m2uaMXGOUzqNfsP4bVhUpLD3r/c8Fy/lp9meNf1+z7v0VpVvZ2ka1Fqcqkcyyux7VPKPm34aayrqzdOUsuMcH0lJYN5Pl5zWTL6EbwCtZMIAAqBCgKwcUuWzFyecJcGxxT7jCxgmjbF7WscM6bWtAttXtXSrQjHvykd0oJPJZRUlyJuVZX5v6v6DuNOrTq21GUo5zk8BXp1FNxqx2tcH7B1CzoXlF0qyymsHyDrP8OJR33NlR8q8zeD28PkTHqueeHu+MwaXlb4M+F2N13a/CXDo1VioaqcHVqeFD5j2zn63Hnvh2sSHp9L6N1G+xJUsxf0PT2/4dSUU61H+h5+TzdPVw+Ba+Yg+rPoC0xjwvN9jRV/D6CXko8/Y888y2729OX47T5iVHs73oO+ppulR4+x5u80S9sZPxYYR7OLy8ft4ObwMp8ODkEbS49SZfr2PZjzY5fDw5eNlj8ssgni0+z7mSW7mPY38uNx0gANIAAAAAAAAAAAAAAAAAAAAAABQIVDAYQKQAZEBQbCkANjAKECkGQBSZAGRGAwIijBUAwMAoIwaMGbnEwlELtrAYQAEyWPIUBZLDIAAAAEAHZ4IZAyMSGRAIQyIBiCgsSsSGRCohCsgAAARkMsEwE2gLgYBtjgYLgYCpgowCgAABMFGAJgYLgYAjRMGTIBMDBQBMDBQBMBlAGIKAIUFAhDLBAMV3MzEm4LGRGTcTcDQ3gm4jeTEGmW4m4hAMtw3GICstw3GIAuRkgAyyTcQgRnuLuNZQaZ7i5MBkDZkZMMlyBmimCZdwRnguDDcXcBcDBMjINLgMmQSmtgAJtfShNpQNnpU2jaUDZ6Uj5Stk7kLE1YuCbRuwTxAGcEbMXLkmSqrIAFAAQAAAAAAAAAAAAAAAAAAAAAAAAAAAAAAAAAABSFIDSMFZAaUAF2AAGwABAAAAAAAAAAAAAAAAAAAAAAAAAAAAAAAAUAAu4BdsMxjlVMPsWf8AaL2M5x43I5cndamWmKryt6qlF45PcaZcRr20eecHhpQ3wR2Gk6lKjWUG3jOD4/meL7S1+n/GeX66j3tm/wDmYQ92e1qz+G0OR43SttxdUZRaf2PV6xPbpsqXZnw7hcK+zc5yXbrPGjWorHc11U4bcHWW9w6U8NnaU6ka0Dh9vqceWsI0alWUNPqS9Uj59Y0p6prUIPzZPUdQ3fhUJ0890aPw6013Wu0Kko5jk+l4nHqbfD/Jc30+6dJWELLQqENuJI7yc9uDTQpqhSUEsJGco7l9j0ZXdfDnfb55+J167ezlCLxugfH+l6HjVlWlzyfSfxcqPyRX+H/6HgukUvh8euScl1i+h4MmWTsupLvwbBxg8HQdN0o1LydWSy+52fVacbR/c4PSMd1xPL4PT+Mwly3Xk/8A6DPPj4+nuKd261Lw1lLGDXtdF7W+GSbiklDGfoRJyWJPn6n6bL1k1I/mGfLnnlds8wa4RjKMuHF4Hhe0iKTi8GsMZp5uTLPe47Gw1CpTThOTx2PP9aWELq3neRSzFHYObjJNI6/X7v8A8Nq036o8XlcOPrbH6T8P5VmUldF0rfSjCFOTeTtOpraNayU8c9zoOm2nexiux6fqD/8Abor6H5XPLXLp/UuCTLx9svwrvZU72tTcuN2D79B5pxf0R+a/w+qOlq7S9ah+k6P9hT/0r/Y9OfxH57l/3rMvoQvoc2AAFQAAAAADGabXBkYVJOMcpZFESjLuuUaLqNOtTdGccqSwb1ys5EUpctdjM3tY+Sdcfh/CpTqXdtSSkvY+SWkIaVqrhdUpPGOWj9aV6FO4g4TipJ+58t696GhdW06ttBRm8/KuTvOS6078GeMy7dZo+p0qtvFWzUWl7nOne3Of7U+W2V5c6Bezo1t+M45Pb6bdK9gp+IeDyMsn3PGuFdu72suN/Ije108uZonT86kpcEa+p4ZyZvpzgwym658dTSWKmWYVKWnXq/Mo5+5wXKEFmTRxK+rUaHaUf3OuGXLfhx5eDhnyx1Xoy2vKcpWkIQf3Pn2qdL3mmVZTqSzBeiPX3HVqt6mYy3JemTqNT6vp31N05W659T6nj3l62+L5XFw96ePqTpPyKGJIQUorvwzK4nCdRziksmCjv53Ywfb4srrt+e5+LHfTIAHqfOAAEAAAAAAAAAAAAAAAAAAwAIAMgQqCBQUImDIYKBAUAQBgAAABQUCBlDAhQUIBFJ6gZGMkZoNBXHcSNG5xNclgLGtmUSYAVZdyAAAABAAB2pAQyzsBAU2MjAGjYQEwU2pAQAzEyAGIKAICgqaQFANMQUgUACAgMgBiUoAgKAIyFZAAAAAAAAEsgQuGXsNwGIyXuYtcgXJG0YuWDBvIXTOUlg1ZGACGWTLKAqx7F4MQBeCAAAAAKQAXgcEAF4JgFJsiYLgAbTY+xjhmQJtpjyXkoLs6RvBVl9jLFJx5+YxUZxfl7FLIryu5EytSa8xhuiuDPsTHbPcXJjsbhlGhTmp4fYzc3X9OvlvdRL1MlNe5I23jfKuTm0NGuKscqHPoZvJsxnHje64uSb4+529HpnUqjX5flObHpKsl+ZT5+xn3q3k4Z9vNupHHc1+Kexp9JQl81P8AoZf8IUl8sP6F96z+3i/t4zxB4p7B9JL/ANP+hrqdJNLMaf8AQnvVnJxf28p4jG876r0zcx7Uzr6+h3tPtDgv7Mv6Pbht+XA3ZGMmcrKvRf5kcGLqQjw2P21bxy/6sWmgot9kSNSMny+DPdKPydjrjnL8ueXHlEfl7j0yZYUlmfcxaa4Xylv/AIzJPsyCYLgJegFwVFXGbYgyIyJZUAAAAAAAAAAAAAAAAAAAAAAAAAAAAAUgANhCgGwAAAAAAAAAAAAAAAAAAAAAAAAAAAAAAAAAAAAAAAAAFGSScG33EHlYZiDNm7tFTxJr0MIJQk5Z59DIyUIyTb7rsY5cZljp6/H5rx3p7ToW+lVvacKvHmwsnu+qZqlWlFPjB866Hoynf06slxGR7fqS8o19SdBPLaPzvmcEx7j9L4XPeTW3RqLl5n2ORQufCTTfBocnF7P0o0V24wb+h8eS3LVfoprHDbpup7pVLqnGL7n038LdKX8Np3W3lNHyC4lG71WlDv5sH6G/D2lC00GNLs+D7PFPXB+X83kuWeq9guUYQbzJM2dnn0EklhmXi+I+UfinbucVKS4UT5r0xVjGooxfGT7V+IWnfG6dVko5xA/P2n1p6bqsaL45ZeSe2L6HgZeuW3ruprd1rJtI8707duhezpy45wevnOF9ZKMeZs8Jd0qunX8qk1hORvw+bHDLW1/N+NnzcW4+kU6cY01OLy2slUnUWWsM6bSdYhc0owUstLB3OUlk/VcOczx6fyvyfHz4s7uJDKqY9Cz4YXPKJHdKWH2N2ZYvLvK3Uiyk+ODy3U94lCVNPlo77U72na0Xh4eDwF5XqarfqMfNk8Pl8sw47X3vxXhZ5csruOkbbxK8KkjvepasaVolky0OxhYWMHJYqo6Dqa+Vy1Ri8vdg/J3efLt/VuLGcXi6tdt+Gtu7rU5zSyozyfouksUoL/Kj43+E2kOiqtRR78n2aKxFL6Htzu5H5rk/3tCgGGdgKgBAUAQAACS7FIwMIwSk3ksvYowNJbUS2rg11KcasWpRTz7o3GLeGIatfGvxA6IVzuuKMHlPc9vB860jUqunXTtquYrdt5P1Hd2kLm3nCSzui0fBuvejpafdO5o08LO7ODGWHv093i+V+u6rs7evCtRUlLK9zhXusUbTKU1lHirbqGvbWcqe7DT9zpbzUatzVc5PuZw8PdfT5vyOMx3Ho9T6qqvKhjB0NTUa9y25Npfc4m1Vlz3EG4vb6M+v4/hYyPh8/wCRzy+KynmUt29v+ZG21jBsnBQeEYntnBji+Vn5OeV+WrwvXI8LnuzaDpMI895MkBQWVm6QFwGb0m0ABKAAJKAAKAAAAAAAAAYAGJSgAVEARmioxRkgaC8D0IEUEKAZCgCAyAAFKBCgMCFBQgY+pmQCoyMSlExlmE4v2Nq4ZXyF24bWCG2pA1YwwoACKAACAoA7QhkQyyxBQWDHBDIFRiTBkQCEMiBUwAUDEYKTAEABQAAAhkQDEqAAAAAAAAAAMhQQQFAEBQBAuCgCPkxaMuxhJgTdgxczGTMH3CxnnJMGKZlnIVMgYAAAAAAAAAAAAAAAAAApChNgAGnSYgAGmclIUhis4y02fqKp+iMZdu5jBSnLEYt/YxeTTtjw3faymy0qbqzSUXn7Hcab07c31SP5c0m/Y+iaL+H3ljOp/U53lej248J/6+c22hXdzJKCeH9D1Wl9D1KiTrQz/I+qWHTttZQW6lGTR2dKzot8QUEcbyvHnyZ5dPnln0TSjJflI76h0jThjEEkenr1rOzjmVSnn7nR33VlKhFxpU1N/wCU5Xm13DDxcs722Lp6NKPG1G6jo1vn83a/5o8pV6sva9XbCzq4fqosNarfxzCVann6Gf312n47b2UtEs8eXZ+6MY6Lax7qP7o8fDTNXhzK7rEnV1C15lWqywJzZUv4zH7ewno1tLiMV+5pqdPRa8sUeTh1ZXtHidKcsfQ7Wy66p1ZKM6e37mpnlXHL8djHJqdOOTawjrLnpSrnOFg9baava3aW2pDP3OeoxnHKxJG5zWdV58vDuF3i+V3fT9CCaqUW39jzt30vTrSfhUtv3R9xlbW9R4lQj/M6+76dp3Cbp7YfY6Y8+P8A9M+3Nj8Pz7f9N16GXFdvodLKnUoScZxf7H3q96cVLdleIeV1Tp+nVUkqCg/fB1usv9Xow8uzrN8vcJz8yeEZKWFsfc7jUum7i3m5RlJpeiOompUvJKDTXqzWOWU6r0z05JuIU17i7jrK53jrYQxyZGnO9DMWZEYdPea0gADnQAAAAAAAAAAAAAAAAAAAAAAAAAAAAAAAAAAAAAAAAAAAAAAAAAAAAAAAAAAAAAAAAAAAAAAAAAAAAWxIFSbfHYhlDmaj7s52tx73oqknYVKsV8r7/wAzp+otTq0NedXf5Uer6WtlZdKXdSXzYyv3PnOqV/i7tyf9T5/kcczfV8TyPSvX6bfU72lHnzfU2ahJQt5/Y8PY387Ovw3g7681ONW0XPLifJz8X1u36Lh833xsdbo9KVzrlJ90pn3jSbqVioU84WD430faupeqrjOJ5PryjmCkvY9eGOo+N5F9s3tbPU4VoqOeTsYTVRYR8/o3U6DUlJnf6dquzDn6+5w5Oqkx/i5+tWvj2VWDWcxPzp1jo8tP1V11HCWfQ/SrrQuafp2PAdcdORvrWrOEVn6G8JuNcfJ6V8u0HUoulHL5Odqun076ju2pvGTyVxa3Gj3rTctq9Dv7DWI3FOMJNL7nkz8ey7j7fB5OPPj6ZPOzjc6bcZptqOfRHfWPUkfCxWbbOzqWtCtSbcYttHSV9AdaTlTntX0Pbwednw9V8v8AIfhuPl3ZHdR6ktlD1OJddT0lF+HlM6r+AVIrDrMyo9Pz35lPKPbn+YlmnyvH/wD5uS7sdfXv7vUq21SeG/Y7/RdI+HlGtVSbXJzLfTqFpFScYtowutUhTWElHB8jm8rPly/8fpPE/G8fB3pzdRvY04NweEeRtbatqurqNNN+dZ4+pjfXNe+m4UN0m/SJ9c/Dfo9W8Y3l1Dc5xziSOsxkx25eb5H/AMx7fpXSYaVptHEcSnBZPSmilTUUopYUexvMx8gABRUAgFAABAAAI+xSMEYmRCja0Mcc5Zka6vMcJ8l2luoNSzw+DouqdPo32kXEqkU5KHB30H5cHnOqLzwrKrFdnEuNuzGbr8za3bxtL2VJL1Z10XTccNcnf63TV1rqjnvkXnSdz8L8RTUtr9kfS8eyY9p5El626CS8NZXZlprfyvQlSlOnJ05p5j7loPZlM9mHLHzOXCybiybzyQs3yYneXceeVQQGMtxrTIAG9aNQDBGT3nwvpPoAA2zrQC4IVN7AAQAAAAAAAAAAAAAAAj7gZJmSMEzJAZkwChKFBQiNAuAABRgAMFAAMoAhQUIEMiFAYKAI+xYlaIuALKGUcapHBy/Q01IhqOMgWSwyEUAAAAAdqRlIwygKyACBgqITJSATIyCBVyCFADAAGLXJDJkKIMgYAZBcDAEGC4GAJgYLgYAmBguCAMDAADAwAQMDAAEXcy2rBj2MkwI1gxbwsmUjVOQElM1ykVswZFTI7kZkuwVMDBQAyAAAAAAAAAAAAAAAAAABckANbUBFRT2sElnkrjJdlwYyzjg3KtFU1HPJm0kuVaHJe/Jhul7cFlDlyZ2ei6XX1WvGmoZi3g8+eens4uORw6FhXvWlRg5Sfoj6F0t0NUqyjO6puC+p6/pboahY04Vp08VF9D3NOjTjTVNLseXLOtcuWpqOr0vQLWwpLywzjjg7anGMY52qOPoZRhFtb/Tsab25pUIOcnimu5xuXbx+kyvbZVrUqVPxJySR5TV+q/DzStNtSfbCOo1fXLrUryVjpr3xfbk7rQOjKcXG5vINVpdzFze7h4N/7PPUNO1PXa2a0KtODfdM9TpvQVGglOpWlL1e5tnqJRhptFOCSglz9jzGt9aQjGVHTqilU7Y+pyuVvT1/q18O98HSdLpYqOjlerijqL7quwt01aqjOXsoo8xZ2Wu9QVU76n+VLu02d/a9BaXbyVSspKX2Jq/23jrH5dNX6r1WvJqjpylH3UUcSep6xdZ/8O//ANUe3lLS9LppU5eVLng6+v1loNrnZXW5fRGsZm3+3B4yta6vXWHpzWfojpb7p7VmnONrUi/oe6rfiVZReKdaP9Diz/ESjU71I4OkvI43lw32+f2tTX9IruTtqrjn1Z7vQeuZpKndpQfbkxl1fpN35buqknx6HXXtp05eTUreq3VfbhdxZyVi/qz6j6ZZahQ1CCnTnF59jk5antPlllqVxoFVRztoLu8n0LStVo6lZwrU5bpyL6f28nNh+rt2Pw8HltJ59zrb/SKFws8J/Q7Le13JKnv5R0xyywu9vBlhjy/TwmqaA4Qlsp7l9jwur9NKcHKUdr+h9020pQcJ9zo9U0SlcKTUePsenDyJeq8+XHycXeNfnG9sK1pUe6DUfRnEzyfW9c0CNVShVhwvl4PnGqaRVsaz3RxFvg7Y5vpeNzY8uOr8uuSzyjLsTdsRN27k641z5MLjdM8juYlNOXqNELnghV7+wAAAAAAAAAAACMBkpCgAUgAAAAAAAAAAAAAAAAAAAAAAAAAAAAAAAAAAAAAAAAAAAAAAAAAAAAAAAAElwIvPcdzFvDKRsaRvsob7ykv8yOMnwdjodN1tToL03o453TWn0qrL4PputB+VyguD5VNqrJ54PpnXVZWVKhQi8KdKOf2Pl9TKy0ZkmTcyuLUo4qNenuHOe7GXj7ma7Z9SNYfl9e5jl4ZZ8PZ43k2W9von4f06dWlLLW7J9InHw/ymfB9I1y50a5h4LxBvL5Pr3T/UdlrNKLrVc1n6HzOSZSvdjlMvl2koZ49Da6j2xSfYtWlUhLMV+X6Mx2pry/Mcbhb3XTLqajsbLU61LEZR8vudrOvb3lBwlKLb9Dy6nXT2zXlNqqRo+eD8yGN10467dB1T0lTu3OUFy/ZHy+/0a70ytJwpzwmfeI3cqtPz9zq7/SqF7F+Iu/0NTPd1XThzvHluPjlrrdSl5Kqx6cnbUNZpSjjcju9T6ItajcqcHn7HnLjo+9oZdCk8IznxY5R9KeZb8uU7+i55c0jZPVraEP7SOTpv+GtVk/NS/wBzbT6Qvaj89Jnnx8WfbWXn+rG612WWqXmOAoXmp1V+VJRfqj1+mdDxynVpv9j2WmdL0LdKEIf0O/6McY4Z+bnZ1XQdFdJUqV1TuKvmfHEuT7XZUY07aEIRUUvZHTaVokaKjJRwejpxVKCRm/0+dnyXK7rLOMGSeTXJ7mZrgfRYyJkBGYijIBQyMgARvBHOK7srjkxlSi+WUSVRJeXlljNSXPc63U9QttKt5XFae2Me7PnOrfihbW9Sbtq6z6cl1trT6pVuaVL5ppHGesWMPnrxR8BvfxH1m8qS8CSab9zrK2va/dyzj+rLePTePDlk/R61zT2+LiLMoahaTnuhWTz6H5s+N6kjDNOHP3ZvodUdR2OHVSWP8zMySNXx8n6PlcQjGUlLujxPVN4p2Vd57I+eWv4mXr/Lr1EvTuZ3/VVG7sauamZOJ249bYvF6zdeKdSVXXIzx6s+v6Jc29zpMLSrGC+rR8f0rdcatCXeGXyfQ7ZfD4lDsfS4uH3x3H5zz/P/AEcklro+s+l4WTdzb+be8tI8BUXhzw+GfX9ZvfHsNs32iz5LdbJ3FRv0kzf6Li93j+TjzcW9Nae7uVpfpeTCOJRwuxE1SeTvhdTTj+u29NsYf4uA4r0fBjulVXBFvp8S7PuMqs4r/bbFRl2ZJR2mGYR/snlmtzryfmXBLyWs3gynw3LHuVJPPJrTWOe5lHnhFxx2xbZ0rSw2iU3FyxN4RnGD3Je5ujpda5ninHOS5fxJ3e0jbTbb2vZ6M40sqTWD6Iumqv8AAaT8Pz45PC3drVt7icZRxhmePk9rY3ljJHF+5fL7jyy7mDjtkdWGXOfoC7k44IAAAQAAAAAAAAMX3MiPuBUjJGKKBsismbjg1xZsbCVB2BQiJ5LgiRkVDAwUAQoAArAAhQUAQowAKQpQBSBFyYtZKA1HHqQwzV6nJqLKOM1hkaRvBVyGiLgCgAg7UjKQMjIVkAjAYKiAFAxIZECoCkAAAAQoKMQUYAAYGAAGBgABgYAGJlgxAAAAACAAADICvCQGMpcHHm+TOcvqapdgGQYlRGjBQAAAAAAAAAAAAAAAAAAAAAAAABVl0qKRcFJtmd1G0u5g47HufZ9jKS3LBydNtKmpXMaEIvhr0OPJlp7uLi625ejaTX1a5hGmvLnng+3dK9JW+nW8ZzpLxOHk1dF9L0tOt1OrBOUllZPb+BiacXiK9Dwcua8mfomPChldjLMNqaXIn5Z7nzH2MIw8VvDwkc99PNjn71ruJPw3UTxGCyzwWtaxV1PUY2VnJ7Z8P1Oy6o1t2jjZ0m3Kt5cx9Dk9G9Mytabq3X5lST3KUvTJjKvbx8H27HprpSnY0IVq1NfEr9R6O6r07Gg51WsJe5yJONGnhySPmvU2vVb66djb7m4ySbicfl6vbTRqvUV1rV27awm1GMtsuMncaJ0nRhFVruCc++TnaBoVvpNm7u5UHKcd3mPL9W9eQoOVvaxw2sZibw47yXUZz8iYTdep1TqfTenqEqfrH2Z881br6vdzk7aq4xfY8ZcXd3qNd1a1eUov0Zr4fkSx9T6PD4dny+bz+fJ8Ofc9Q6ldtpVuPU4Kj4jzU5z3M40lSWe+Qz6XH4+Enb5fJ5uef+rF0rdfp5MZUoNeVGx4SFGPjT29jV4uP+nD93Jftx1Spp+dZ9jepVaEXKm8TXys9BY9N/FxbVaOce5jddM3Fu/1SX2MZYcetO2HNyT4rpI395Xot3lTejs+mOrZafqvhTm1QWMI6+7tatJuLpyS+x1V3bOFNVKfEs90eDk4Pa9Po8XNcv8Ad+j9OvqWo2sJ033We5zoS8NNS9T5F+HfUcnWdvWm/Lwsn1rxI1oRlH2PLnx3Hqu19cO4y8NTmmiyis7WYwbhJeplJbpZzgxOnHL+fy6rUNKp3MHiPJ896h0FTUo1IZl+k+rZxw+Tr9Q06ndU35VnB2wzeTLhy48vfF+bNU0qrY1XGa/odYuFg+xdS6CnTnTdPMn2kfKdQsZ2VzKk03j1PZjk9eHkTkmvtxCmOSnaUyZEGAacwAAAAAAAAAACMoYEKQoFIUgAAAAAAAAAAAAAAAAAAAAAAAAAAAAAAAAAAAAAAAAAAAAAAAAAAAAAAAC7gYvgRWSzXJV5YhYrXGD1HRlg61zKq1/ZvJ5ak91TDPp3Q1qqdheVJLHkbWThyNyOp6/vlc3FLD+SKX9Dw0J7oYZ3Gu3LuL6cW8pSaOncfDlhdhxzRYsFmWC1It42+ncyWIrcSfmw08Hp6sZluNScoVI8LlHJsL66sMVKFTa12NHiQktijhv1NEnKk9nc8XJxS17OLl0+xdKdc2tzRha3knKqu7yevdPfBVqTWx8pJn5xozq0p76c3CXuj3PS3W9TTaqp3blWg+EpHm5eP1mnuwz9n0/xvGyllNccmG3bLbLk3W19Z69RjVtpU6LS5SfctSi6UXSfmb/UeKY7rrppU2pbYm1TcVmXKNahtWO79yYfqzWUk+GLNdt8atCbxt5N8dO8aOY4wcJOPosMzp1K0JqSqPavQxMbW8eXFzY6BKp8qRsh07Ui+UjZbasqeNyydxbatSq4TSRbuM5fz7cS30RRXMTs7fTaUFlx5OXCdOccxkv3MlF54Zn2t6ZvxpYRUFhIyccoq4QbMVnWmG3DMikJS0RSIyZUARFI1AAAa0p57mXbuFFrLyIvd3RR53rCyV/olWhCOZs/M2r2kbPVZ0K0XiLP1vUpwm8TimvY+LfiX0ju8S8oQw2/RGt6dMP9o89pFtpnw0JOly17ne2ltaTXlhg8Bpl/K1reBUz5Xjk9ZTu8QWyWMo8vLy5R9/xMMMo77waUKmMcCdlYT5r0tyZ1lG6ko75PJyoXkZrL7HinlWXt78/GxynThah0jZ3sHKzpKMu/J4zVdAvNO3KfMfoj6SqknFOnPH2NnhULqlKFaCm2u7PbweXNvBzeBvF8p0OvGjcRUljn1PoNvVjWoLazzvUfTU6M5XFs9qXpE67RNWqW1wqNZy49z73i+VPXT8N+b/DZZf8AZ/T0XUFdULP6tHzScn4893Zs9r1JfwrW1PGOTqdK0Grq9eMacWk33wenPn3F/FcM4uLWTqKdvOt5aMXz9DuLHpHULvDxw/8AKfWum+gaWn0Yu4Uaj78ntKOn2VCmoxtoJo8V57t6Ms5vp8Dl0LqEI5ikv5GiXR98k/Ex+x+hJWFCaf5cUdJqXT/iRcoPGPRHbj5d9V8/n5M8e4+D1um7i2y2v6HXVqNSlxJP9j67c2kbduNWnu+6OmvdNt7uLUaMYtnry4tdx5eL8r3rJ8yTTZs2S4cTutT6dqW7c4t4+h0k90G4PKxwZxz9a+jhy4c06Z06uKsXLsj1Oj6xp9pOMq8W8fU8lCOINt8hZnDh4N5fzievrX6FWvaNT6fpVp03tkn6ny7Xda0S5rVPBoyUm/f/APBwa+tt6JStcvynnp1Izk3t5OfFw/rtM8tlVRqzbpcLJrlTnH5mXD9HgjUvWWTswiccYXcpE1nGChAABAAAAAAAAAYBfQDEpGAKnybk8nH9TdFhK2BBFj3CGClkQqBQUDHBQZJN9kBA0X1x6kYAoADAKAIUFKI+xDJ9jEIAALEayaakMG9dxVj5SNOGRrkrypDuFQAEHZxlkz9DixltZtU8hhm3km3BYrJlLsBgQoKrEoBYIRlIygGCsDFgMAAAEAAAAAAAAAAFAAAAAAhWQiIyFZAJ2NdSXBlN4NEpZZK01vOTP0JghlVABQAAAAAAAAAAAAAAAAAAAMEYApCgUiltZSTWUsEpLqk48pj5nkqe5YMZpxptLuc8stOuOFyu2cIuVTEFuZ9d6A6QVFq9qw+dZ5R4/onpqpqNzTqVYeR45PvdjSjaWFK3ppeVYPDy5br23KY46bYU0oxUVhR9jYqrlNLHBsilTg8+phTgnTcvU89ePPurUabx6HFvrmNnaym3jMWb5J7eO55XrPUPBsqVNPzSkov9yxePj3duj0u0nr2tSqSy1SqZPrlClGjRhFJLEUeS6K0tWVGdeUcOqtx62vWVK2lUbwkefk7r62N6keT601h2FjUdGW6qs+VHW9JaJGb/AIrccyqLLUucHV3s5az1c7eXNCX/ANzvuotWXT+hQpUHh4cSYcftUyvp3XnuvOr3bxVravK+V7fQ+X75VZSnOTk288nLrVleXNarcPmTyjiqKjnHY+743j6j4Xm+R7XpVwiruEU9+OPq+TlltWyAmTWWTOlC47cEyMk1tXZaZqlWxrprMk37n03RtUttUpRVSMFJLHY+RRklnJ2mianUsLmLbxHPPJ5ufj9pp34MvWvqGr9L217byqR2qXskfLdZ0irY15w2NxR9f0fUo6jaqtCWYnV9WaVGvYurTjmTz6Hh4s7x5ar1Zd3b43a1p6bdwqxbjmSzg+4dJ6stTsct8xij4pqNBzrSg1zBnsOgNV+FcqDlzJ4NeTj7Tb18V9o+vReEJJvkwovdFNm3OeD5+LU/prRkpY4ZkkmyThg3tfbU063VLGN1Tl5Vn7Hynqrp/bvko8n2hYa5Oi17TKF1byxzN/Q6YZaryXi9Mvd+arm1lbVpZyauZSTXoew6p0SrbVJS2Yjk6GzpWXhVfEliSR7OPJ7sdZYOFOW7HBgZz25fhvMcmB6JdvLZ2AALAAAAAZ0yAA0oAAAAAAAAAACKyIrAhCkAoAAAAAAAAAAAAAAAAAAAAAAAAAAAAAAAAAAAAAAAAAAAAAAAJHmWRNt1cGUFjuXat+4TqNRnSpbqtNLu5I+sU4x0jQFJ+V1aR876dtHf6jsSztaZ7LrfUFS0u0oQfMYbWjzZ95N/T53d1PEr1Jf5n/ucbPkyVNtSb9WTGaZ6OP4YZJ5gkBS4ZX3LamtoHz3AEPhHHK4Ck1x2aDk4rMSrlZfcxnht24+TTs9L6ju9IqxcJTks5xk+odO9dUdUhGnduFLPqz403ziXYyU3DmhJ5+54OTgte/j8iR+kvDtqtLxLWsqufY4koVVLzwcV7nyLp/rXUtLcKcmti92fTtL6007VaUYXFZKpjsvc8dwsr1TWXbn7I/4iOpte2PJyo28K0d9PmD5OPUoKnLMTHtYfqhGMZLMpbWZKbg/JJs1N05fO8MijKPMFlDfslnq7GjqVWhzlv+Z2Vv1HNrDgee3qXEu5ViHYt49ds+3t09tbatTqpb5KJy1cUZ9qiPAKpNdmcmje1ab7/wBTPqer3Kqe3Jk5P2PK0tcnDCbOXDXs/NJGcsD1d9ufsZd1ydXS1mjLvM5Ub+hNcTM+hpys47cly/Y0wr032ZsVWLGjTNMpipZLkaQ5IY7pZI6sY/MyaGTSfqdfqmm0b+1lSnt7PujdVvreC80zrrnV6O3FKeZFk7X47fCOtekq2lXkrmjCTi5Z4Ok07VHU8lR7XHg+1dQV6er27ozw8LB8k1jpapY1JVKEHy8m8uKZx6vH8n0rsbe7jNKllc+pvlLbwpHiad7eWlZOqsJfU7m11mlNpznyeLk8T07j7/H50yx09HRvKkOMNnLpX8k1lYOgWq0FjEzb/E6Ml8547w576d8OXHXy9XCdveQ8OtKKi+7Z4bqnRFaVJ3Fo969NpzlqVvja6jMrjWrN2ngupnB7fHuePy8PlYYck7eFq16tzKlRqJpqSR9q/DzTFTtd0qSeVnLR8aua1v8AHqpCX60z7n+H+s0LiwdNTWVHB9acuXq/MeTj6dYvbuEYYUWQiWCmcXzPbdQNKSwyh9uDZcXndf0uM4yrRXZeh4yVN78NYPp9eHjUJU5LueE1iyla3MnFeVH0PD5tdV8Lz/G63i6K4pRuIunKK/Y8hruheF+bBfXg91OCUFOPzM4d3S+KoyhJemD2c2HvNx5vA8q8WcmXw+TyzKTzxjgyjy9p2ms6ZKxrvEcJ8nUqXO5HjnL6XT9RcZnh74tspvbtfYwLU5ppruYrseje5txsuu1ABGdAAKoAAAAAAAAAAAACAAACPcEXcq1yodjJdzCD4M/UM1ZdkYmTIWfKeuxFBUsvAqerHw/VM7nS7B3FhUq4+UxstFuLuUVRhuz3PpvTfR86ekVYV6eHI8/Jyad5i+R16TpVtzNEkm9yfc9v1H0ndUrmUaFLMTyNxZVLTy1I4ku5rjz2xljpxghgp2YAUhYBQU0ICkAIoKBDJduSepURXFuEcdHLqxycZrDM1YgAMq5UhTbTClkdhs05UZcF7nHjPBtU0wmmRCp5GCohCshZBCMpCgVkGQIwGxkACZLkaQAyMjQAZGRoAMgaADAwFAANABkZGgZC4yQiIyGWMmEpbQaaqkjQ3yZyllmDWSVtUwRLBTIAAoAAAAAAAAAAAAAAAAAAARlAEKTBQKWOOckJKDa4eCVZNo+MtHL0i0nqN/CmllM4sFlOL5bPpP4b9OOrXp3c4+WL7M8fNnH0ODDWO30XpLRaenaVSzDE0emp00stoxUIwntgsR9jYng8W9vJyZ25dMYt1JY9EWq/CkorsXhduCd3mXJdJvaUXmtmXynzXqWcr/VlQi8qFRcfzPpNeoo0XtWH7nzmyxX6lrKS3YkjGW3r8fvp9R0mio6ZbRxyoI4XVN2rTRK7Tw0js7Zxha01lLynkutrqErWpR3rzL3OHzXtwnfbqeirdXPh6lUWXxyeR681h176rbOWYxfCPZaHP+G9GRre3/2PlOo1/i9ar1J8p+h7fGw3k83n8nph24tKnKom329BhruZOeZ7YLBzrfTK93JKEJc/Q+5jnjhj2/Md55OAinPvdJr2Wd0JcfQ4Mo7IKT7+xqZzL4Zy47EMTNLKyY4Fl+2KgGBg1OkVYzyWeaklGHciQT8yS4fuXCe2d21L/T2fR+rVLOvTsak+Jc4Pp0lSuLZxmsxwz4NbXE7S5jV3NyXqfY+nNRjd6PTzzNr/AOh83zOL1y3I93DlLNPl2v2qt9RuHFYTfB1XT9xKhrdvFvh1D0fVkdt3UeP1HkqNRR1a2ceMSNZSZcbt4mW7Y/RtrONW3g4+yOQsL7nR9N13UsotvPCO3efHfsfJkst29Ge5Wab3GUpMRaQlyajPymODVUp05rlcmx5xgYW36ljprc1Xh+rtGVzatxifE9Ss1Y16kXHGWfpq8oRr0XFxzwz451voDp1PFiuM5PTx5OPHyXDLWT5xDyxeAJxe9+mGD2YXp15ML8gK1hZIuTbjQAGgABnSAACgAAAAAAAAAAIrIABCkwBQAAAAAAAAAAAAAAAAAAAAAAAAAAAAAAAACwW+e3sFQGUIb5uPbBjPyyS7g0AS8rwAgAAAAAAB9gLJ88GLk0sFg+Nz9DOFN15bor+RMrG5HvPw/sFC5qXFRcOD/wBjo+q734i+qU85UJYR7Wwpx0jpyldNpOcWv6HzHUazr31aee8snD5rV6jir2L24MY8Pks/NLKPRj8Oe1fCyQPmOC44Jq7TekABfgnaxcU/N2HDeV2Jx6kxyWVfhnJ05Rw1yao0amcweDZx7BSaGpSZ2Nc1WXzM22tzVoT3UpYkiN57kwl2OWfj43t6ePyco9lovXN7ZSjC7r5p9sfQ+i6V1lpF/BR53v6nwVxbfLORQuq1rJSpzax7Hz+Txr9R7cPKn3X6NVjC/j4lu1h/U41RStXsn9uD49pXWd9Zyi5V5uK9D3+kfiDYXUY069BOXbdLJ5bx5Y/T0TOZPQ+Eprcl9THdFcPub6VxbXsN9KvTinzjcjP4aO1tST+zMe9+K1cNTbh+Z/KZJT9WKkZxeFFlgm+7wNsm6C7jfF9iyivbJOF6DaXbJOf6WbI168O0jjubXuN0mNp250NRuYfrNi1a5X6zrk8fUu76DSu0WtXC/WZ/x2v/AIzqMZI8ImoOzeuXLfFQwlq9xLvM61YTNicX7F1F03VLupV7s0ZcXlFbS5MfGWcbWNS9Ljju9slCn3xyzRcWdO4i/EWUb5LCTz3Ek1HOf5CfxTLGS9PLaj0ra3eVSpcs8ZrPStbTIOokkj6u68YQ3NY+p846y1rx99tTeWn6GsZcq3hn6/bxUHWdRxT7HIjSu5cRf9DuumtM8SrKpWjlP3PX/AWuFilE+lweJMpux8HzfzmfFn64V84/hmpVH5Jf0ONcW9a14uHmXqfRNQVG1pSkklg8DeXCudReeYtjn8fDDLp6vD/I83kY7rvuk+kp6xXcpQzHuuD69030vDRIN7EsmHRtlRoaVQqQilKUecHroQe3LeTy5anw1zctt7SM1NZXoULD7LAfBiPJ17boCZ+g3Gvky3fhJPLyjgarp0Lq1ctuZM7Ly4NMk5yxny+wxy9b05cnFjcdX5fNa9GdC5nCXyrsacLJ63XNL3Qc4LDPJSTjKUXFrB97xuSZ4afl/M4c8Muo6bX7CN3bzmllpHzudB0K2yZ9VqR3xcWspnheptNlTrznBYR5ubg/lt9n8T5XtPTKugT/ADGn8pSyxGhFfqJDzL2LjZrT6vJd3UAJeVlityybckA9cAJQAEAAAAAAAAAABAAACepSYKrfS7G1minPHBvSygzRFCWClibCrhkLkth7O1stbuLGUfDng+mdOdX1KukVJVamZI+QRx6o7Sz1X4W1nRWfMefPi9naZu96j6vuZXUlSq8Hk7i9qXeZ1JZbJXqePUcpcmnGHx2NYcemMstpgoKjtpgIUuCyCFGBgoEwZDAEKBkCeoZe7EiKwcco4lVYZzc8HFrLLyZo0gDJlpyUVsYwQzGqIzUjW2TcaZrlReTNs0QkbM5NRKy7kYXBTUZYgowVWIwUmAIQyIAAwXARAXAwBAXAwBCoYAAABQhRgCAuBgAjFrky7EwZqMc4RpqMzm8I48pZI1GL7gAlUABkAAUAAAAAAAAAAAAAAAAAAAAAQAAWAqSxFYBjJZwc+S6jrxzeTmaVazu9Tt4Ri2nLDP0X0zpUNN01YSTwmfLPw50NXdV15x+R5R9tpU/JGC7YPncl7evk5PSajbF7o7il27I7SHKR5MoAAqYxpudjotSkkfJbfVq2ndUXc6VF1eT3fVd7Kz0+dSi/zF6HF6c6XoXiV9VT8SqsvgmfUe3x8bO3S3n4jX62U3ZSiu3odRf6jqGsS8bwam1Lk+kar0PY3FrKpBfmwjmKx6nlNJnU0+9WnXsFCM5NLj0OEsr34d3brrjXvh+knYzW2fs+/Y8DKWarqe59D666ZVKnVu7ZN0ucM+cRyvI/Q9/h/L5f5PuOfaU1UuqSfrI+x9P6ZQt7SMvDjLhPOD45bzVKrTn/AIXk+ndPdU26tPDrVEnjB7/Kxtx6fE4dSu81nSre9tZNwhHP0Pjer2kLXUKkFPKTPqGt9R29PTp+DUzI+UXtWd5dzqy7Mx42Oc+V5bGuUsxSXoYCPlygfRk67eS0ABmix9TKKWxv2MCwzhr3LhdUnXaU3vlye96K1J/GfDSflUTwP9nVR3Oi3nwV26+cZRw8me8ejiy9bt2HVtWLuZpY7ni8uOoUZf5jvNauXc1d+c5Z1MoJ6hbRXqzl66xenxL/ACfb+ipupo6m/oeownDcec6Ro+Do6h74PRLiGD5Of+z38k3UABHMDXAKmuwdN7goJrk8n1VpCurabSzweszg49zSVajNNehrG6rjyY7u35g16ylY3rjhpZZ10W5RPo/X+jbK8qkY9kfOKXlltZ7cMuno9vbFkm3wV+UNJSJNZwd8a4ZY6pnIK1gh0YAAFAAQAAAAAAAAAAAAAAAAAAAAAAAAAAAAAAAAAAAAAAAAAAAAAAAADZGOUtvLNZspSdOSmu4V3M9ArRs4V1GXmWTqpUFT3bnyvc9TT6nq1NPjbtRxGODydxX8atNvu2BpzKTyo8e5SxnUhHZjhkBQABAAAAAwJKPlwjv+kbD43UqdGS4Z0lLzQfufRejNPVraU9SmsYxycc66YtfWV98JpkLOD+R+h8+nLd5vVnd9Vah8XqdZZzHPB0CNYY7MlABv4cwvoQG4lAASrAAGV+QAA0AAkyoFWM8kDWVg3MZU9tNc1JzzFcHIhJqHFRxf0ZrU9iwYbKkpboo5Z8Mr04c9jsLPWr/TqikqtWaT/wAR7LSfxHrxgo1KX7ngfElt2zWEYqEl/Z/L6nj5PF1Nx7MPK9uq+56Z1vZ3kYxrOnDPud3Crpd3HdC+p5fomz85b9v65J/RnNtNXu7SSdKUn/7jz3gsd5yYv0FshHinJVE/VGMqVRfoZ8jsvxD1G1xFqOPqz0Vn+Jc6jSrzikc7xV0meL2z3rvAY3d1g6m1620eul41yk/sjs6Wu6JX+S5z/Iz+urvGs8bPqa5T+hyHc6dVS8OrkqVtL5ZZJ606cXc/Yj3P0OYqCfycmXwlZ9ombjR18d8nhrCNyorGXPByna1v8BPgqj+ZDS6cV4h2eSwnueNpvdGhS/tJYMHcWa4hUzIsiXca9qk3mWMGGx5ynlI11dV0mjnxq+1o6S/6y0y2ozhQuE2+xLhbWMbu9tPVGtwtKE6UWlL6Hzq2pz1DUXUnna/c061rE9S1PfKX5b9cncaTdabRpRUquJfY9/i8Wr28vn3L01h8vUWVvToW8duM4N6cYQlKUjqXrNlTh5ap0+p9QZg40pZyfSvLMJ0/JTweTPm3k19S6nu3UoSzn2PLQbglUffIr16tetvkYRbqz2PseXK/sm36bi4pwYaj73+HWqwvLWNCUl5InvIS2PnsfnronXJaVfOO7CbwfcLPVKd1RpPd3SPDlhduGXJvLddxOom+EYb/AKGCkv08ozWX3MXcc8ssbUcm/wBJPM+MGe5R7mMrqnFcsuO0nLMftlGisfMVQjF9zg1tSt4frOHPWaEf7w3+rK9ud8jCZbrs7qlGrDHDPI61prpeaEM59jtf49QT5qGNXVrW5jhzR6eG58dePyuXi5pqfLxW6dFvfTx9zr9UsIahbSfCbPUajG2rtqEu50sqboPbjg+pP547fImV8bPcfKbqydtfThJvavc0zX+E9v1BobrUnWhHlniZwlb1JRksYZ4cdzK7fpeHnx5cJZ8sEsLkwbeeDKcvE7Ei1HhneV1028bF7mJOXz6FNMAAM1KAAqAACgAAAAIAAAACqsO5y4fKcSHc5cPlDNUAFTQADUZ0zXYACNhGUjKyhQUKFJgoAAFAAhAAIBUyvsa8+Yz9CKhoqm41VFwzNHFABlXMkYGxmDMtbYswT5M2YsqMoy5OTT5RweUzdSqY7mto5UuCrsIyUkSX0NS7T4UhismfoaRCFAEIZADEpQBAUAQAACFAEBQBCgAAABjIq7FJUeI8GaunHrM42eTKcm5dyY4IoADKgAAAAGgAEt0gACzsAVdyN88LgXpQDcnwlybI0JfM2Z9jTWDOfftgwNzubQABF0AAugAMo49SbS1iDKWMiTSh9Qs7YmdGm6tzSgvWSRo5yek6V096hfwSjnZJM83Pn09fBNb2+ydD6QtO09Nxx4kUz2VJbVuOHYU40rCjBLDUEjmQe2m0+58/LtjK6vaz8z3GJV8pBOmN7AAKky08R1ZU3ynSPa9N01R0ag36o8V1ZRalOpnH1Pa9O1FV0ahBPLSOPLvT6fHlLjNO2lufy9vU8D1vZxp1/jqaxOmuGe+3Z47HlOtoRlp1VLDeDhjbHbj6rprK+/jfR6pVnuqS/wDsfJdRoq31SrSSxtZ7vpStKnCFu28ex5HqWjjV601w2z6fhZSV5PyGHtj066WVg2wqyotJPk1wW+HfsSL82Hy/c+1dWbfmrLjdORKtc3M/DbzFkq0qkIbUsM9z0loVK6tYV6ii/uztuoun7dWO6lCMZe5wvPjLqLcMr2+VqGxZn6mBuuvyq84PnDwaTtMrXK4gAOuLJnBku2THZuKpKPDJle9LrcSS8RbhGrLbsTMk1jC7FjFZyYs21vrUYtuosP0NVlB19btV3xMyk/EU1HhpHZ9GWEr7U4VMNqnM8/NnJjp7fEwy2+26PQ8GziseiOwzzgxpRUaUYR4eEbMbY4fc+Plf5PpZIACuVgSKfiFC4Cy6E/M0H7e49QTTNu3jus9KjcWlSW3PB8D1G2+GvpRxjB+otSoRuLOcWs5PgHW2mO21GpNLCR34703wzv1eRqTwkbNy2pmEsOKyhJNpYPXhk1zT1umW7cDGKwjI7yvPoABQABAAAAAAAAAAAAAAAAAAAAAAAAAAAAAAAAAAAAAAAAAAAAAAAADYHPHC7gmEFZRdSnznhiMVnPqG21hkywbJuW9Y7AFLo+UBQZtkXSAyXfAa82CsMQXHPJmo/EPEFjH9SWtTHbm6LaO71GlQSzuZ9G1mvHQ+npWSe2cfQ6rovSYwtnf1I/2T9TqetdW+N1KooS8jzwefK+zW/V5e5lK5rOp3bNefT2MqbwFHDbZ347qGV62xBkyFym6xJtAVAqICgba9bUBSF2llgABuEUgA6NUHPoAZ7FSj+ruZedfI+DAu5lmxcp/OVtpYp/KYFU1H0yW2fazf0x2RbzJcmxYSxEw8RTnhLAl5TncZW5llCUVJ8mLhBd0ZteKk4vGCNe5zvFK6TmsYx2Z8pyad7dUP7KWDjpJFyzF4NtzyLHZUOpNToceKcyHWOqQ7VjoWskwjF8au+PlTT00OvNYh2uDkQ/ELW1/8z/ueRwimL41X/Ln9PYf/ABE1h8K45/mR9e67PtccfzPGS4qwa7ZPZaPbW91bNbFuwePm/wCuPr+Nx/u+K01OrtZr/PWz+5olrmry5pVcSZ3sNMpUJ+emmjJ2FFy3Rgkj5mXmyXWn0f8AAs+XmJQ1W5e6vLKZwb7T5U1vku3J7aNCMXhpYOs1213UnKPZI78fke1c8/DmM28bFxnSaj8xYqNJZl8xivyp5xwbcxqLOD7Pj32j855mfpkniufymOZepnhLsiM9v65rt5P2Y34iRU85fymzYqa8VGMX6FcvR9iXGSajM5LlNVstakoVlUXo8n0jpvqKc6e3f8qwfNJSWzy8M36df1LSp8zSzycZhJd1w58Lcf4190o9Q1FH5zd/xJUx858+0rWKdxSW6ST+rO5jUjUjmMl+53nHx5fT43J+7B6Kr1DWkuJnBq6zdSz5zrE2n7lc1nsdseDjeHPyORule3FTvIxVWb+ZmPGOMGLlg6zHjjleTky6bHKGOTFVUvkNTqwXeUV92cavfULdZ3xf2ZnL9a4cPNb07BTqRe9vhCcviFlHnLnqOlTTXdHWT6thDiKZmcmMe/j8Hlz/ANnsJqVaLo57I8jrWh8ymonFfVb3OUdyZi+qIVk1OLZw5ssb8PqeH4efFbuvPzouhNxa9TCUHN5RydQvadeWYQwcOlua7nGZ6fUnFuN3aOPUhj+ruU6Y8krnlw2fagFRudvPlNIAwVAABQAAAAAAANAA9Ciw7nLh8pw49zm0/lLpmgLjkF0iAyGCigoMaogKDURCgGlUhCgAQmQMmYjIFoMgYJsYN+c2ehjhZGSbU9TGp8rKYy+VkHE9QZMhlXLZiysxZlWLZA2QsBmvLyZPkqRRtp1dvc5UWpRTOtkcqlU8qRrFmuVgMkZZQbNbRj6lJ6lAAAoAAAAAIAAAAAAAAAAAAAGqrLg2PscWrLkzWo0y7k7iQiRVABkAAAAAAADWzQACyaSjWeDKFRRXh4z9TF9uDOMYbd8n5vYmTeFbbOCncKLXd4Pc0+h4VbFXXj4xHdg8LaVVCvub7Hqo9ZX1O1VvGK8Pbtz9DFje483qUVCu4JfK8HCOXf1Y1au+Ly3yziGpemLoABWAAE2tCkMo9mXSMI8h8yKlhNiPPJnO6jtxyVJccH1f8KtJTualWpHhrKz9j5XQpuvcqCXqj9CdFWKs9NozisOUeT5/Nlt6+sY9ZCntaXojZV+ZY7GWVj6k7x57nnefLKbRPykMVxLBkWMzQAAuo8t1taSr6NPw87+exl0rrXw1nTt35pxWGjvry1+IotNZPnNRVdE1epWqJxpyeFkxZt7ePKSSPqi1KNWjJ8J4PL6/VdTTa9RvOCWt9RuaMXCeW1ydN1JqkbWyqW6lzJHO4aezCx13TCU7mFXt9DyPVe5arWcMy57I9JpWpWtnoUa0an/Nr9J1GnKjqWrV6mpS2U5Lyv6nfhy9a4+Rx3OPNpcLEufU27VFcSyzZqdjPT7qbS/Km/I/dHHikluyfW48/aafnebhuF9nrenupJafQjRa4XqdjrfVnjWe2Kzk8Kmp09yfJlHzLEmzrOCW7eXLk0S/NqzqS43PJgZN7+F6GJ1mGvhxuWwpAO4mhywFDPJUss2eh0mtbW2601S44RilI24UeWcK7vVTTUThycsj1eNw3K9sbqq6M6cafmdRpPB9b/DvQ1a2k6tSOHNblk+c9I6HW1zUN1aD2wkmj71ZWsbO2pUoLGIpM+Zzcu315rCOSntqp+iMpS3VM+hakfyn7mNOOKab7nk+3LLO2sgAaXYAASgADXSSW6OGfL/xG0yLtatZR55PqJ5brCw+K0ypHGWzeN1VxustvznOG2o4v0M+MG7VqLtr+pDGMM4sZZPZxtc832ybyQrWCHp108oACbAAFAAAAAAAAAAAAAAAAAAAAAAAAAAAAAAAAAAAAAAAAAAAAAEAAAAAUAAArIUeuzQACXj2txSTwuO5YvENz7kUc1E32Mqi3z2rsbmsZpetJJOrFbfT2O10ayle3dKFOLaUsSwddTjKjKOxZcng+ldLaRS0Wwq3lytsqkd0cnHLON4zpv1m9pdP6RKyhjdUgnx9j5ZOrKvV3zbf3O76n1SWrXu/PEOOGdFnEfqJjEue2FWTj2M4y3RJKO6KyZKO1HRMs/46CFZAzjlpCkKN6LdgKgye6TKoQpC72tu6AALegABNgADOwAE7AeJte3bkBLzJkWVctPKidzpehVNQUnhrhs6jxGpdj0ujdSysYSilHmLQXboa9lKyqzhLPc4p2Go3la+ryntWM54OvLC0ABU2AAHsAAahusUt2W/Q7nQNS+HuIwk+Gzp5Jx7epIJwkpruj5/k8PtH1vB8u8eU2+vwjSvrffFrL9jU7NqO32PI9P8AUEqLjTnLg9zQu6V1TTjJNs/M+T49m6/ceJ5GHJh26udk23hvg4V5aznbzjtb4PRQhKEpNrhmPhwlLEux5+PLLD5deXjmc6fJb+m7eq6coYZxovg9Z1bp0FdupBeVI8k1h4P0vgc0r8b+R8Wy2sgRGWD7mVlxfn71dJ2CWUZYMJNo5fIq4K4KS4ZiuSrKJYs3FpzrUJZjOWPudzZdSVLfEZJvHudK3NrhcGMaUZPzvBN6b9cMuso91b9VQnFbopHIfUNGf6oo+fy2QXlmzXicnw3j7mv2WPPyfjOLku4+gVOoKdFZjJSOtuesJrMY0snk0mu8n+5kpR9zn7ZNz8fxcbs7jXa903jdA4FS4rt58Wcs/U14b7GUYtd0NZV0lww+I1vxJ/NNkVH3kbZJsw7dyfqyrf7p/RsSMnGMV6FjOHqxJQl6lnFZ8sTkrXhSYceOC7YrsyPdnglwdJy6a4Qkp5bZtLl45RC44reTalRCnWOWWqgAK5gAAAAAAAQAAKAB9wjOEcs5cOImmjHJyOxqJWLBkwaQAKUAAZAAMAQENAUxKABAAKYlJQICEVSEBAMZPyspJdmBx2QrIZVymjFoyZizKsGQyZiUODF59DIhREvcKW1gxfJYjmUqqaNuThU3tZyovKLs0z+oyTPGBk1Eq5GSZGSouRkmRkmxcjJMjI2KCZGRsUEyMgUEyMlFBMlQAmStmPqAlwjhVH5jmTflODPuYvy1DGURcMqfBi+5FZAAgAAIAAXpYFSbIE2pFxWUawMkbbZnhYGV0THbGLWSySk8oxWEZKpFLscP296rt/j5WbgoxX3NiqTxjPBplPPYRbZ0+XG4ZT5ZtL0MSvghntkAB0x7bmlwTBkQkxLIhUm+xBuxx7nTUZ0y/QzUp7Vh9zf4TUc5NUqPl35Rw5b07ce3ZdNUHdaqoJZ7H6Q0KiqOmUYy9Inw/wDDm2jX12KcM8I++29ONKjGLaSSPnZu+ctjNbt69jZN+dY7GLrUYrmcP+5HHq6jb0+9WH/cjk4/qtcnvPgylFxWWdNX1+0pxbVSGf8AUdPd9fWVutslux7MrU4a9hB73hCXkkovufObn8S7Okm4wf8AU66p+KFCdCVRRnlfRh0nDX1mO9zx6HRavplpqClC5jnHK+58tn+Ile7jmhOab9Emcm3r63qUd8K1SO73iZ3qtY8eUrsq9pqVlVnG04hng8tq9TUZajCN5LKZ3sOl+oq7c/i5Y7nEu/w+16+rKo7nle5LdvbhNO50Xpy1urONecMpjWum8W8ZW0MbXnscLTat90rcq3v3OrTh3wuD21tc0dToKcJRUZL5WzMyejc0+b1alK+h8Nc8zpeWP3OjvbC4tKqclin3/kfRdc6bVb8y0ShJctr1PK1pO1l4N3SlUb4zhnq4+a414fJ4JyY6jzca1Nz20zY9y5fY7K40iN3mds4089ss66ta1rNYqPfj25Po8flR8fl8CspSgorZ39TGPm7GqlXWWnSl+zFSpKm+IS/Y9OPPi8mXiZxslJReGZRW5ZRqp3CkuaUs/ZlbnJ4jGS/kc8ufEnjZ/wBM9yi8Mwq140VmTNtPTq1wn5sNe5grVWqk7iSnj0ycMvJ18PZ4/ge13k4dW5lVpOVN8GrT7N6ldqklmXBnXhO+n4VpRnFP2izZa6PqWnT8dKpn6RZ4uXntfZx8XDCdPtnSmm2ulWlOUY7ajjyeqhXpyWWz89LVtcprClXwv8jM49R65DvOv/2M8vva5Z8Ht8P0C6yc1z5TYqkZPbFnwGn1fqtP53Xf/sZyoddX0f8A1s/6WbiTxpJ2+6N4Ippnxaj+Ital/axqv/2s59H8UqCwpUqn7Mbc74764lkri0snzi2/Ey0mlmEl98nZ23XtnWmk8JfVjbF4K9muewfl7nS0eo7Osk41ILP+Y59DUbaquatP/uQ2xeGuWmu5xb6hG4t2sZybndUHxGcP3MnFVKeYyX7iXsxwsfnDrOxdtqtaTWE5HmqcHLlH0f8AEiz8KUqjWcyPnFOTjk9/FY65430Zy7kwTOWZJnr308UjEYK8BGbCoACgAAAAAAAAAAAAAAAAAAAAAAAAAAAAAAAAAAAAAAAAAAAACAAAAFCoARgiruWTUe5F3Mt8VxJZZzyzuN0uOMuWqxjJS7F3JGdO2qV5flxkv5HbWvTNzXWd2Puamdb5P14/NdM5pcCEknuZ6aHStaLUZNNstbpSso4UkYymVc5zeP8A25PRuhfxO9lO5jupQW5fy5Ow616hpqlSs7WeFTWySydTQttS0mLdKs0mscHQXtG4jVlOvuk5PPY4frztdOLkwyvVcSMm22uzfJUlKpx2MN+yW1prJlJ7Y7kentLjYs8xZW8JZEGqq+pqlJxk88obTGW1s9CLlEjVi4vyiFRN4wX2buFVLLwOw8N7sqRN6Txg1jZ9pJcVGSb17E3L2L7Yuf2yyiNk4Zk6bwnknti183bFvBmotx3LsSpHjuWk/wAvaa3iuVmmORgS4YzwTpgwXHBjlmSlwDQMDKJuB61cFS5J3HYUs0S5fBio85MgZRslVlGKUH9zUUhYoACmgApmxKgALG8e2yO1rzGt9+OxMl7mcsNwv8buMHKVOe6n3O+0nqCpaOPiTwjo8EawfO5vFxyfZ8P8jlxzT6pZ67QvKcUpZfrydotkoZXc+N0bi5oyzTquKO9sOp6tvhVpSkfG8nw9Xp+i8X8rhlP5V7bVLCld2c4uOaj7HzHUbZ2l3Km1jB7u26otriK8uH9TqNfpUK9F14KOX9TfizLjrn52WHNj08nEzi93Y10+Kkk+xZPa+D9Jw5+2Pb8f5HD65dNjajLD7kaizHG7lg6Tp5/S/I8rsE36guDXTX7LOhykliPYRWX5ytEJcYzbazcKLXbkxT28LsQGLgzNz7V4fcw2RyUG5F3ftlFqPYspt4MAa3pqWfbJS4MZJMAfsjXtPpj4cTLbFAC5TJm9mEZJoxBNMWK+TEoJo2AALugAAAAAAAAAAmS4J6mSKJ2HeQZYxywOXQjwjZLglFYihPlmozVTz2GBHgppAZIAKCAmgyMkAAjKQbAZJkDYDJANhkpiUm1MkYIQMjuR9zJATBjLszNs1yfDINLIARpymYsrMGZEZiVmJRSAhQEe5C9kUG8M30p8HGbyZwlhgczPIyYx5jkuTUZq5GSZGTSLkZJkZMi5GSZGQLkZJkZAuRkmRksFyMkyMlGWRkxyVgXJDFMrA11ZYRxpdzbWfCNL7GL8tQTK0Yx7mxrgisQAQAAVAAEyWBVjJC44yXFBpZMKkmkVPLLUjhJnPlvT08E7W2pOtNL3ORc2Xg55NdnWVKaZuvrzxW8YPm5533fd4pjOO7cSMUmZcI1R3N5Mk3k+jw3cfH8qzfTKTyQrRDrlHi2AAmJpSAguWlxmwqSfLfYxMZtrGDjeXT0Y8W2yEpVMp8GNRODxltGTjUqRzRjuZjCFd/l1YYkzhycr1cfC9x0VrNvpFeNeWxvHqervvxGU040or+R4/QuhLjUqEKrjNQl6ps9pYfhbYw2zrVpp+uWzxZ57ei8Wo8pedZancTfhUqvPscL4/XbztSuFk+v2nRui2cV+am17o5sbawtP7KNOWP8AKjn7N44R8UjpGvXUsP4lJna2vQWoXEVKrVqrPufWv4lGCwqFPH+lGuet1flVGCX2Q9luMlfPrb8MXcf2t44492ee6o6Up6HV+Go11WbWcI+s3t842859njPB85k6mr9XW6qJuGWmPZqSPN6DpF5bXMbqVnUnD/C1wfX9C1qlOlCjU0+NLb6uJ66y0W3pWCpxpQf/ALUY1enLWay3tb9lg53LtLpstruzlFKCptv0RzW7anDMlCP3OglolDSoyrqrLjnls8jrfVdzdV/As/O+ySJajn9barazo1LWhbwqVefNFcnhtOhqVjWdy41dj7R9Ee66b6XqXzhe38ZRqvvF8nr6+g0JWypKEcL6CVl4DTOo43D8O5gqeOPN6nZ3Nlp+ow2wdJuS7r0NeqdFUqzlJOUWuVjg85VstS0ZtWtOdRfVm7bY3Jrs1LpGtbSdShWlJL0idPKxuaL89tKf3R3tt1Pq9LEbq2UV65OTLqRVfnp01/JFxuUSzbx1WrVztWnNY/yim5r57N/zR7B6rYyWW4Z/0o4N1qFvUfk2/wAkdZyZRm8WP26B1XH5bHP2Qd0sYnaKH3R2v8QuYRxQoRm/sjRGx1PVau2ra7IP1SM3kyWcWDob26lFfkR3N+kTqnZ3lxdQdaNSnDPOT6tpPQVKnKNXmUny0z0910Va39o1UShJRwsI53ku11Mfh5ro60062sYudOlVnx3R6iK0+rXebWlj7Hz7UtPvulrlxt4SlRXOWzdQ6soqgpVaqjV9UWS0/lk9/Klpnb4Kj/2mp2Wl1f8A5Wiv5Hj4dVW81/ao3w6gtZf35qzRMbj8vSz6d0uuv7Oiv5HFqdGabPtKkjq4a1av+/8A6m6OrUJfJWbf3M+xcbbta34f2FXtVpo4NX8MLSabjcwX2O2p6hCX94/3Nqvf8Mm/5l2u48ddfhc1nwrt/wAmdVcfh5fUIvw7iq39GfTIanWh+lM3R1mspc0oY+yLtLI+MVOm9btJPbUuGkavF12zfy3LSPuD1ONVYlSp/wDag6Fhcxaqqms/5UNs+kfHLbqzU7XHi0arx7neWX4mVaUlCpQePqe1u+k9Ju84mln2R0N7+G1hVyqNSTl9BKzeKPNdW69b6xp0X5VJ8nzKs/zWo9sn0TVugLu2jPZCo4RWe7PB1LZ0bipSa8yeMHfDk03+qXFrhhIPnsWVCdL51gieO57MOXp87Lh/nYJMyTwNyZg08noxy24cvHpkADTiAAAAAAAAAAAAAAAAAAAAAAAAAAAAAAAAAAAAAAAAAAAAAAAAFIUCBgjDUhnB2WnaXO8qqWHhnBoU/EqqK9T6H0/ZwpWsHJJMekt3XDyOacWO2zT9JoUKUd0Yt49TsFTjBeWC/kHGO94fCOu1HWo2UcRabOusZHxLycvk3WLtFKEKbnLCa9zV4kazzxg8Xd9TV6mcJYOPT6nuacPKkzF5MY7Yfjua/Py95U2OKjsUsGm+02he0l5IxaXsef07qXfL89qOT0lCvSuYbqcs5NY8uLHPx83i9vF6v09KOalPLS9jzyhKEvCmmvufW3SjKhKFRLL+h4PqDTfCryqU1wc8o+n4fmfudC4+E8pkk1NpY7mOZSe1rsbaMIyqwTfqcr8vfZcb7O107RXc0mzKv01VjU43HrNCpQhb8ex27inLO1fsbxx2+T5P5G8eWnzSpodxFcKTONLT7mHHgSf8j6koRcsOEf2NUqKba8OP7HS8VrGP5SXW3y52ldd6Ml/IwdtUXeDR9OnYU6neCX8jjz0K2n34/kcsuKu987CPmsqM0uU0E+MZPdaj0/bwt3KL5PIUrCM72VPL+bBz/XX0/H5+PPHbhtNvuZKKj+o9R/wtuhGST7Gmp0xJ9lI1OOuGfk8Xvp5xt5yllGSnjujup6FcU1tjTbSOJU0e6X90y7103Ofjrg717GO7PocmWmXUP7tmqVpcLvDA9mvbC/DXw/UbUX4eovRjbJd0PY1amcDOQyFlX9dndUEBds6UEKWMgAKgAC6PsABi1b0x9TJGW0mDcu0/2XBJRyhkkpcEuM2vrZWOJLsmZKCffgsa0lxhFaVT5uDnnwY5t48mWNYSlKn8k3/Iz+PqypqnNya+pj4UY9nkSUWsLuebLxJPh9Li87U1WDku67lpvL5MY03u5M5Qx2O3Hj69PLzc8zrKXfghIPjkp6K82WV+gAGdsyy/KgAexuAANbNoAAW7CogFm01VZACesTWgADUi7AANgAAugAA0AAIAAAAABCkfcoFCIBkbqUDVHlnLhHCKNi4RGh6mzHBqM1rAzyQqAyQAXIBAATIMkFICEVSAgFyQEAFMSkAgIBSkRWQYyZqlIzmzS3yAABGnKkjVJm2RpkBMkYDAjIGAIXuiFKGAABup1JN49Deji03iRyIssZrZhGLKmRjYhSAopSFAxAAAAAAAAMvQxL6DYnqJPCHqSXyk2OPUeXyYGUu5iRYiWDLJAFAAQAAWAACZAZZeMGJUIJjDyWUnJYYIyZTcbwz1WG3C4Ill8mTWUa9k89zx5YY+86e/Dlvpe29PajHcsmVPH6iycF2R7ccJJ08OVtvbF7vQx3pdzJTTi2YqpBvDiT9kx+Wv02zcNyfYu5LuRxcn5It/ZHaWGhXV7JKNOaz6uJ5uTysZ8O/F49+3WSyu5nTh4vlh3Po+jfhpd1dsq8ouL9Hg9vZdFaZpsVK4oQm17NHky57ft68eHH+nxnTulNS1Ca8KnlP6HstN/C29qxUrih5fsfSqdTSrWO2hbbZL1MZ6nWXEJNRfocLyZX7dpx4z6eatehtI061n4lLFTHsfOOobWjb9QxhRXlwz6zqlao7KrUcuyyfHrqU7zqWDc1t57/cntb8tzUfYemNQ8DQKMKbxJHZT1GpU4cjxtlq1vplpGE5RePZnWX3W9upSVNPI+S3fy93Vm5cs4Va/o2/zvGD5bedY3dWTVKpNL7HWz1bUbrvVlz9DNibfVa3U9jBYdTn7nWXPWlpTXFX+p85VvfXD/tHk30tHuJP8yWRD5ekv+t41acowq+nubeiLuV/rtCbefMeelo0YUpNpZwd70HS8HWqG3jzF6H6Jp5pU+RWkpU3J+iyY0pboeY8d1V1LHS6bhGWXLypR578HKztl13VfU6m/g6FTzS8uMmro7pWTfxl1T86llPBw+l+nq2o3s7y788ZS3Rz6H1GjClbRjShHCwZG6nBQhiBd+O5VFqeV2OJqFzC3ouTklj6kRslSU2/E7HFrabRqPMY8HRadq9bVrydOk5KNOWHldz1qjiC+3I3TdeavOm7a8bThlv6HU1+hrVrCpc/Y91FwUuFhkcGpuT5RZaS187X4f0G2/B/obaPQNvht0efse+xu+XgYcZJGt1q15Ww6PoUGm6f9Du6OlUKPG3COybwzLCayN1nbhVKUbajOpSWMLLOs0nXaV7UqQ35cZNHd3EN1CUV6rB801eb0TWqMafljUll4M6tqx7jWdIoarazjOOWz899Z9OXGk6jVnGG2j6cH6CtNVp/AePOSwvqfM+rbin1JdzsraD35zuxwdMdxuWz4fJaUbtLPp6FlV1CElh8H0e3/AAw1StThKNWKT9DtIfhbexhicotnT3i7tfJZapeU1xLkzodQ31OWd/8AU+u0/wALZqGaih/QyX4Wxl2hDH8ie2Jv6fLaPVt9TlmpU8vpyc2l1peucdlXy+vJ9AvfwmnVpRVNQWPsdTdfhReRpy8KUYtIszhqOph+IEKElGvW5+52tv1/p1aKUq39TxeqdLVdGr7bym5teqRxqelxrQ8SilFMtyxNR9OodU2NV+Sp/U7KnqltWSxI+Nzsr2i/y6mArzU7ZrNWWF9DNyh0+50LhOOYM5NO7uKVTxE+D4nadV3lLyzqT/Y9DY9d04RVOs5Nkl2Ppeoay69nOnu8215/Y+HztIvqFyuF5JVeT6Lb65a3dGUo4WYvuz5zqNx/4zFp8eIdPpdvqEOjdC1S2hOlTzPavRex0up/hbWalK0ocenB3+g3b+Cj4bw8I7qne3cX5quY+xm52fDncJbt8S1LozU9Pk99LCX0OgrW9ajJqa7H6U+I0+4jtuaO9+pwLrpfSL6MnTtopv3ZvHmy/tzy4pfmPzrll3I+rax+GdaopStnCK/keE1HpS90qT8VSlj2R6cPI39vPn4v9OkSk/sVpvsYVI1YzxtlH7oySk1hPk9c5Zp5cvGyna7l29Qvd9ibMPlmapufZnTHOVxywsYTnFdirlFcY0n51kZT5XY6bjFQAGaSgAEXoABWaAAgAAKAAAAAAAAAAAAAAAAAAAAAAAAAAoAAlWABTNq+025elxUr+mj6RaR20VE+caVJQ1Cm32PpNq1UoqUTrxavy+d+W/1mv6Z1IqFOUvofPdeud1xtT9T6I2ppwftg8nruhylLxIr6l5seunh/Fc2OGesnkpNYwyKPkyjK4g6GYTg8++DRGFWUcp4R45b8WP03tN+2NbakVsT9Uep6W1F7nCb7cI8xTaSxPkttdStq26DwsmvWfLjy8P8AkTWT6zUbqOP2Om6gtv8AkZyS5POw6llFLMnwi3PUCurdwbfJ0nJK+Zw+Blw8u8b08/U8lV57ltYudzD/AFGutLdUbOZYJfEU/ucsv/H2fIy1xvoelUlC1XvhHNdRwXJx7XyUoL3SOTVS8Fs93FqYbr8bz43l5tOBW1ahQm1KXJitdtn+s8TrdxUV9UjGXY65V6qXznl/fZlX2OP8VjljK+mR1ShU7SNquIT7M+YxvbiHaoboatdx/vWbvPTk/FbvVe61eq6dnuR4/S4Sq6lOX+Y4tfU7q4p7JVW0atPup2taU5M5fstr6PF4Ppwal7fU6UttKCfsZOdJPk8PT6qjBpS3PBzafVtrKS3QZ6MMo+RyeBy+29vVTjCccwMXRp7fMuTpLfqW2nU4WEdvG5jcxi4dmakxt+Hk8jDl4/th8HRnncjVPR7eos7eDnTpvbwzCnU8KDjOS/ctxxn0888jlv8ArXVz0G0a+Q0VOm7WS4h/Q7p16b/VH9x4sFjlfuMZhr4ezHy/ImP28tc9MQjByjT7fQ8vfWztq3h4wz6le1YK1m1/hPmWqSdW/wAnj5pd/wAX1vA8rkz6zbbTR7i5oqUY5yZS0C8i3mHB7DpylH+HQlJHa1KUH+k7YcOVxcvJ/Izjy1p8yekXcZPdHgwqWlSD7H0+VhRccuKOO9PtJPmkYnDlv5Zx/J4/0+YzjsXPcwipSfB9KraNZzXFFHX3XTcZQfgxUWa/Vk9PH5vFyf8AjwslJFjz3OyvNGuLOUnUeU+x1kW4zwyXcmno9sbP4rLCEWWpHzDGIknaetVsMgZ00nxegjiih9iNZWpjAALusmSYW7PqUAXLGWyAmohgABQZAGgyMgE1AyMgF0AACAAC7AAAAAQAAUAAAAAAAAAAAAACPuUYKCMoxyYpM5FKBUrKFJG5LCKlhECbC72YkKigiKBACBQDJAARAmBkQAggBMgAwQAUgAEAyQVBvgxyRsK1zk8mHcykYgUAEVyZGmTNsjTICAhQIwABCkKUAABY8M3RZoRsgys1yIspjHsZZAxYD7kyUZFMUy5AAAAAAAGRkACOSQyQH3JLsH3JJ8AceXchX3IRYAAKAAgAAAACAVEKbkKMjLhmIy+FwnbGbxF4FGpxyiyko9zGMlKWDxcl1lH0OLDeLc0nznBi2o+uQ4TliMFlnoNC6OvdSmpTozUH6ly59Rf8d0FOhWrvNKlKX0SO/wBI6VvNUnGM7epST/U0fT9B6HstNgpzeZLnElk9SrqjbUvBp0af3UUfO5PItvTvhhJNPHaN+G9vZxjVrV4Tf+Fnrbe30+xp7Fa0m0sZwcapUcpuTk19MmueXh5ZzkuXdenHGSOXUvO6prYvocWU6suXUb+hHiXcLbH1MysHjKPDhkvirD8oeGTbg3IbdVq9V/w24y8eU+I3larHUd9NttN9j7d1Bauem1pQzhR5Pj1Kiv4ikuVlirtLene3kvPVqRT9zm0tDm5ZlVbO8p28HSSSSl9Eb1QUImLlpm111HSadNcpM5MbWlHtTRyN7jxgniP2M3NnaRpwp8qCKmm+2DJVMEfmZPZZWu5gvBl5vQ5HRfl1uj6+Y4txTToyw32OR0bUjS1mi2+FI1LVfbNX1mnpOnOtJrK9D5pZW1fXdcqVqzk6MpJxT7HK6svp6pf1NPptuL9meq6Z0xU7OlBxxKK74JVei0qxjZWsYxiuY+h2NKCS83f6il5aaWOyMZNSW72MoVLqFF5qSUY/4mfNdc1ivrWpysLXcowkvNH1WTldfdRqjY1bKhP87nhdzDojT1TpwvKizUmud3JdI9joem07G0pySTnKPmfqdvv5xjg1UaahHKfc2P2RBjVhvi9rwzi1dSt7WG2rWgmvdmVzXVrTc89j5XeVLjXNfr27lONNdnF4LIR9Cn1NYwb/AD6f7iHU1lNOTrU0l9T4/reg1bS5oQo1qsnUkk/O+DvqnRM6WkyqyrVlmCfzsrT6GuprCcuLil+5ZdS2Py+PT/c+RaF0sru7jB3Vbn/Oz1y/DejKTcrqsv8A3yIzXsJ9R2Liv+Yp/ueH6yvrS7rQrwqw3QXCTOSvw2pRy/iq2P8AWzj1fw7sq7zUu6uY+m5moseTl1ZVqWUrKO6O79R7Xo+xoO3p16jjOo+7fc87rPR+m6Xazq/EPxI9k2zrdC6rhptwqMqiUI+rLtqPuFvOlCOMpYNnj05PuuD5guurZ5xXRrfXlGMZbaqY9Uey6h1xWUJRicvRtTVzo9Ot3kz5BrfVMr+jNwkpS9jboXW93p9nGi4Lj3HqPsMtXopqKnFy9UY3GpUFt5j9j4pPqi8je1K8E25vtk2/8UahUlGXhvgTFX0HqejZarYVKfh041WuH6nyGVr/AA++dq55wdtc9Q6pVvI1FReEdFfR1O81KVyrd8+xr1LXayhBQTwmceUKVTh00cZLWNqStGy/DazL/wCUkS4ptlPTqE02tqZ1lXQvErZjV2nYKw1vurSRZWWsKO6VpJMYzSyujuKd3YLFOrOS+hxIVpyuIOomnn1PQW9ZzrSpXEVGS7po63WKEVc0fD9X6HX6V9L6QnvsHmWT08Uzy3R1s1pzksnp1NxWMHLKG2blFegVSaeYzaMMKfdjYo+oxjO3Kp3cv1NtfU2SVlerw6tvTbfq0cNRTXcwk8PCfJJuLOTbrda/Dy0v6bqUakIN+iPm+s9DXmmybpqdVfRH2ClXlS5cnj6s5qvoVIeHOlTafGXFM3jy34XLVmn5qr2tejPbUpyj90YbHBZUz73rXQ+narSlVU1GeM4isHy7W+ibvT5ydClOcF6nq4+V5c+GV5aFRSeJIj78Eq0KtCo4VI7ZL0HZcntwz28mfBpQItS7B8PD7naXbzZ4aAXDIacwABqAAIgAAAAAAAAAAAAfAAEyi5CgKk32I+HyVAFcWo7scEXPYoAAyAAAAAoAAlURRjAfCMVLLtlTm6c1Jeh7jp7VYypwhN/ueFSyb7e7nb1Ftb4M973GebinLPWvqnhqfnjLv7GM4xqLbNJ/c8xpfUW1KNVpfc9FSvKNxFOM02erDkn2+DzeDnxZ7xcK+0KjXi2oxyebu+mqkMuDf2R7im1Lhss0ov5U19jVwxvcMPN5OG+uT5XWsbi2m06UmvsaJQ9ZLaz6pXtKNzDDjFfyPO3/AEvTqbpRbz9DxcuGW+n2PH8+ck+dPFxSksGKTjUxk7C70uraSeYvCODHDq9zOONj3zG3H2jJrJzdLg53UPpI4UmoyfJ2/TlNzuW5L14NS7rlyZ/9d9nv6cMU4f6UY3k3C2bNqTVOPHoarpOdm0lye/GfwfmrlP3PmepSctSqNnF2c/MdxfaZcyvJyjSbTOunpV1GTbpyPD6+uVtfpuPOXjmq07Ev1EawbJWdxBcwZrVKpn5TfvjpcLv7IcsN4kVZhLDXISTfJzvd3Grlnj0YjjlCLxLOBNLKwzOOFD6m50z+zSJyVROM2uex9K0Sn/yVOUn+k+b2tNVrlRbPpmnx8OxpKPsb4ruvD+R16b05W+XPB5LqLUalC68OLcco9fKWym5Y9D531TXlWv8Aheh15eo8H43hxzy3lHG/ideHPiyf8zkQ6gqwS7s6ZU80uW8inHDeTy45vu54cW9ad/LqicqUoum3wdP8Q7u7TcNv0NSm4vsjdZyc9RprHBbftvH9eE3I+jaHinpkE0djUqRUM4Rw7GGLGKORKEfBll+jPXjyaxfk/Ks5OfTpr/XlbzSx2NVPqqk2k6aR5bXJ4umlL9R1izLnLX8zh++7fb4/x+F45a+l0dXo3K4cVk7Gk1KOU8nyajd1rer5XJ/zPcaBrLrJU5NZSNzk28Plfj8uOe2NdnqNnG7pS8qTSPA6nYO2rN44yfTKk20sLhnmeorPdSlUUeyMZ90/Hc1365V4hzyiRlngyhGLeGyuG2WTEfenyBgHRxy+QPsA+xFyQABAAAAAAAAAAAATKzj1K+O4UBcPBAAACAJkoAAAAAAAAAAAAAAAAAAAAAEDJLJjg30oZRYUhT5OTGKSJFJBsqMmzEEKgQAAimKKFCAgFyQEABMhUBQTIyQCZAAEAAZAwwyCEyVsxygDZg5CTyYBWRizJGLCqACDkSZokZtmtsCFREUAAABSAooIAKZQ7mJY9ypXIXYLuSPYLuEZPuQN8kIKCADIEAFI20uATlsDKK8uWZYWMmDyvKZqDce4ElSykzEjm08BMCs1zM2a5ga2QrIRYAAKAAAAAAAKBlhKG4xHM/Iiy6UhJt89iSW5+T+Zako7VCPzLuZY8CHPLl2weflz09HFhutVSMU/N8x2GmaJX1GUfAhmT7HO6c6budZqxljy59UfZND0Kx0SzjGrSTrR9UfP5OXT6PFhp5zpv8PqNOMa+p0sR79j21N0LGCpWHypYZqrXc5+WL8nojh1ZO2pzquSSxlnluW69XzHMr3cny3x6nV19St6T3SlyeN13q3LlTt5NPseUle6neLMajw/oXqdrh49yvT6mtbtqtTbvO0o3dKtBKLPiS/idGW51X+x2GndRXltcRjVqvGcCc0+GsuG4Pr816oiW5nA0rUYXtumnl4Oe04sxpwrPCRs4wsmhNtm2DTkkaZci5s41tCu4pcuB8Gu4S03WNj4WX/ufoyhSTtJ032kj5N1505KFzO4pQ7Z9Cq6y3rb6SqRfLORGVWXfseWtNSdolSqp8HfW9/CtFYfcxnjtLHKk8Ejl9+wcHLnKMo4isM5WVmwmo7eO5YpNGLW58Ei2m0XFJEqr8mf2Ot0y7+DvIyzjDOxrPFKf2PN1ZvxePc7Yukj6ZoUYXusRvHy36n1PS4Qiljvg+bdFUovSaVRrz+59N01wVJZwngmSuwjnD3djpOoNTWmabWqwljasnLvdTo2MW6lSLXtuPkvXvVcbupK1t5NRksGZEeMvtbqaj1M7qtLNJ+ufqfVtB6k06hZU06mMI+WdN6VG7voU6ri8+7Po0enaNGisSppfdG7F09ausNPwtlXhd+TZHrTSspKt9+TxUNPoOThGUM9u6OXT6ajODkpQ/dGdJY7jqLqzTv4XOVKr5jz3Rd1QvdXrVG8txz/ALmyfS7rvwpzg4v6o6C2UtC1erClJLCxwWRZHeXFT4nW1DuoVOD32qPHT01L/wBNf7HzO1q/+I0qjfM5ps+m3tSFTTFRfLlBf7Cw08N0lteow298n0vlPz9j45eV63T+sqsm1Sj7H0TRuoqOq2EHF+d/UzYzYz6p1x6NZqSlt3Lg+Man1/rUK8pW9Typv1PVfidfVKtCjTjLs/8A6nyS8rOFWNN95Hfjwnrsju6nUmqa2/8AmpZT78mlaPCtPc48m3SreMaCbXJ2rj4dPcmL01HmL+0oWqUaXzvhnfdKdLPUcyuIZi2dNqVenVrRjFeZS5PQ6dfXdnSiqNRxyjnbpLXu7fonp61S8aOH9kcv/hbpf5mv6I8NPVNQrcyr5MFql2ltdRnO8jO3vV050tH/AP4jJaP0xT7f7I8B/E7j/GR6jXf6yfsq7fQlY9Nx9f6Iv/6cpcbv6I+dO+rf4zB3NWTy5E96PpS1DpyH6/8AYS1bQUvJP/Y+aOrnuzBzkuzLM6afSf41pqlxPg119d0VxaqVP9j507iUVyzj3d5S+FbbW77m8btrF12qV7etrdxK1eY54OsqSq17+hTXKckjiV7yMK8nCL3Pjg9N0VoNzqV741RNxjLKyjqPqnTGl/DaO/LjKTNtSO14O/trdW2mOGO0UdBXf5hzqNa4ZFlszSLFLkuIx2yTSj2ZhVlToR31OMGu7vI2lrOpN/Kj5jr3Vta5uZUaE2skyya4uLb6HU1qzzt39jbb6ra1niEuUfHFV1Gp5vEfP0ELvVbSe5VJYb9i45YvRl42WtvuVG8n/dM5kLijXj4N6+H3PkmjdXToVoU7iUm2z6LZ3VLUqKq02sv6luUnw4XG4/LrOoeg7K9U7izp5lL6HyfWNBvdKuJKvDbTbwj738VOjSUM9jVc6XYarbTjcUlKbi9rfub4ubvtyzm351qpUceH3ZYPNJyq/Oet6j6NutLuZVGs0221hdkeRrNOtsSwfR4+Xbx83H0qk3H6AY2rAPRjdvBcNAAOjM6AAQAAAAAAAAAAAK4pkIm0BHHASZknlmeFgKxjPDS9WcidpUeJNGmjFSqrK9T21polW+0G4uoR/s4+xzyz1W5juPEb3Gfh1PkFTYl+T3LGMm3TqQlv98GKXg1Hui8fY1jntL0nPr3BW03lEN7ZAATSAAKmgSaUQWcMwJWsYxlJuKK5J4yMJRMrejKtVjFerM12w+BThHymLWJZR3U+nK88Sj7exhLp+6jHl/0Jvpy/Zhv/ANdNOU1hxOfbatc2u1KWDgzo1KdeUJPsVwcsfQ54zddbjcpu/D1ln1K4peNPn7nfWWtW13hSnnJ83ccmdKvWtnmMsYO3tlj08HN4WHJux9UlNNZpGynGo4vceH0rqBqajUk2ext7xXNOOx+h6ePLGzt8TyfFz8e7jj6hp0LuhPMcs+f6npzsa7aWEj6bJtPb7nm+pLRO3nPHJjkw/i9v4vzc7fWvDxj4jz6no+mKc51pLHZnnYt06mPQ9h0pBNzaR4sJ/J9Tzr/1V657owS+hI4lDkuXJpM03VzTtabcvQ+hL/F+V9c8s/4spUabZhKyo1FyjhU9btpSw/8Ac3UtTouTzJY+5i+uu3pxx8nGXSz0mznFqS/ocKv09aKm5U48/Y7SF3QqdpL9zC8rRhQltmv3ONuG3TxMvI9+3zXUraVC9msYijiHO1WpKd9PLyjgia+n6P2uuwAFrNcrSobr4+mWSxbQ+x880OnvvkfRrZbaMV9C8PVfK/J8uUx0yuXi3n9j5trUt16fQ76e21qP6HzXUZ77ps3zZbX8XMtbcYZIQ80wfTy7oczS6bnf0zhnbaFDde0/ub9d9OmUmPHa+hWkdtukzK4SjRk/oxBNRwatRlstH9men11i/LTeXkdPm+qpTu5Y/wARxvCkvQzvambmp77jRGc33Z4rnZX6iYclwkZpNT5O26dko6hJnSTnJzwj0fTVo3c72u50x7a8iY4+PZk91Qlvpr7HXa1FLT6q+h2sYKMIYOo6iqKFpNfQ3Zp+U8PD/u1HzjZieSuW7gqkmSON7OdfqMv9WJQ+5DbFAAGpegABkAAAAAAAAAAF2xUd77oUoqtImcrb7mUWqMeO4aSo5xe2I8Oaw2iNyb3HIo2txdU5ShnEe/AHHaTfBJPjBZU50pYkWWHHIRIxWMkTyyJvsVLAFAAQAAAAAAAAAAF9DBmfoYMAmZJmGCpMQZZwZRi5MsKbkzlQpqKNstcaJtitqwZNr0MUwKQECAGSEAjGQFVFMUUgEBAKQEABjJAAAAEKABUzHIyBnkxbMXIxcgsJMwZWyMKgAAAAAACCtmLNzpo1OOBsRGT7GKeGXOQAAAEKQoAACoq7kRV3CORDsH3MYPgrZUAF2BAAAFBMjIFMovkwyZR2rlvlegt0M6tCo4OpGLwXw6lOgpuLwz13S9jT1SEaVfEYS7vBn1Xp9LT7V0bfE1F9zPvN6XTxMZLltdwJJP5nhkRZdppWapGxmuZTTWATJFUEyMhVBMjIFBMlAAAqgg9s8gslmHHczldLj8sFiNVzb79ju+ntEravewypbIy/kdNRofE1YU848yPsvSNjGxtE3BeaPdo+dz8j63BxXW3f2Ol22kUIRpxhnauUbajdae5y/kJJJ8Sya22pZR4blK9E+OmUpLa447ep4fqvWpWsPCjN+bjg9nP5JS9cM+Q9WVKlTUoRaeFMz6WHHu1jo2lVNQr+JUk8OTfJ7WjpFC3pqG2LZx+n6NONqpRxnCO1dPdV3ybR83yOfKZXGP0/g8OPpLk6a7saaz5Fg8trdjGjtqQaXrwe4v8AY6eG8Hh9duXUlGnDnnBvxva/Ll5+PHJ09F0NdzqU5KTbw8H0OOJYPA9DWUoW85SWMvJ7uDxJI+luPztZ4W5o1yUlNNejNiit7eTLckmmZqO5sK6qxSz2NuoaRQ1ChKM1Ft+50FnWnbyeMtNnaU9SbmlJ4RYPnfUf4fScp1KPH2PCXOmX2mzacKjS9cH6TVajcUUsRk/sdPq2j2l5ScZwhHj/AAm5ZTevl8DttZnCW2pFr05O4o6hSqr5kjuNd6Jo+I5UJNv6HlLjpnUbZOVKlUkl9SZYw+XeRqw7qSZswnyeUjXvbPitTlFr3Odb643iM0kc/Spp29ZZoVPseXbfxOH7nfSv6ToyW9co6Oe2VfcmdMca3H2HpJU6XT9OpKaivqzHVeu/hk7a2puclxmJ4b+PTpdPq1oy/MXomeh6P6d8esry5z5ucS5GUS9NdDRtb6juFUd3XpQbzhnJ1n8MbtW7q/FSnJL6H1nTnbRoqEIQW1Y4RzWoVYNNJr7HOXSSvyxVpah0/ebcVW4+uDvtInrGuz8KNWvTXufY9a6Ks9V3VGoqT9kcvR+m7XSKHkjFyUX6G7lFuUj4prOl6j07UoynfVKjqvtnsdjYz1etSTU66WPY5vXdpqNfUaNVW0vDpTz9MHp+lNfsa9GFvcKlCrhRS2ol1o3t465q6rbQc3OtwcTQ7W41HVKkq1SWcZ5PsGr6Zb3FnLw4Qbfsj5zZzpWGt14VmqccYyIsdeozpalGO9vZM+j0a07i3g5NrbFdz5pfXNC11KFVVE4ynnJ7y11fTq9vT/5mKaiuEVXE6ltKVXSak5RW73Oq6P30rnHiPbjsdp1Fe2M9EqwhcJyOi6TuLWFylUrKKx3JUrsOr9OlqFDcuNiyfIrim3qMVtb2ywfcNX1SxpWNZeNFtweD4/ZVPibuvLamt7w8fUntZ0zp2dGn4lNRj5TOvTdOhtdQzxKmsxjk6/VKzp2/iN+Z+g3abjqreg6l7N53YZ6ajUTpqOzGFg6fRqW2pKq+d3ud1JxguGuTGV18pqtUoy3cS4NqklDDXJgsvlLJfNnzLCJJKzqm5ewyvYOUEu5qdxCPdpF9F9a2/wAjFtvjBxaupUKa+dHAra9GOVDDZqcW1k07hRS5lNI0XF9Soxfmi2dBPULu7lthB/yNtHp/U7qSk6NTa/qX9emtLW1tyntjTb+xxadhqGqXmKcaqpv2XB7HR+i6c5x+Jbi/qfTdG0Kz0+2jGEYTa9XEutL8PnegdAuo4SrrL/zI+o6TolvpdGMYU4ptd0c+nTt6Mdz2xf2ONcalHDjFrjsa3EbL6tGjTcFJPKOgk1N5M69adaXmyjWoqK7mKjExy1kyzyTlc4LiPJdXXsqNtOCyso8Bo1rG4uo1amH9z6F1hYO6tKlZJ5jHsj51o1eVG4jRqLaZ55109vh2W9vYUbOnOe2NNHZT06hKik6MW8exr0mpFz4w+DtlOKUs45Pk5Z8kr9JjwY3B4PWtF8PNel5dvPBz+jdWnKtTtp1Gsv1Z3N9FTsqykl2PBWG+jr8FSzj6Ht8fkt/2fI83gmL7YmqS3t7zKnNzbae04GnOTs4TnnL9zmuCSTzg9WU13Hx/fHem6q6F1Z1bavSjOc1iMpeh8e6q6UqaVqDuYtumsvC7H1qo2pxkvQ4XUNrDUtFqwmkpv6HXhz1e2c8PadPhEpb6jmuE/QHI1C2lZXcqOOF6nGzwfU4s5Y+dzYaqgiZkem/Dw2doBkmSCgmRkCgmRkCgmRkCgmRkCiWMkJgDLssmdGLqz2o1+mDZb1nQnuSyB6bRemfj7im5VVTSfqfbtE0G2tdJlbboTjOKyz4JS6nr0Yx2Qxj2PfdJda1q+nVYVeJdlk8nPx55Xp3xykxb+pundOsak5xnRUl6JnznVKtvDMYQi39Dm9XajXuNYblUmk88bjzDk3VfLl9zXFjlj8sWyjeXlLBA3yTJ6IwoJkZNigmRkgpFJt7Rk2U8ZJTbHBybKSpXdLK9TiSk9+MGxScK1OfszDWO5K+oWM6dS2XkXY2VaEJQeIo6np++hXt0pSSZ3ra7LlG8ZuPz/k5cnHybfOdcsXQrzqdk2dNBNPln0fWtJje0OO654PB32l3NvV/s5YTOfcr7PieXOTj9b8uPOm2+JEXlliQxVU09rwiVU6nOMMZZbnT148eU1UqN02pQfr6HuOlbqVSlJSTeEePtbKtXko7G0e/6fsXa0m3Hui8cs+Xg/I54XHX27mOJSTaOi6oeLOeDu5PzJx7HmOp7uPgTp55O1ytxfG/HTLLnmnjpbXjtk9l0pHwozbWco8M4OU4vLxk+idN01GgvsceOT2fc/K3XG7yMsvODzPVFSSpzUZYPUywkeJ6prNVJxO3LbJ0+T+Nm+Tt5WFSsqjfjM2U61zKT/Pkjj7V3yZqWEccf5Tt+gz1L1HJjcXNN5+Jl+5nLU7n5XVnJHAcW3nLM08GbxQlwneiVWVWo3LIKuWVx4N446jGee6xBE+Sy4Rq1ZLrbvumobr9Hv6axBI8T0rSTuYz+h7d+WJqdPg/leWWyRwNVlizq/wCk+Z157qrf1PoutVNtpUXvE+cS5lJ/U4522vf+PlnGhCOQ9DWN18vaHoumqe64hL6nn4xTTPVdLUm3GX1GFtyc/I5Ncd29rhLg4GpQlVouMc9jntNSJPEVlpcnr3NafleLluHP7PmV5pFf4iUkpd/Y487Ksml4cv2Pp7o0587I/sR2VGby4R/Y8v6rbt9z/lbjNR88s9Hq1JpyjL9j2+laarenFvCZ2EaNOnwoR/YynKEYcy2nTHDTweR5vJzXX0yk1Tg3nODx/Ul+p5gn3R22parTtqbUZp5R4PULt3NfOSZXt7fxvBq+9+HEinkyw8lb2wyhTm5PlHOx9fk+ekAfdkyaZUEyMlZqgmRkgoJkZAoJkZAoJkZAoJkZAu3PORKL25yYtZM935e0LtfEW1JR7Hq+mr22p2dxGrTjlx4yeSg9jz3M41pRztbWfZg25uqSpyqycEu/odfDtyJScnlsZ4wE2uETJABQTIyBQTIyBQQAUEbwE8gUFwiMATGRyzZGGS6RIwybYU+TKMEjYuBo2YUTFyfoVrISwaQj9TJ9zFsJgUgyTIRckGQRQgIBUUiBAIMkyEUhSACABVBjkuQaUEyYObTBpkzFsjm2YuQNK2TJMkCxlknchchQDJMgUEyMgUEyMkHKkaZI5EkaZIyNOClwGiiAAoEKQoAAAZLuYmUe4StsSsiKEF2GSAC5GSAC5GSAC5CinNNkJzu4JSO/tNaqabafkyxJdjXca7cX9P8AOff6nTxf5qhLlFqVYKWyKM6aY8Vassl7CdNwipL1McmpNDJmqRsfY1SKMAAQAAAAAAABFABqNQJGX5mCmM/It5zzXD/ZybJqldwl/mR9v0qaq6fQx6RR8Lpzw4TfbKZ9h6M1ClqFm6UH5oRx3Pl883X3eG/weikkvlEHnuZRoTt8xq8t9iSXPB5ZisnyxnBS3Jex846w0ucJqrGPrk+jrMZZZxtS0+lf0cOOXguV6dOLUr5Zomvu1fh1pYWcHpZ9R2OzLq8nF1DoyTk50YJfyOoXR9/UnjKx9jzZePMrt9HDzLhNRs1bqCnVpbaE8s6zSdOvdTvNzhmO7J6XT+iKiqLxopo9rp+l2umU0vDw2jeHH6vPz+V7sdJ0+NlaqKWHjk7CHfJU0+3YrW1HR4hJubMdu5v6GcHjk1qf5jXuwJFyk8U+TdCk6k1CXzs3Rt3FrYu52ajb2Fm7u5xmP1AwoRWn0/FuPLD3PE9R9Zf8zGjYVN0tyTWTrep+q7jV7mdjp05Lnj1O06U6Ncc3epxU9y3L05LEs27nS6U69sqtyuWsnd29raVbZ7sfsdbWnGMlTo8QjwYq6dOapxfDLskYal0RpWoxdSUct/Q8fqf4axjl2lJv+R7mN5Wpv5vKcqnqax5mWUtfEb3onWrdvZQ8q+50tTTNRs5fm08YP0XK7tq6xOOThXGiaZecyo5z9TUqyvz1b1alG+8SfCPfaX15Tt6UKDqpbeO57Sv0XpM84t1k8/d/hmq05StacY5FM707ex6606jHM6+HI72y6806ay6/lPmFx+GmsKflnDCft/8Ak4N10lrNk/DjNfyRm47TCPu9v1jpVVKSrcHLjr1hcf2dTLPzerPXLWfh+I8L/KzKep65YR3KrL+UWZnHUyx2/Qt7daffQ8GtJYfHY+e9R6DZaPcK/ss5h5j5zDqjWKnapPcv8rNF11FrV0nSuKspQfGNrL+uxqTT9AdE6qtZ0OFavLM3g6/WOj6OoXlSpsbb57HxnTurNR0e2VC3qSgl6YZ2cev9ZdNSVxJP7MkxV6y/6BubmcYRpNxi+CUehrq2nGPhM8p/8RtWp968v2ZmvxE1KrHf48uPozclHrrvoy7mnF03tNVHoe7oxUqdJ5PKv8RdSqU8eNLP2Yh+IuqRWHWn+zJYOT1dp1xp1KlGsnFS4Oo02jSt6UnHu+TrNa6i1DWpJVpykovjhnCo1rxLjdj7D16Hr41peE2zz2qV/Gm6efU4sr28zsW79maHY31WfiYlz/lGMT1egsa1KlRipP0OTK/s88zOko6TqNaKUc/9pzbforV7lpqS/YmeOxyKur0KS/LmcGrr05LEpeU72h+G+pyxvcf2O80/8NKm5fERjKIxx1GXzqerzk8U5FitQu3iEc5PsVv0FpVtzVt0/wBjtLfRtCtsJW2Gvr/+CNbfGrTozVr/AA3Rzn7npdL/AAwlvTuqLT9eD6lB2lBfkQ2knq1NeTnf7mplpLXQWH4faZaxjLY932O8p6bQtYbKcV2x2NE7+rnKlwcWpf1XJeYly2zus9R02vG1ncUIeaPY8rY9W17HUlQvp7Yrvye5sdQUobKzzB90dJ1X0dR1S2ndWNNRqPszO2pdu5VzQ1O0jO2lub5Orr06lGpyvU8Jper3vTV66N7NumnhJI+l6fdWut2u+jjco55YVwW5NZkYNvJurUKlNtSOP6gZpr1K5I1vJnThuA415Rhc2lSn3ckfK9f0K6sbqVWlDCR9cq03Comuxw7+1oXcHGcMtiz2+W+PP0r5ZpGvOzmo3EtuD00eotOnBSdXkx1Ton4hOdGCWTpZdE36yotcfQ53x8a+hh+Ryk026z1JSnRlStp5ysHE6U0+5ur2FepHjPc7LTOiayqKVxFNJ+x7bT9NoafFQhDDRceKYuPL5V5Plz7altpKD9DZJuo9q/SZLyrd6GFOUacm36nR4rjN7ZwSxz6HHvGvCbfymye7eknwzo+p9SjY6dUjuxImEu3XqR8w6oqwlq9VR7HS+htvK7urqVZvOTV6H1OD4fM8n5F3M32MF3M32Pdfh877YgAiAAAAAAAAAAAAAAAAJnlI7DT72dldU1F4i3ycDbl59jNtSWfVGasc/XrpXV66sXng62KcVvfqG5SXm7lnLdTUF3RNKmc8giWFgpqIAA2gACbAyi9vJiWS8mSXtBtN5LJqWPoYxi2TmLM2OkvTsNN1GdrWis4R7zS9Ut7iMd8+T5q16o5Nrd16Mk4ywjWN08vP4k5u31OcpNZpco41azjdRxWR5ix6nhSSjVk2d5b65QuEsP8AqdJ635fJ5PF5uK/xcer05b5xCPD+hrj0vbbsyj/Q7hahSS7r9yq7hL9S/cW4RnHyPJn8a0W2lWtslsXP2OanUjHEV5Tj1L2jSjmTX7nV3XUlvSjKKbz9x74l4Obmvbtbi7pWtrNyeJHzrWL+V5eySeYs26lrFa4k4xnwzq/kh4k+5zt/i+14nhzhy22qK8i9co+kaRQdKzpygu8T5zZwdxWjjtlH0ywk4WlOPtE5cd/k5fleTeFkcio6mOTw3Usk7mSZ7erNulJ5Pn3UUpSvZLJ35b08P43HK5On2wcSFhF+ofc54PtZSy9oADVZVGTfBgXIl6SxF3EuUXAXJm13k/i9h0tTw4yPXS7HnemaWLeEj0T9TvJ0/L+f/Ll06DqCptoSXujwK5b+57LqmrtSXujxkHyzllH2vEx9eOI48kfBtXLNcu5ix68Mp9kHzg9p0vGUbfK9zxMP7WK92fROmqcY2DyuTfF1k5fkMsZwWu9UnJZOr1vUHZ0Iyzg7NPEcI8h1bVboRj9TpycunwfD48eTk7YrqiUeN/8AU5VDqenLvM8VFRa5LujH5Vg8/wC2193/ABeKfMe6qdSUYrPiHV3nUiqRajM8vKTfcJ0/VFmdq4+Nxf033d7OvLvk4yh6sslF/KiZb4K7euOHUN3oZReDHY+5kgxbtH3AfcGogADQAAyAAAAAAAAAAAAAAAAAAAAAAAAAAAAAAyFJgoJmaWSRgzdGAEjTNsYYMopGaNMscYJ6mTMPUDIhMgAEQAUgBABMlyAICAUEyCIDJCZAyBAAHchM4BFZi3gORhJkbVyJnJgZLsAIykYAAAAAAAAAAAAABzpGiSORI1SMjTgkuxmSXYsGsGRCiEKQoAAAZwMV3NiCVkVGLCCK+5MlAEyMlAEyMlAEyNrfmz2KAM4ySjva5D2y8+DAA2qk63HbaTsFx2CCwZrkbTXIK1IoBAAAAAAAABQQFlWKYteK/D7fUoglKrtbx9TGc6aw+Wrdul4S9PU9F0vrE9AvYb5uUakjz1VeBLdHlmTUq7jLlOJ4OXDb6/DyTWn6VsLuhrlnGvTlFOMVxk016UqWW4s+Q9KdWXGkVoUpZdPPLbPtGk6taa/QjicMy9jx542O3tHXqSksYJFPPc7O60pW8nKLyjrKkJKXC7GJf7S/+K4xztazk11KMIPypGe6TXMSxjBvzywPbtd9MY09sd2TKH5uU12E4rHke4ypOUc7o4FrHrawXlZk3ufAa3PHuYv8h8ckbWS2o321lKvJYLQoO8wuzO6h4Ol2sqlWSjti2sgYSnQ0WznVuXGTSyk2fKepepLrqHU/g7HxKdOeV5Vwb+pOpLnqC+VtbxbgpbW4npuj+kadnQjdXC86efMBr6U6Sp6bQhd3ijVn67u53l5ceJ+XRfhxj6I2ahe7ajowWIr2Oucm3kfJFlVSW3bl+5gmo8tZZQXSrscluz/IJYLF8lqdhpzy+THqmFXnDtJmEM00885MKs4UqbqSaWDUjWM25Xxr24ecmf8AEnCKW7B4zVerKNonslFyXoeYqddXMqjxS4Jp0/Va+teLKa3eJn1wWFxQkvzaKk/dnzjSetfHqKFVqOXg9nQvI3MVKm01j0NaZ16O1lTsKkcu1hk1fCaZUeJ2dNr6o0ZYyyXOxJWdTS9IlxCxpRf2OHV6c0+o8qhTRysv3G5+7M/st6N9ut/4TsXPxHSptexjPoy1uPkVOCO03P3ZVOS7SZqZK6av0TaOi1inlLueVq9PW1C+jb74ed+5764nL4ep5n2PmGoVan8fo+eXze5uZD2dt0PbYUs02jkPo2zjL5KZztPnN2qzJ/uclSlnuzNyHVvpCzmltp01g30enbG34lQpyOfufuyZfuT2TfaR0XS1De7Sk2jdCw0yUVFWlNGrc/djL9zNumvbTlU6GnU3hWkODJ17am/JRjE4U5bVlPJpq1lGjKpJ42rJuXbG3ZyvIpZSwjH45yjiNTH8zwWq9YxoQlRg02dBDrq4oyxsyYucnTc47X1eV3NvDm2Yup6tHitM6rhXlGVWSi36HrqF5TuqScGnx6Gpqs5Y2N3iuXCeCJpPlZfuYYSi3nkReUZyxZjN+ZmUnCMcbU2awYauIoSzvUsJeh2mnXzi1Cfmj7M6t9sGVOXhLJrWkk029R9JUddtnK32wqLzZXc+c2d9e9Hap4Vd1J05TxyuMH1Ow1CVtU3PlS4wzjdVdM23UNl8RDbGpTju8q9QrmWWoWuuWaq0tkZKK4TOvureVKo8xaR840jUr3prU1Rqxn4ak+ZPjufXLS5tuodOVenKO6XogOjxwVSwmb6trKlVdOSaSNUuOEBhGflbkshRU1nGDJL2I5yXG01uM6tYd5bTCVJQab5yZqCk8yeDOVKEknGeWiba9E2xppeUqSa3NF3OosY7GDlKHk28F9jWlk1VWxcGDot+vY2RoP51y36GFzc29rRlKvVUHjjJcbsjiahewtbec21mKPk/UWvS1G5lTUnhnO6p6kq167pUFupt4bR46oorM9+Z+x2ww7TPPUa9rjPBt9DCDcvM0Zn0OLHrb5vPnuou5m+xiD0vFvsABAAAAAAAAAAAAAAAABVLAxh5ICKSll5wZKG1b8/yMRkGx8sAF0gACgACAZZzHBiCSrOhS2syfJiC/JWajwYvK4TCYJcVxtVQx5sl+Lqx4hJoxyMHLLDL6dbcddxvp39xBYdWTNn8UuMcVJHEBmY5fbnbx3/5bp31zPvWkad05PMpNgHWYpNT4jZwllrJqqfmwx2MskL8zRjlYztbj4SSeMnq7PqWFGklKGeDyIy/cxjjqpycePJO3uF1NSq0pLYkeV1S7VzeNpcHBUpL1ZHy8s6ZXfRw8WPH3DY88MAExi53sABqshF3DEe5FZvsIcstReUwocS5MV1mXWn0fpyOLCmzuH3Z5/RNRtqVlCEqkVJeh2X8StmpYqx7Hb26fnOfxs8ubby/V0/zIJM8pHKR3/UNaFWsmpZ5Oj7vBztff4sLhxza03mRO82WK2yMVLE3wS1nplTjm4p/c+j6DTas+x88tXvu6fH6j6dpajCzx2eEa4e8tV4vyG7wuW2o8YyeG6nqqcnH2Z7hYTzk+d6/PN5UX1OueOLw/i8Llm6dRz6jCg/c1xbyzM89kl6ff5MddMnJNdjW485MgdJZHP4TcvYqa9iMEva27VzC5IAk6GAC6UABUAAQAAAAAAAAAAAAAAAAAAAAAAAAABnIAFawRclDGTZGP0M6UMPLN2EEtYxgZbcAFNsc8maYARWzApABCkAhUQoAjAYEKQoEIUgFIARAgAAAjC6DGb4DMZA0x3AAjRgq7EAFIwAAAAAAAAAAAAAADsZGiRyJGiRkaySXBl6kkWDXgFBRiTBkQomBgoAJcmZjHuVhmqUiK0BQECAAAAAAAAAACbNAQCKsU1y7mw1y7hWsAAAAAAAAAAAAIBl4a2b18xiZJS2/QuU3BjGCl8xrnUnCWIdjdyzDfCD8yPPng9HFyWORQlCrHZUeJM73Ruor7p+vGNB/lx92ealUjnxIcYOdaTV1TTnzk4ZcW3snI+79O9aWGrUYU7ytio1ykegraeq0PEtVui+cn5ug7mzq77eW1pnvOnPxFuLDbTvazcFxg8XL49+nTHmj6DXt69F+aOEcZwpVHhvk7PS+q9H16limvM+OZHIudF35qW+Dl/rNV2xu+3SqHgcx7DxZVP5HL+Cqxk4VecGupbODSgnyYvbdykcdzUVx3N1rRncyTkjl22k1Kkk5Lg7+20+lbRUpRwkVHCtrSnYQ8epxHHc+a9YdWVtRufgbKSliW1rJ2/4gdW+BQlZWc2qieODhdEdHzuaz1C8hu3+dPAR2XRXSFG1oyuruLU5eZcHqNQvHRi6dHGw3ahVVvCFKlwksHn7i5e/a2FRtVp5fzGLWHgzcVGiqke5hnPLNQAAUVPBJNy7GM/lM4YjHL9Qa2kmnHL9DxPV3UPwjlbwny12PW3tXwLSrP2jk+PatUnquvw5zHLRi5O/Fg49vZXOqXPizTcX9TuYaFTjFRknk9PpumU7Wxi1HlHKla05xylyeHLybMrH2+PxN4SvnepaOrCUatPPues6M1mdWCpTfrg4XUVCap89kjgdIS2ahCK/xHo4ua5PmeXw+tfXAAenTwSAAM+uk12AAsVruP+nqf6T5dqH/AJgo/wCo+o3H/T1P9J8u1D/zBR/1FH0rTv8ApUcpdzi6d/0qOUu5mwUACSp9gAJlKuTCEXOT3dkeZ6r1T4C3lSjLDkj1UntjwfOevoydek/Q3J01xYbryVpa1NQufGqJ7cndf8O0KizhmGhJSt9sfmyeytbJu2juXJ87n5bjk+5weNMo+dXum3VrLdQi8ReT03SfUM9/gVpYeduMnfVbKjKnNTjnys+fXFGWmavCceE55OvDzbefyfG9X2eL3JY7NGxLB0+g3rvbWM85SSR3Lxng9m+nyrNVAAZlm2thfnjs9SE5i95rJjbYmvlb7HPsdRqUZeFL5J8HXRhue4u9Oax3RkbOrOk7bU7KdehHNXblYR4TpzXLrpW/hZ3b2Uo98s+r6Zc7qWyq8pnkuvOk1f0Kt3a08TecPBB6um6GsWMbmg90pLJ0laEqVSUWuzPL9E9SVNKvPgLyflgsY7H06rYUb23VenH51kDycajiWVSTOdX02dJvg43hv5cP9iRfaNOVLhhQjSy4+py6Wm1qssxX9DsKWjTjh1cYNy7Nuoo5TxLu+xzqdlVqPxJR/L9WbNSv9L0ik5XKTkl6NHzvX/xHVWE6Gm1HBPtybx4rl8OWXJp6nW+odP0qlKMauKq9D5XrvUdzrNSUISzCL9GdTXub2/uZVbqe5M41zUhRjihxL1O+Pj3HuuP7WudWNGMozfmkcJUXUnv9DOTVbmpzL0MVOdN7W/Kevj43Lk5WTaT2gm3L3lPRJp4s89gKQ3HMAAAAAAAAAAAAAAAAAAAAF0AAGgAAAAAAAWwAAZAAFgFIUzlbvoAAbmevk3sABbq9mgAGK6TKQAAkS2AYDM/bO0ARS35TdQAGtaAAEpDGQlhlj3K1kSdFvauWUYLhkfBUzNjUrZCUlPOWbo3U4N8v9zjZa5GV6kavrVrVXVmm2R4XKLmmu6K5U3Hhck121lybmmKbbyVJZZFxEizk3YzMY22040riEm+zPaWuv2lOmo1KuHg8M4N8oYT5l3MfHcay4uPknrX0R69ZOHlqni9TuKdxdTcXnLOFGaS4NeHubJblWOHx+Phu8We2S9CFzINDDG/Znn7VAAdbEs6GQrIJ8MwABdAAAAAAAAgAAAAAAAAAAAAAAAAAAAAAAAAE7FHcoZybKdPklOGWcpJJAMJRJkmeQVmrkZIAMsggAEyCAUgIBcgxKBSAhAKYlAEBAKgRAgpAQC5MWxkxbCmSMNkyFAAAAAAAAAAAAAAAAAAAAAHYtmqSNrMJIyrV2MZcmbRgwMSMyMWXaJkhRgsELgFAJYYaKAguCtkANLkZIAaXIyQA0yBADSggAoIBpVImDFAZ5MJGXoYyA1sFZAAAAAAAAAAAADLz34AKMlLAntkuxiCaWXXwkYpcY4MakpwWKbcfsZmUEn3OeWF+nfDl61W2yu3CX5uZfc5k4RuMOOEdbNJfKKVeUH6mbr7a9c8v9XdW91eadJSoVpRS9j1+hfiNXtJxhcynNLvk8RQvItbZJfzNtS3p145jNJ/Q83J4+GX8nbHl5OOayffNI6y03UoRzGnGT92eot5WFdKSdJ5/zH5Sg7yyqbqVWo0vZnotM65v7BxUlOWPdnkz4NfDrObHkfpSSpQkoxisP1R5XrXqKnpGnVYxkvEXbD5PF2f4s1HbONSik8euDyupax/xTr0VVrbKcu6zwcPWx6tWfbs+mtJr9R627yvmVKeGlJH3GxsqdlYRpwiltjjg890jp9jpum0lTqwlJHqVtcW0+GjN2zu/Dx2sSn4uFnucCG3wWpRzL3PQ6pZt5lGOTz81UjLa4MsjXx8tNLcqvmeY+xsffhcDZ6vgvZGvhqZYsSNmXHqV4Q2zb/TXnPoK8Hsi08GW9N4wSbbS4J3UmV267W5uemVYpYew+TWDVHVlCfMnJ8/zPst/bqvZVIru4nyHV7Orp2peMoPCbZPTb28Ve+tU5xS3eX2NlSajx2weV07qSCoRc2ov6lv+o4ul+W02/Y8GXBlcq+5h5cx45Grqq7SjGMZZb9jd0LYSqR8aUXxLu/udBbW9zrV4nKEtqkfVNAsI6ZZ+FtWWsnq4uO4vkeXzzKu1AB6rqPnygAM3KHYABNDXcf8AT1P9J8u1D/zBR/1H1G4/6ep/pPl2of8AmCj/AKi7V9K07/pUcpdzi6d/0qOUu5LUUACVNgAFu0uUSfCR47rPT5VqXir9KyeyXLOHqdrG8tpw91glysduLmxxr5Z0zcwpXMadTC59T3sJ+JU8kkonzzW9JuNLvvFpRlhZ7HP0vqKUaMY1fK/qeLm4Zn/+vt+P5uM09rVknGSx2Xc+f9RuM7+kotZ3HoLzqSjG18souTR5K3pVtV1CM9ssKZnh8fPE8ryMc4+l9ILbo0oNeZ45PQU8qOJPk6zQKDtLVQcfY7ecYylnOH7H0Zj12+Dy3sSz6hox2pepkng52d9MTKfZ25wTKf2K55WMGCiNrvH6ZTk8YjwINJPK5Cwu5moKXYbNW/DbZznTrxe5tZ7Hr6VOF5aeaHD9GeYsLScrmHDaPZUoRo0/ZE2nb4t1z03W025d/b5Sck8R+56joXquGoUVa1XtlSW3zcZPV63b2d7aThWnBJJ9z4Rf3EdD1uU6Fby+JnhmmpNv0Z4VCpHLinlHGqQsKPNRU4/dny1/iq7S1jGEFNqK9jx2u/iTfarKUIU5U0/WLLhxZX5c8rjx95V9l1jqnTdMpNwdJte0j5rrv4oeNvpW8JRfbKyfO38Xezc6lzV59HJmyNrGHM5Z+57ePxZvdeTPzsPiM7rVtS1KtuqXNRwb7Mip04LdLGTGpc06UcLB1lxcTqt7c4+h6Zhjh8MT35O58OVc3ajHbH+h16cnJybzkkU85l/UzOssz6Z5LMZ18pjEsmcmpehiDpJJ8PPllayytuDEArmpAAAAAAAAAAAAAAAAAAAAAAAoAAbAAEAAFAADYAAgAAAXJAXZtcjJASzYuRkgGja5GSAIuRkgAuSZACgyAAABdgACAZqZgAiy5ZjgoC7XPlwQAaJdHHsZqUVDGOTAAPQyyjEFRU8DJAZ0oXJAXRuslJIORiAmlyMkAvbW6AATpAAF2AAIAAAAAAAAAAAAAAAAAAAAAAACgVLJCoCMBhATJnCGWYtG6CCVthFJGT5Iuw9SptNuORgyzwYgACAXIIADYICCsgAEAGQBCkIugmQQGlyTIANKgEAaQhSA0jMWzJmD7hTuMYIu5k+wEAAAAAAAAAAAAAAAAAAAAAdk0YSNjNcjKtbMGZsxYGLMWZmLCMSYMiFgFBSiApAAAAAAAAAGRkgAuRkgAuRkgAuSIBAZehjIy9DGQGDIVkAAAAAAAAAAAAAAAAAq7lmmuxF3LKaJd/Qxj9SySxwTOewwyesvy648mWPw15cXwcijcVYNYMUovv3I1JfKc8uLLe58PRjz42aydtRvdyxPBslTt6qznk6NOon3NkbmUGnnsY1J8s5cVz743Oq2ckm1nBxofE2dRVqKy19Tk0tUhKO2ozlUq9Ga2+hrLDjy+HLHk5cP9naaZ+IOo2MIxm0sfU9ppX4p154VzOMY+nJ8zrWFG4b2R5NE9PqpYXoebLxd/D1cfnYS6r9B2HXulXcMV7hJs7JX+i3izTr5b+h+ZJfE2zzF4wcuz6l1C1ktlXGDhl4uUenHyMc36Jrad43Nuty9DjT066gsOnwfIbX8SNWtopK4wkeis/xTUoRVzWbfrycbxZY/Lpcf6eynbyg/OsGD8Jep1dt+IWh3CxWbbf1OxpdQaFd/2S5f1RPVZGSjBvyvkzzBLDfJtjO1kt1LH7mqVvKUtyawZuN+mt4xhzyvRnS6voNHUYSyuX9Dv2oxWH3NeJLlMayZuWX0+Y3XQ1Xe40YSYs+iqkaqVeEkj6dFzpz8ST8pKqlXWafcmq6Tly06bTNAoadBSgufqjuU4zWX3RKc9vlqiUFuzDsO3PLeSgAu9kmgAE9Ptu0ABZEjXcf9PU/0ny7UP/MFH/UfUbj/AKep/pPl2of+YKP+o1pp9K07/pUcpdzi6d/0qOUu5mxmsiAE+CZT4oABtfWUfl/mTGOTNx8RYXoYt7VtZWLhHX6hpdHUqclJcv6Hi9T6Kak/Bgz6HGLhyiuTmPV1xlnw+U0eibmrUSnTlhM9jo3TNLTYpuOH9j0yTp8oxblUeW+EXZlciMYwjn0QSjN5yHUp7dnqzW6kaSxlEuVYln237YpdzB4ycd39GPzP+pora5Y0VmT/AKmZ3Uvq7BJNGyEM8I8zW610qhnc3+51l1+INlh/Dzaf3O8k+2df0+gK0cllrgu+ytv7aptPkN3+Il9yqVfCOkuurdVvM5rZJ/j3L4S8nq+8z6u0fTqT23C3rtwjzGsfio4UpRt6sW/ufHHWvbqadWWTbHT5Tl5kdePwcvmuGfmYzp6rUfxJ1K5g4xa5+p5S7u6+o1N1Tu3nub46dGnzJcGWaFL05R7+PxsZ8vHn5mX049KxqPG7OPucuFpRhzN4NFTUGliLOFVu6s/1HXKYT4cJObk/2dlVuqFGOIS5OvqahOo2l2OI/M/MZqMPRHD+Vuo9GPFxYTeRJSqPLMorYiZaLvXqdMeO/bOXLZ1ik22F2JKS9CrsdZjMfhytt7oACs0AAQAAAAAAAAAAAAAAAAAAAAAAAAAAAAAAAAAAAAAAAAAAAAAAAAAAAAAAAAAAAAAAAAAAAAAAAAAAAAAAAAAAAAAAAAAAAAAAAAAAAAAAAAAAAAAAAAAAAAAAAUBkEYFLgIoBI3xXBrijdjgqVUGEJdgjHPJTBPzGQDJAQCgEIAIAKCAAEyDIIpAQjQAAAAAAMgAgIBWYPuZvsYPuBF3Mn2MUZPsBAAAAAAAAAAAAAAAAAAAAAHYsxkZswZlWtmLM2YMDEjMiBEGAUsEIUFEKQoEZCsjAAAAAAIAAAAAAAAAAGQABGQrIAAAAAAAABAAAAAAAAC4IUsx2sujAALv1LQZAJ77JQjSZQZ9dty2fDW6fqiZqxfEmbc4GUcfTXw6/ulbKF5UpvmTOfDUU+51e1P1I6eezG8ouscutO6jcUavdIrtqFT5VFHReeHZs207qpB+pZy6+WMuG/VdpLS9/aSOHU0ypGTwzKnqU16M5ML9S7xNe2HJ0x/28br3RrUuzZnDUL2g/JUmv5HaxuKM1ztEoW8/WJjLhwq/5fLj9OLR6k1Om/wDqKmDn0Os76k/PWm0cd2dKXZo49TTE+zOGXjS/Dpj+Qy+49LQ6+2pb9zZz6P4h0P1Qf9Twk9Ll6NmiVjVh2UjP+Nl9PRj+Rx+31CH4gWs1h0nj+ZyaXXNpLtDB8l2V48KMjFu4XZSRm+Lk3PL47d7fZI9U2tV58v7nJp6/byfzx/c+I+JdL9c1/MyVzdR/vZ/ucr42btj5PF/b7otYtn/eQ/7jZHVbd/3kP+4+FLULxf3lT9zZHVLuP95U/cz+jOfTc5+K/b7otQt3/eQ/7jZG7oSX9pD/ALj4Ytau1/eT/c2R6guoLHiT/cl48/6a/ZxX7fcPiKP/AKsP+5F8ek/72H/cj4guo7r/ANSf7ma6kuf/AFJ/uScWazPj/t9nuK1L4ef5sO3+JHzDUakZdSW7UltUueTqH1JctNOc/wBzra+ozncxrZeYmv1Zr78f9vudnc0fCSU4r+ZynXo+lWH/AHI+KQ6mrqnxKX7mH/El1J/PP9zN4s0ufH/b7f8AEUUv7WH/AHIwd1QX97D/ALkfE/4/dPvVmv5mMtcuX/fT/cTx87253Lj3vb7U72gv72H/AHIweoUP/Vh/3I+Jy1i6f99P9zW9Vun/AH0/3NTx825y8c+3216tQh2qw/7jj1NftocuUX/M+LO9upc+PU/cxdzdP+9m/wCZqePm53n459vsVTq21hw0n/M4tXra0hHiB8lda5frNhO4qPD3Gv8AHzvTF8rCfb6XW68oNcRZwKvXkOdqaPC/D1ZerKrCpLvk6YeHl9uOXn4R6ev1tOTzFyRwavVt1VfFSZ1kNNfqzfHSo99x6P8ACx124/8AJT6i1NbvqnKrTONPUryfEqkmdhGzpwWG0HQox9Ylni4RL5+d+I6nFas/M2zdGwlI57nRgu8TVK9hFcYOn68I82Xk8uVYQ0z1bRyYW1Gl3SODU1KXojjTvqkvRmbnMfiNY8WWfzXb1K9Gm+Io0zv4rsdRKpOo88hRb9WT91vTpOGY/Lm1b2U1hSZxJTnJ92FDHqZcI16e327TLDE7jABjHGueXLPpMIuADtrrp58stgwgCy2fKJhewKQ1cpfgAARAAAAAAAAAAAAAAAAAAAAAAAAAAAAAAAAAAAAAALtyiFy0gG3BSZyAJtffIG70AKAAAAAAAAoAAAAAAABCkAAAAAAAAAAAAAAAAAAAAAAAAAAAAAAAAAAAAAAAAAAAAAAAAAAAAAAAAAAAoEZSMDJdhHuPQQ7gciKMjGPYoSmQ2CZCCDIUAQEAy9CAhAAIBQwQACAEUgIGghSAAAAAAAAAZOSeFgxnHLyjF8GdJ7oPII1trbj1DXkXJHB+LgPKlgKy28dzDa89zLLwRSaAyxhckLu3ECAAAAAAAAAAAAAAAAOzZgzNswbMqwZgzNmLAxIVhhGJQUsGIKQogKQCMjKyMAAAABMgAAAAAAAAAAAAAEZCsgAAAAAAAAEAAAAAAAAKQuR7WAAMjW/lqSAAHrIlkAMjKG02Nk25K8ehj5kPSQ0u1oRyNzLF4LuNb0NP1I0VyZPuYy45k3OWxOxd6xjPJktvqRwhnJynj+vcrpPJ/uNblLPGTKFepH3MsJdjFrJjLjy+nbDk48vmN8b+pT5jyzdDVK/rFHA2pPLOXQlReFLuc/fLB6MfF4+Tty6eqzb8yRyPjqcl5mjGlpsK6zCJauiVUuImb+Q9Plr/AIj3+D4qk+2CqpRn3aOM9IuorhcGl2d1Bln5KVxy/CZyuy+Ht5ruYuyoejOv23UDCVe4g+WdZ52Fc7+I5I7B2VMxdhBnCV9W9zJX1Zepf8rCuN/G8scl6dEwemRZr/iM13YepyX6jX7uNyy8TmxZ/wALj9SfwtfUn8TfuZLUn7lnPxpODmYvSlj1MY6ZScWm3k2/xNerDv6W5NMv7+Nr/H5mtaVBLHJlHSknxkynqEd3lfBY6i0u5Lz8aXx+f/1remrPOSrTIe7Mpaiv1Mweor0Zqc+GiePzNi0yl7szWmUfc4zv5PsyO+qejM3ycI6zw+auctNt0vmHwdCPqdf8XWfZjxLifZmL5uEa/wCO5r9Ox8OhH1G6hHu0cCNvd1Oxn/Cr6ouVx9jnfyHHj23j+J5crpy/iKC7SQd5RiuGjGj09dz/AE/0OZDpa5l3h/Q5X8pjl8PTPwWU+XXT1CK7NGl6lUzhdjuZdP07dZrQOru1Y0pOEVyY/wAvPPqOk/FYYd1x5X033NErqpLsaqqTfk7EhFnbjueXy5cnHxcbJ+JJGO1+pscpLgmW+56Jx15bzYfUYpL1LiLLtXqTC9DpMJ9uOXLb8MoxWBnBFlD7m/XFzuVXuXaTgZZPVkAyMmvWGgDIG9drqAAJf5IEKQk45j2AAKAAAAAACwi5ywu5jN7HhlNKCpNrIw2skEAAAAAAAAAAAAAAAAAAAAAAAAAAAy42mJYpqWX2BE2yz2MuccnodO6fuNQpOVKOUlk6u+s5WtRwmuU8BXXtclKsPsMBKgAAAqi2XYwMQZbWTawALgYAgGAAAAAhRgCAAAAAAAAAAAAAAAAAAACbkX0yDQAnkAAAAAAAAAAAAAAAAAAAAAAAAAAAAAAAAAAAUAAAZlT7mOGzOmuQN3oA+wCVACBApMkyBSDIyBSAEAgwMMCkJkZAAhUFgQuCYCgIUAAAAAAAAqIllmX9m9q9SNbWmZxW+4g38vqS3TUjGcJxXiY4MHmUcpHsLXQnqthstoZm+xqr9J3Om0t9zDEfsZ9pvW11Xk1J+oaTORdxpxqOMVymcdJ9jSEI8lfDLhx5MW8vIQAAAAAAAAAAAAAAAB2LMWZmLMqwZizNmLAxIZECMSgAQhSACFIagjIysjABgMCEKQCgAARlIwAAAFIAKCACsxZSMAQpAKAAAAAgAAAAAAAAAAAAAAAAAAAAAAAAAAAALJsABNLP4hPBnJ5i8GUVlm+nF54OXJh7O2PlXAo1bm3/AFvB2Nvr6p4VVSZhChujyjRVsoN90eHk8T2fQ4fy1jv6GsW9eKe3Gfc5tN21VZxH9zxTt6tOWYOWPobYX9ehxiTPn5+HyS9PrcX5HDKTb2jt7Z/oRh8BbTf9kjzVDXaifmgzsaWvxxykjz5cHLHuw5+LJ2M9KtvSmjS9IpS7QQp6zSn3aORHU6L/AFROVy5Y7zj4snFehU3+lGuWgwz8qOzhe05/rRtVSnLnejP+Ryxf8Ti+XS/wOH+FFWhRfojusw/xIm+K/Uh/k8hPF4v6dQunoyeMI3LpVP1j+6OxVZdtxsU3/wCoP8nkani8X9OtXSn1j+6Ml0p9Y/ujsVVx/eGSuMf3g/yeRf8AF4v6dculIr5tr/mbI9L0l3jE56u0v15D1GMf1IxfK5/iJ+ngx+Y48OmqC7wibo9O2y/uoles04d5In/EFFfqiX9vPVn+PPpsWhWa/uom2Oj2a/uUcGr1DRgsqUWdbcdY7MqNLJ0nHzZOeXJwR6WOm2kP0RX8yVqNpRp7vJ+54e46sr1sqNOSOvqatdVnzKeDrh4vLle3nz8vhxnT3FXXbG1WHBNnSX/VdOSaoxa+x5mVGtcSzKpJHIp2cYrzSTZ7uPwdPm835SSdVquNSvL2T21JJM4c4Tj/AGjzL3O0jRUX5Ymi4p921g+hxeL618fm/I3JwkuCx7mW3Bj2Z7MOOR4s+a5rLuQr7kOmTAADKAAAAAAAAAAAAAAACgAAAAIAAGxk4tR3ReGKbjB7qi3ZJiU1timza6HixjCPMvZE9mpGGHUeY8Ik4tPh8HNqWVzb0vzKEoqS4bRw0lGLTeWN7GAALpkAAAAAAAAAAAAAAAAAAAAAAAANkZxUVlGsJbngUj12j9QQs6EorjMWjzl9du6uJyy8NnH2OK4mTKh9TLTLyxjjHJhkje95KkWM0wXaZJGaRRjFYRSsgEIUgAhSAGQrIBGAwBDIxMgIRlIwDIUACgoEAAAAAQFAEGCmSxtLBht9SrngqeCY5yXRsaUSCXIJYAAIAAAAAAAAAAAAAAAAAAAAAAAAAAAAAAAABGUj7gZrsZwNa7GcO4G30IH2JkCkBADIAAAAFBBkCkfYZD7AYgAAVEKBSDJABTEoAgIBQRFGgABdoRjKby3wjOnF3VxGnT8ueMmEk44S9TkUWrZeIuZLk55dtyvqfR13a6HaQjd7Zyj3eTX15exvNOVa2klGT4SZ8yep17meN8oL7nLWrVfC8Go5Tivc444fz23b1p1Sz4st/PJlWaytom1VqNrjkxxtfLyelzYpv1BZSy8InYJQAAAAAAAAAAAAAAAHZsxZkzFmVYsxZkzFgYgpAiEKYtgCAgFICGoDIykYAMgAEAAoAAEZSMAAABCjAEBcEAIMAAQoAAmRkCghQICgCAoAgBAKAi4AgKQAAAAAAAAAAAAAAAGWFgpvTEB8EyRre2SeDmW8mnwjho7K3glFP1LO3LOdOR4k9vY1qEZvzPBkpvsSSTOsxjzyWVk90FthFOPuapR3fMkjdGbjHC7GMvN3OeUnw1OXOVxpW1N+polZZfDZztiMlwcrxSvRj5meP2634aVPs3+5Pz18uf3OzcUwopHDLxMb9PRj+V5J9uujc3VPtF/ubYardRXMTluKfcwdCHsccvBxv09WH5rOVgtZuF3RmtareqMfhqb9CfC0/Yx/x+LtPzuTYtZqmf8AHq3saPhafsPhKXsP+Pxan57Jteu136GD1q4foY/C0/Yvw1P2H/H4n/PZJ/Gbn2MJapcT9DZ8PT9i+BBehvH8dEv5n27cWVxXqe/7mpxrS9ZfudiqUUXajtPBkcMvymV+HWxoTk+ZS/c3RtX65OaoJPJkdMfGkeLP8ha40aCXdG3wYJGwmDtOOR5svKzv2KEcGLpLOcmeAamMjjeTLIjLw1wsmm5zODk1ybjCtzTwXcbwm/l1nqzCXDNk/LJ4Nb5MWvVjJpAXHBCTf2lAAVAAAAAAAAAAAAAAABQARljgbGID+hcOa8vddzNqoDKMofK/mOXZafVvK8aMFmcuxNrpqtY13UXg09zPonTXRVpFK+1KTpKS3LJv0Ppu30ajG71SG2C7vB0vU3WM7j/lLGp+VB4Sz6Hnu7dRufDk9d6pbbaVvZbJxitraSPnu3ltvk317vxJcvzPuaX35O+MZqAA6sAAFAAGQAAAAAAAAAAAAAAAABCgDNJbc+pgMvIpEUm5GbUZrlljHJmqUURdpCmscF2mSW3hFyWJWOBkpADeSBkyAICZApCkAMgYAjAAEMiFAhGUjAIpEUClMRkA+4DYAAFWPUAC7XJ+UzVPasyA1mVGDqV4w9x5c4R2ug6fO71OlGKzlkyy9Ztccd1xryydGm5YOCnwfQep+na1pp8qrhiK+h8/m6aexfMjM5ZW/RItPJiVUakE21wzDLNbZs0yBMlNMgAIAAAAAAAAAAAAAAAAAAAAAAAAAAAAAARlGMgEZwNZlFgbn2IFyXgCELwMICAPgxyBkDHIyBkTIKBMhggAFIABBkCkJkACkAAhQARSA19CggMVGxNtdjCcmuEVSaJ6k0RIyxy+GXdKbw15fcjin3Lny49DXq17CW3OCZcu5c4IE2xxiZk+4xzkAQFAEBQBAUAQAAAAAAAHZsxZkzFmVYsxZkyAYkMgEYmDNmDBgQxMsADEFBqDEhkQCEMiAYgowAAAAjKRgAAAKQoEZCsgAAAAABMAuAAGCjAEwMFwMATAwXAAhDIgES5MiYKBCFIAAAAAAAAAAAAAADJPgxCfI2aVmK7mT7GMe4+RuhHLOxpLEUcOhHLOclhIsjhy2iXJWEPU3LXm3QFfchGwAGpoUAF9ogRlIzO5SAAGo1sAA1DYABqGwAD4ZuwADadqACtAAEOgAFrIYz5jgyJ3ZnpZa6+tDDOOc+4jwcF9zN09fHldIQPuDLdoAAAAAAAAAAAAAAAAACoIy9CDJKsMEjubxHgzUN7xnB22m6XO9qKG1xS/UZajiWOnTvbiFOEXlvGcH0CzsrXp2y3XSjOuuVJM4FS5s+mrbYlCtUmuH6xZ5TUNWuNRm6jnJR9jNHO6g6mu7+UqVKq1SfZHSVJwhRUmszfdmh1ZTWzY/wDUZQhu4lLt6CYtbShBNTnP0JvVTlLhEk8S2p4TNmyNOOE8mp0lrAAG9sAAGwABAAAAAAAAAAAAAAAAABQAKlyDOK4CVYozwEisuk2xAZCLAgIFGAAIQpALkhMgAQAAAABSFAhGUjAIpEUAAAABQA7dygAnn5eDJUqjabllGtv2KpyXuFdzp1xZUGviKW4+j9JanodW4pwp2yjUb4bZ8hhVeex2ui3U6Gq0pqbikcuaW46jWF1X3/qGtptHTZSuYRnD2yfGtev9EqylG0tdk89zk9UazWubKdONaT+zPHOTjTUpct+5w48LHTLKNNypuWYyxH2NW02LdVbfohtPXjOnHLJrwDJoxNIAAgAAAAAAAAAAAAAAAAAAAAAAAAAAAAAAQCAjMomLMogbUAiAUEACXYxKyAAABUCAAMkAFyQAAQAAAAAAAAAAABsAANCjJBkujS5ITJRs0AAgAAAAAAAAAACMBgAAAAAA7NmLMmYsyrFkKyMAQEAGJSAQhSMIED7EKDBGRjYoAZRCFIABSACBgsAACoFyQhnaqQpQMcDBkMjs6Y4GDME3TpgVIuDJREyqMcMuGbEitcGttaacDBswME2jXgGZi+5RMEwZMgGJQAIQpAAKgBAUAQAAAAa0AAM0DFdzIEIr5RIrkyRYLksLXLtovKZzH2NFH5UbjpK8+WSrsRfMANuSy7kAJo2AAuhQQFFIwCaAAFQAAAAAAAAABBQQFTSggBpQQEanSkXzAE0u2u4i3HhHWy4k8nbz5pnVVV52ZuLvhdtT4YEu4JrTqAAAAAAAAAAAARgUEKAIu5kTDz5QRl3Cg84xyZRSbSXzPsdvY2cYRVa7WEu4XTHTNKlWmp3CcKX+I7e51mnpNDw7ZRk2sZwdZeaxPa6FGX5C7HSVZSrSyyaVtrV3e1JVKs3nOUsmnxOdi7MmxJCMVknqbZus4R2qK+5jGCb3N8iXchpPZJLdLn0K1h8MAaTYAAAAAAAAAAAAAAAAAAAAABAqCBSMqXJRUjbFcEisGQRksEbRiQIMhSCtRAVmLIqggAEBABDIgGJUAAAAApCAUBAACsgAAAUEKBUVYb5IAK8J8FTyjFFAvYsZyVRSXGCFRYbcqdw5w5bb+px5ydVKMuEiFJqJtnLFCKUOc9zW02ZGRqMtLTMHFm9mOCaal00YwDZOOTXjBF3swM4LkxayBQAUAAAABAAAAAAAAAAAAAAAAAAAAIBAMFQKBmnwRkKAAABkKyAAAAJkj7gCkAApAAIUAAAAAAAAAAABoAAUQFA2bQFBDYAAAAAAAAAQCgFAxYKxgCAEAoAA7NmLMmYsyrFkZWRgQhSAQhSAQjKRhEfYhX2IBGRlZGBQwGaVCFIEUhSARgMC3SgAJtKFwAajIXAKS1qYsWEjNLJkokmUX0rBRMlE2xgbFTNbielalT4LsOQocE2mNNeumnaHE24I4k2jQ0YtG5o1yRUa2YsyZiWAyFZCiAACEKQCoBAAAAIAAABUTYAoNa2IQyIu4s0KbaUcs1eqOVQWRGMr05NNYRsMYoyNPPQABigAKAAKAAAAAAAAAAAAAAAAAAAAAAACAABFAAVKPtg4NeGHk5qeWabqOIma7cddc0Qy9GYma9AACAAAAAAAAAAEAKCgDLG3H1Ikb6c40FmS3Z7fQEcihQjbx8SrhvujVc307jim8U/Y41SpOcvmePYxfHK/YNI5JLDM4yikapLdyVLgIOTb4KoPGSLhmbnxwBgwO4CAAAAAAAAAAAAAAAAAAAAAAAABV3IAjLHJnCJILJtxgqDQQ7gCEKQAQpAsGYsyZiyKAACEKQCkKQCAAAAABCkAqAQArIVkAAAClIjICYKAwIikRQKVEKipVKQoRSkGSikwVGSQGDia5xN74MXHKJpY4pTOccGvsNKAAAAAAAIAAAAAAAAAAAAAAAAAAAABgMlMSgZFMSgUEAFZAyAUEAAAAAAAAAAAAAAAAAAAAAAAAAAAAAAAAAAAAAAAAKAKCgTBMGQwBhgYMsEwBAUAdizFlZGZViyMpGBCFIBCFIBCFARGTBQBi0TBkQCApDQhCgAQoAxHOV7FKsbX7jWzelcVjh5NbeO5nT8vcxlHxJ8dhZqE7qJyfoMy9jOUo0orJso21e7mo20d2TllyadseLbXFr14NsaM6n9nHcet0XoqrcKM72lhevB6236Y0SxScsqS+h5M+e7+Xrx4Zr4fLqWl30/loSZsjpWopNytpJI+x2tvpeVGk/6HY1NPs2kpLyv6HG8938un6Z/T4Q6NWk8VIOJlDDlg+1V+k+n7qLdTO/7I85q/QEY0nU02lu9uDpj5F/tm8D5+qLSy1hehFSaT38exy7zT9SsZuN5DbCL4NSrU7iPL5iejHl24Z8enF2cknFL1NrliXHymiq1ubXY7S7eXKWVrZpm8GyTNUmaZa3IgZEWCsgIUCFIAAAAAAAABACogYI3hoqL5f1E0LJNYwWFOU1wuSb5S4R2elW1WvXjBLOTW9Lp18qbhHMuDUmju9VsnRnKNRYSOlnGK4Q9tlixW5nOoU8I4VKPmOzotbcM1i451kDKUV3MTWnnt7AAEAAUAAAAAAAAAAAAAAAAAAAAAAAAAAQAAIShPUpMFKJYeTCv54meSTWYszWsK6ua2PBgbq68xpM165QAEUAAAAAAAACAQFGQALkm5ghRluMfUAAXJABGirgAAACAAAAAAAAAAAAAAAAAAAAAAuDEpAKjOMNzMEjdTXIRnGO0r5DBURcF7kADBMFIBMDAAWI0TBSEVGAwBCFIAyTJSAMhEKgADAEyAAKgEADJkrIBQCoBkuSAC5LkgAIoKAKiFRUqlIUIoAKKjJMxKAk8mUeUYtGUSjCcEzjyhhnLkaJxBtpRWhjkMjTHJSFMgAAAAAAAAAAAAAAAAAAAAAAABgAAC5IALkpEAKyFZAAAAAAAAAAAAAAAAAAAAAAAAAAAAAAAAAAAAFwQyXYCYGCgCYKAAGQAGRkACgACYGDIAc1kZWRmVYkZSMCEKQCAFAhCkCIMFIBCGRAIQoNDEFAEwCkAhEvOvYyGUot+o2qV3ziJM+HTT9RHzLLN1lbyvLlUkm0cuTk1Hbi49t+laXV1OuljKz7H07QumKVlCMqlNZ7jp3Q4WdGNSUVlrJ6bHiJbeEj5vJy7fS4+KRJNQW2CxE11relVpcx8xujJU1hxz9Q4bvMnx7HluV27WSOio2VeldOSflzwd6quFBT54JG4h8vh8r1MlKNTnb2GtzaSpX88X4XDNMo6q7bFKrhfY59soSkk0jtYUoYxxg522Nx4C5qW9WTo38HOb4T+p4/qHpy40uca1PHhT82F7H0TqKjQw3GMVJepwdEofxO0uaFz+Y2sQcvQ9PFyVwzwfLfEjVg4x4ZoqPYtj7nc9TaJV0bUvASbUsvcl2OgqScXtfL9z6XFlt4eXDUqORg2MmLPQ8aMgZCwCAMoAhQAAAAAAAAIVEKSAjKNKVV8GJuoVFCX3N66HJt7CpV8sO57novp2u7+lKqsx+x5zS9Ro2lSMqkFLn1PqXTPVFjVcIwoQjL3PNy5WTp0xjrusOkZ1oTlRikz5neaDXtW93ofcupNdt6Ni6jjF/Q+UarrdG5nLEEsmeDK35Xlmo8rTpuE8M5ihhZQUY1JtrHc2S8iPXi8Wdak5ZwzIikm+xTbjQAAgAAAAAAAAAAAAAAAAAAAAAAAAAAAAIAAESAAXcqo1yH2MpdjBmaT5cOvHucQ7CvHNNs6/BmvVx3cAAR0AAAAAAAAAgEBQAAIUhQAAAAAAAAABAAAAAAAAAAAAAAAAAAAAAAQAAZxRuijXBG5BBgMFRCFIwBAQAAQLAmQGRQAAQhSACFIBCohUAYDAEAAFQCABkKyAUqIVACgoAYKAAKEEUAFKFIUIpcEMigUFAmCoAopi45MkZY4A4UlhmJsmsSZrIpghkY+plQAAAAAAAAAAAAAAAAAAAAAAAAAAAABUAgBWQpAAAAAAAAAAAAAAAAAAAAAAAAAAAAAAAECoBgYKAJgoAAAAAAAAAQKEUAXAAADAwBzCFwDDTEjMiMDEhkQqMSGRMAYkZkQCAuCAQhRgCAoAxBSAQFIBGTDcki4M4pbW/YEYVaWOzPY9F6Z4t0pyj6HkacnVqqLPqXSNBULaM0ucHg8ivqePOnoalVUYwpxS9jbUdSlR3Ri3xk6qlcKrezU3xGR33jxqU1CLysHz73XpjqaOr/mKjVSjn3OwjJPzReYnneoLWNDdXj8yOy0StKtplOUu7LY1fh22ymo5TWWYNypJ+Xg1PbGWUzkqarR2mGZHEneU6b3Smo4N9DV41VshLJwr/SY1cpJ5Z5yq62kVty4SLp0j0l3Z/HyxUk4o5OmWlLS03Ce7JqtbmN5aU5J5k1ycmNOm4tt8osRweq9NhqeiV71RXiwWEsHxGqpU3smsT9mfea9So7SdFL8p9z4v1Pbxpa3UcPlPbwXuPLzY9V1BMjJD6UfKygRjINRkABVAAAABAAAAAAAAUACpgN8n6s7/AKfvpW1eDcnx9ToIYycmnV2PKYV67qHWpXFk4qb/AHPGOcpyzlm+vcOpDDZoprMhGcvhzbbKRvm8mFKOIll3K8md7IrkzJErNRliwGCgAAAAAAAAAAoAAAAAAAIAAAAAAAAAAAAAoAAAAAwqLMGdfUWDspLKODXjhszXXjcdmDM13MZIxXpggRFIlAAWKAAIAAAAAAAAAAAAAAAAAAAAAAAAAAAAAAAAAAAAAAAAqLjkxRtjHJWa2015Q+5VwiAGQMAQAACAhAZCkCxCMpGFAABCFZAAAAAAAAAAAAAAAyFAAoGABQCigFCKEAgilIUAUhQKUhSwUpClBGRijIIoADUaLjBxjfXZo9CVUIvmKhjkyqgAIAAAAAAAAAAAAAAAAAAAAAAAAAAAAABSIoAAAAAAAAAAAAAAAAAAAAAAZCgAUFwAAAAAAAAAIUACohcACGXoQM0KCgQFAAIFAoAKOWCkObaEZQwMSFIyohDIxbAhC5JkAQZGQBBkZAAZGQIQuSZAEKGBjgZecFHBL8LPlvs6ad3FH1nptRVrGL9j5Tpq/wCejJ9j6boVbc1BcHzfIfV8f4XUKNW2rupDhSZts9VjRg/FbydzcUoXNNRcVlep1FTR3vxnueKfLvflx7qpU1a4UKb8j9Du7S3+Ds40cYaMLGxVrFJpN+5z508Q3NnS/DX06y6lVoYlJ8M5FrdRjOKfqa7+0nXpqSnhR5wdV4sqk0lmGzjk567JOnrJqVSSnGS2njupa9NzlTfLycurfVYUnFVWzgUrN1a/xNaamn+lm5B32gxjG1i8d0c+p+UnJ9jj2TiqWIx2pI0XNxJVo0nnzPBLGo1VNftadwraSfmPn/WMaM7ypUpLg+i6hptGlptSo4RdXupep8z1x/8ALS3PMz0cF/lHLmn8K8wQA+tHxskKMBI1GADAKgAAoACAAAAAAAAoAEYFawhFsr7Ej2ASbORbrk0JrPY5lGnjDLGc705kflJgJ8GSZdPHle2K74MmTbh5KWEYsFGAIAAAAAAAoAAKAAgADAADAwVAAEAAAAAAAAUABQAAAAADiXEe5yzTWhlMzW8K658MxzkzqLDNaeGYr0ztWsAZyCKAA0oACIAAAAAAAAAAAAAAAAAAAAAAAAAAAAAAAAAAAAAAAALucmkso48Y5ZyYeVFSrLgegfmD4WAjFgMAQjKRgQhSEAEGQsCMuSNhQEyMgGQNjIAAAAAAAyAAAAAAAUhcgUpMjIFAKUCgBAIYKkECjAwAKMDAFKTBSwUpClBGRjnkz28BAAxlPaGo41d8mr0MqktzMfQypErRFwyt5IIAAAAAAAAAAAAAAAAAAAAAAAAAAAAAAAAikGQKCZGQKAAAAAAAAAAAAAAFwBAXAwBCjBQBSDIAFwTAADAAAFwBCjAAFBQBCgM0KRFAhQABQUogLgYA5ZCkObaBgMDEjKRlQMDMxAhDLBAMQUAYkMiYAEMiYAjIUACGWCAYk/UjIY8rYpPlut6nh3UWfQdJr7LaFRPlnzWMnncez0K7VSjCm32PneRH0+C9PpFBqdCDzzgz2xcXl8nUabe7k4N9kba9y40pzi+x4fivTvbsFXpU4OLmsmScasFiWTzlCldX8HXhHMffJzrCtUp3Hgz4wat6b+nbulFxw5YOBd6bCt8rx9jscRqR5ZjHb6MzFldA9HlD8vc3n1N9to3hTUnUb+mTu+Hz6hp4zguzTCFKMYJJnVaoq1OtTqU6Tlt54O4UH3XcjdRRalFcjez4ecravd3U1SnbyjDs2fPup1GN9Uip/wAj6lqdSnbafUnLCmvofGtYqSudRnWzwz18GP8AKV5+bP8AjY4IAPpx8nKhSA0xQAFAABQAEAAAAAAABQIygCvsRdisfpARWZHZUliCODQjmZ2UY4ijWLlyfAjJEwXBp5bO2T+UwwVvgx3Ga3J0uBgm4bibLFABWdAABoABoAASqAAgDIJkC5GSZGS7XSgAiAAAAAAAAAALtAADawAA2ugwmsozZi1lEI66suTQzl148s4rRl6sKiKRFI3QAFQABAAAAAAAAAAAAAAAAAAAAAAAAAAAAAAAAAAAAAAAABnTXJv9DVTXJufYrJENmOQ2AIwABiy5IAIUhBAAFiEZSMKEKQAyFZAKAABGUjAFIUCkKQAAABSIoAoKAKQpRQAEUIBBFRSIoApCgUuCFLAKClEwbE+DEIqKaKrN0nhHFqSyyVqNT7gAyoAAAAIAAAAAAAAAAAAAAAAAAAAAAAAAAAAAAAAAAAoAAAAAAAABUBAUAQyIUAAAAAAAACgAAAABQUCYBlgmAIUFAELgFZoXAGAIwUACgoAAFHKIZEOTbEMpGBiRmTIyohDIxAEKQCAFAxIZEYAgIXQMBkGhkQMg0BG/T3BV2LIl6Rw2xwdjpF06NfGTr8ORr89OeU8Hk5+Pb18HLH0mwuHGO7PzG+d69yot/OeU0jUtqUajz6HeT/NcakXyj5ueHb34Xb1el6hQ06h8LU+Z8nGlWU9SlOHZnT217GnUXjQcpe+DvbN07lqUYpZOWV07/Tt6VOo6cZLt6m6UISwoLn1FKD2JbsYMZ1lST459xL0z96baE6MK6o1VmbO1VjBLfKP5Z0+mzo1byE6jjn6s9JqF7b0bLClF/ZkrpI6O4UFJqnxg4s1Uacm+InWXGo7riW2aSz7nVa31JC1tZQjLlx9GdOPC2scmUxjqOtNchTlK3jLlr3PnLlUqeZvynJva9XU7p1ZTb5fc40pbJ+EfT4eOx87l5N7QqAPXp4bdowUFRAUFVAUhCgAAAAAAAAAKBUQqJs0j7mT+UxM1yVL03WizM7LGInFtopehyVBxy3LKNYxyysyT1L6Ejhxk8rg4rvdlTbscvsjN5O9MY8e65DZMoitq1wt8IySf0OZQ6au663eI0vqMr9umUxwm7XEyhlHYPpy5jx4hhPpu6gt3iNmPe/0xjePL4ycNFMK1lc20m2pNfY1KrJvDhJfdGrlr6ax4vb4rkAlNb13RnLy+X1Ljl7OWWNxumILlRWGuSJOTN26TXegFfBG0Po13oBi5beWaZXazhRb+xzvJI3OK1yDHJjC2r3HMVJfyOXR0C7rrKm19xMvZr0xnzk42Rk576auoPDqmE+m7tR3eKMsrPpjH0t17OImUxlp1zSby5cfQw+I8J7ZQeffBznN/46Xim+q2gxT38pmyEcnbG7cs8LixAlLnBX8pb0z96QGmpUxSaXczt7G4rQU1J4Zj3dpxf2zBl/CbpvvL9jZDR7nHMmS5aay48Z9tINv8Hud68zwHotyp53PBP2f+M+uP9tQJW065h/i/Y07qlLiUJfsJn/4euN+K3PsVdhTxOGW0voWPke58o3KzlhZ24dwjhS7ncVoxrQ8qwzqZySlKOOQ6cV2wAimu5SadkBSFQABAAAAAAAAAAAAAAAAAAAAAAAAAAAAAAAAAAAABkAoBUBtpo2y7GMV5UUrLEmTIYAxDKyMCApABCkIukAKBiRmRGFQhkQCMhkQAAABGUjAFIAMiEAFBABkimKLkDIphkuQKUxKiptkAUGwIBBFRSIoApClFMjFdzNgCmt5MlkoyZY8kwJS2obNMK7wmcTOWZ1ZtvuakTaqACKAAAACAAAAAAAFAgKCiAoIaQFANIAAAAAAAAAAAAAAAAAAKCACggAoBQIVFIwKCACgFAgKAIAAmwFwUG0ALgG0CMsDANgQKgbAADYUhSmz0BSBFQBUUQFGBoCjBRoYgoA5RGUjObaBgMDFkZWRhAhQBiTBkQCArIBCMpGAIUGhiMFAEIZADHAXYuAgWbY7sMvzFkk0YLgxljuN43Qqk6ck4t8Hd6brcqeI1I8fU6RskpSn8voeTPhenj5tPf0byjcpSzFM7a0vlbpJcnyyhfXNtJYXH3O4t+oKu1bsHlz4K9mPNuPptPV3L6G6WqQlTa4zg+cU+opZ5kjY+ooRXM+TE4q1jyR6i5vKkK26E2vszRcdQThS2zqt/dnkbnqKpPPhtM6ivfXFy3uX9Tc4GsueR6C+6iluex5f0Ogub+peN75NfdnFhTak3PPJjPO7yns4+HTx8vPtU3RfHJk4714j7iLTj5u4efTsezHGSPFlntAAGAAAAAAIUgAAAAAAAAAACgARkVUbaayzWci3jmSLGM65lGO1GxR+ZylgYxE0XE6lTbCC9cFt04zG5VrhCrVqOME2m/Q9LpHT8Z01UrcP6meg6X4cd9WOM8npZJRjsh2Ew328PmeX+r+OPyxt7S3oxUNsGl9Dc0lxGCS+hx6k6VCjmcsM6e76kp2+Ywmmxc/W6ePjw5vJ+XfKhDu2sl8q42pnj5dS15SysYOTbdSqTSqSSNzPF1y8Dk451XpKlOhUjtlSj98HU32hUa8G6eE/oc2yv7S7koup5mcyUHRe6HKZesnHj8jm4L/J85u9Pq6fVbe7GfUkKnivd7Ht9YsPjqGVHlL0PCVYOxqOi+MsxZ6vteLzY8822TalMsntjwYQj5NxshHc8MzGc5ZkwWZEk1BZzz7GVeoqSwjXa2la9rRe3yZ5Lv2/jHT069qlKnVv6myMGk/VHpNO6ZVJKpUefozs9L0mjbU1NfMvodxCW5bZJJFnB/b5/kfkvT+GLhUdOoJLCjwb2ox4jBfyMqihT5i/ucWpqVvb/ADzwa1ji8F/fy9xy40ITWZSSZHSjF8JNHVS1uznL+1N9HWLSflVTJ0xywvyz/j887cqrbUaqS2xX8jq7/p6jVpuUGs49Dt4Sp1FlS7ljmD57FyxwvcdMOfl4r/J86urCtZ1fllhGEbjjGOT6De2VG9pNYWX9Dxep6PO0nKUYvB5spZ8Pq8PlTlmnFSUlkx384NVCq9zizbt82SWvRJrLtorrB7Lp6nCVhTbimzyFflHsenU1ZQwYndc/Ozv67p3Hh01/dr9iSpxX92v2M5SafY4uoah8LTzx2PVjjPt8Djwz5MtezeqUGs+Gv2MlQpuOXFHm31O1TaTRhHqjy8yQuWEe+eDyT7emlRoqPNOL/kcC50mhdRlhRT+iMbLWLe64nUOySilmk85Fxxs6cLly8F3Xz/VdFrWlXfBycV7HGt5+JFU5cM+i3Fv8VScZxWGeC1a1enalKUV5EctafT8Pyv8AInf01QfhzlFnXV6OKjl7s5+fESl7mm87RwHs/wBbqOHIxM2YMNbGQrIGpAAEQAAAAAAAAAAAAAAAAAAAAAAAAAAAAAAAAAAAAoAoCA5EflQEflQKyjAYAjIysjAEKQECFIRpACAUgIAyCZAAZITIGQAAEZSMAAAAAAAAAUgApTEoFyVMxBWWxMqZgmZJ8gZBAICopEZIAUFKBRggFwZowzgjngDZJpI41SYnUyaXLLIsHyydiphoKgAAAAAACAAAAAAFIUlAAFl0AALuU2AAzo2gAKAAAAAAAAAAAAAAAAAAAAACgmQBkCFQAoKAwC4IAAAABFDNCgoGJQUAGUAYlBQBDIFEKCgQFBRCgoDALgFAYKMATBMGWBgDkEyCHJsHchUBMEwZECJgjMsmLQEyTJcEwAbIXAAxwGUgAYAyaEwQpMgUhAAI3wCMVWLcsjkpCyJaqx6mMm4/ICi4xnZFuXzmMor9JQzllhK748la8S9DLw4S+ZFRTH6o3+2ooxivKTdNMpDpjxxzy5LVcpSXJVtSIDfrI522pjkyb8uCAz7X4NICkNACFAAAAQoAgBAKAgAAAAACgRlBARzrWDymcGHMkdpbxxHJY55t8+InGtVUqXcUu25HIk8ow0qS+Nkn7meT6Y48tSvoVvTULenn/CjYtueDXaSzCCl2wbLiDVROHY9OGvV+c5/5c/8AJ5LqPUJQqTowlyjz8KCr+aayzuOobWarzrYbR1VBt8Zx9zhyY/y2/ReP6zjnoyVCKWMcGEramuYrk3yptLO5P+ZgpY7oz/8ApMuSXdY211KyrKSeGj6FpV4rq0i5vPB86rOMnjbyb6OtVbWKhHcscdhjlMfhfK8f9+Hw+jeI/NFPh8HieprPbdqeOTU9brJKW6XJwby8q3r3uTeCZ8lryeF4mXDkW890FB/MZbvCbbMLam1TUzKuswyzWFt+XtyntyNLjKvXgu+We10fTfh6KUo4b5PP9PWfxVaTa+Rntow2qLXZI6YYyZbePzuf1x/XBuNKW31Nd5XVrb+LN4TM684KDmzxurapOvVlQjJ4Qz5LOny+Dxv2Z7rO+1+rKTjRmdPVq3Vw81Hk30qC+aS5Zs2HKS5P0WOPFxYzTr1QkjOCqU3mPc5mwmwZcNncc7y7+m601m5t5JVZ+X0PWadqCvKfLyeLnSUk8ks7qvZV09z257ExuUnbhz+PjzTcfREvDfBx7yjC4pvxFk62l1HQdDDWZCn1FbbsTjlHWckny8HF4/Jw5dPLX9r8LczljEW+DGinODl6I7LXb+2uYJ04rJ0ltVfmS7HG919vPd1tnWqR3bfU9n09xZQfoeMqxjnOOT2PTz/5SHsbwx3lHj83rjru5STPP9SSXhYXsd+2m+x0HUVNyp8ex35JZ8PlfjdZcvbx9tSU4vd7mxWcHPGODGhSkovEvU5caco0t7kePLit7fofIz9Oo4yk7SonHjk9roF+rui1nO1Hj6tNThk7TpSpKM6sfqd+OZfDzcvF+zj3XtJzntezseb6ntFLS51mvP7nofEw1HHc67XIqpYSpm85p8fxM8uPm9XhbbKppMzq0vEg37GK4ryh7GdWTjHHuYfdzy3Y6tvDeSZyZ1YbZGEUHWdjRMFkyx5Qat0xABGQABQAAAAAAAAAAAAAAAAAAAAAAAAAAAAAAAAqaMWAMsoyis9jB9zZTA3LsBkFZRgEYDJGCMC5JkEIRckDIGggKBiCkAgKQCEMmQCggApAAAAAAAAAABCgAAABSAqLkqkkYgGm3eiqSNCM0DTapIzjyjSmZKeAabgafEHiDZpvyY7kjV4hjuY2abZVEaZTyRsnA2aTOSMoCosmaa9TEAH3AAAAAAAQAAAAADsNyYyly1kb4vtElysWRSZRVJexWk1wjOrTr7Em1kj4EYSf6i7Md2JNGpU7gu5L0I5J+hqZ6PSoACoAAAAAAAAAAAAAAAAAAAAAIUAAVNIhANikipmtGaYGWBtYTMwMMEM2iYAiKMArNUAuAIAVBAArAhSFCqQpACKClAhWQClIUoFIUuhQBgaEAwMDSN5CkOLogBGAyTJMjIRclyYDIGeSGGSbgM2+DEmcgAQEAuSZIyZNC5GSEAoGSACAFKEKQlqRCkKT2X12jDANb2aRFIikSoQpC+xpQAGtAAJpNhCkAhSFAAAAAAIQpAKgEAAAAAAUCogT5INlGOZo7SCxA4VCHOTnL5cFjjyVF3NMH8NdQn6OSNz4NVSDr8L9PJbNufF3a+g21WNza03TayorscyjL8lqS5+p4rQdXdo3SqvGeOT1dK6jXmpxfAwy70+X5vj6y9mN5aU7qm6cksnmL7ptttwqNfY9fJJ1N2eA6MZc9zrlx3LuOHD5efFdPnNTTrq0fEZzRrVetnE7eUfuj6RKnDGHGP7HBuNLpV+XFL7I8+XDm+ph+Rws7eKjUguZYz7MknTqPKij0Vx0vQqZak93sdXU0atbN+HBs5/ryj1Yebheo4kaarLbjGDbGzjTjhyWWceNSvbVHvhhZOVCpCvHfu5R0xw26cmWVm42RpxVHYcO88kIperwcuDzI4d099SMf8yOlmnPiz63XqunLX4ai5tfOsndRlnMcdzj6fFOypJf4Tlxilybk+3wvMty5nUa3W+Hs5vPKPIW8XVuJVXymdz1TcylOdFHWWWI0Un3OeU3X2PE45OPbJ+Z4XGC5wX5W/qY4LjZixlbcjJMjBMHaZyt+2OtJKm6jWHjBlXjFw2pLOO5N0ofKskWZvL7nLOzem+Pk9HGp2cl5nUeCyouTaUzkty+XHBFSivNnk5XguXwuXNLXA+Cm5PM20baVLw+DlbpL04EUnyNab/bLXCuE8nsunZYsKeTyNx3PXdPRUrOCbNY596efzrvjd6mmdD1I/yuPY7zbGL4Z0XUUJul5Vng65ez4/4+65nkKEXKL59TfGLk/DbOLTdeEX5PUyjO4zuUDy3ku9P0fLJcu2dZ7PKpZ9Dv+nLd03KTXfk6a00y6u6yk6bxnJ7nT7OFvRUZcPB3w3Xk8zy8ePD1jmrbOOeMo6bX6nhafKR22xRlwzzHU91vpToJly39vj+HLyc+681T81Vz9zfJKePoa6UcU0jNZjwZfoObH104t3Fblg4vY51xE4E+GFwu2EjOHZmOMmS4QdKx9QARAABQAAAAAAAAAAAAAAAAAAAAAAAAAAAAAAAEYDAFfc2UzW+5spgbQCFZAQIARlIyAQpAQZCsgaQAgAgIBkiBAAyFZAAAAAAAAAAAAAAAAAAAAAAoAAAUEAyyTOTEqeAKCZGSCmWUYZJyBk2TkIyQGIKyFAAAAAAAAAAEAAAAABVwy+Il2iYpZZsxGKyy7k+Vkt6ipp91gcehKdCvcz20objtaHTWpyju+HeO558/Mwwevj8HPk+HVSTMO75Z3z0G9xiVF5OLW0G8isukzlPP4rXXL8Zy49us2rHc1uWHjByallVpPzxaMPDppcvk7482GTy5cWeHy1gA6uAAAAAAAAAAAAAAAAAAAAAAAAAAVAQuQQDJPk2bjQXcBvyU0qRmmBk0AuSlZoMFLgDEFAQwUACFBQoQyIAAKUGQyZCgUFAhQUoDBQUMDBlgYCMiFIcHRCSKSQGJCkYEAAEZMFYAgYDAhCkAuMjBV2IUTBMFYAxBSBUAAiUIUhUT1MjH1MhpUwRmRGBAAEBgAaVAAUAAEAAQTAKQAAAAAADAAEAYAAAAACkDKKyzE2U1yNM1zKEeDlpLBpox8psNPPlSSMYSUG9nd9zJvBY7e49pPkwlnw01LZuSqJcrk5NrrFxatQcsRNcqmVjJq2xay1k5fN6auN5Oso9JbdR0J4hOfP3O4ttTo1F5ZHgnQVTilxL3JF3dB8VTf7MsPmufJ+P48p0+kqpGfJXOKR4Cjql1Sxum2jtbXqalDCqxkzc8rb52f4yy9PU08SnldzKcYyyvU4FhrFvcVFOKwn6NnOjJVKjlF8G/eV5eTDPhm3U3+j061OTceccHkatrUsazi1iOT6RNptJ9jouobGEreU4R5wOSyTp7fA865fxyedhNSp7onFkk6yb90W0k1TVN9yXP5Ti/qjhL0+r+vc6e807y2kP9Jy4qTOr0qt4ttDHojs4zxJex3x7xfnvLtx5XjOpIunqEm+xwKUZOClHsd/1Tb+JSnViuTz9lU8ig+6OWU7fd8fOfqb55wgFLlpgzcPb4cZd27CAmTrOPS/rk7SVRQ/mWnym0NsZdzCSdN9+DFmq3OL37iylJzwZuEnAwbUoZUln7mqnKblhzWDU55il4ri3zktqROFHgx8WGcPGSSkvQ527WYZe06aKyfdnsenop2UGu54y4n5Wey6eb/htNomGH85Tzsf4O624ZrrW9O5jiosoyW6TLUnGjHMmj25PzfHc5y/xda9GtN2NvDC0S3i+IeU2/xCipfNH9yfxSlvxuWPucLMf6fQy/fndbrkUYUbZYp8M2vzeZ+hwaurWtOOWk/wCZ1F51LS2uNNNE/ZJ8OePh8meX8q7XUNQhb0pNPEkeKvbyV3Wc28tmq6vK91W+Z7WZ0qOFlmcs/Z9jh8bHhnXyypx8v1CjJy57By2vCM1LgkXkzt+WFzFbTqqq8x2tRuUWdbWjyab4q09kVckKiPQAAygQpGAAAAAAAAARg29xsj3JKOGCK8YM6EVOSUjUnk2QezkK7WtY0lYqpBeY6jw57nnsbql3UdLYpPBqjJ92wMNyT5MnKOcIwWHPk3PZt7cgawAEAAAAAAAAAAAIUhRUsm6Cwaom2IGZCkDKAEYAMEZFGQMAGQrIFQpAAIAAJkAAAAAAAAAAAAAAAAAAAAAAAAAAAAGQAAwMAAMDAADAAAAAAAAAAAAAoFXJCos+URlIVHPKX2a+IYI3FL6mZhKHqa9dpj2NN4wZeXH1LTkkmmiKOZZ9B7TGdt6tuoxjmL5O+0jpy71acfDhui/oadG06V7f03tbh68H27p2xtLKzglTUZI+R5Pl6uo+t4nh292PMaP0zZaQlO9p4lj29TuatzS2Ytn5UjmaxXoSWHHPJ56vRqSadKSUfVHxOfyLl9v1Xh+JJPhm6m6fJJ04VFiRx9s0yuUkjw/ssu9vo5cGFmtNF1oNrcQbcMvB4fWenK9CbnRhiK78H0CFy4vDybKqo3NGUZR5aPbw+dlj0+V5H4/HLdkfHMqD2T+YyUcs77qHRXQuXVgsRXJ0DfHB+r8XmmePb8f5vB+vLqElgrxjgkXufIwd/t4PoABVhghSGqyAAyoAAAAAAAAAAAAAAAAAAGBgAAXLIAMlJmaka0xkao5CaZTRGTNimdJZGayw8mUsJpIlOSlkzVNyWTHrVYST28GUV5VnuE8T2sjfmaNM7XCHBC4IoBtLgAMDBQHHqPKH2IohFyi8DaVRAi7F4D4GAHBcGLeDGVVKLAz3IbkcPxWPFY21p2BCkObSEkUjAxIykYEAAEYDAEDAYEIXJAKuwGUu5Us9jQjIXu8BrD5CIQyZDJtiRmRGiw2hCkKJ6mRiZACMpAIAAAAAgAKAAAAAgEKQAAAAAAAACMAAAAAAfASyUgbaKzI14OTaweeUVnL4c6msRMkssx7LgtN4fJXnrVXe1GFuqtVtRi2Z3S3Lg7npuVOVWUXhtfQxlNuky9Jt1MLO5eX4U/2EretCk3KEkfQ6cYKDShHn6HE1CzjUs5pRSf0Ribjzz8njll6aeFoSTSWcM2bGpd8mqtbu3unuyjl0VFrh5Ossy6r05e2vaVnCEZRw4I11LSD9kblNx4wVqM1yy/pxnbHHnlldV1tSda0eYSlhex6zQL914qMuXg89cbFS2to7LpalN3k8ryY4MfaeVw45cfb1uN6b9jj3FLxLOo5f1ORHyNo06hN07KaS9DrnOnwPGxmPLqPn1V+HrOxfKbNQjupLHuYy2z1Dc35vY5M0pJpnH4j9RcvXp2/StynGpCT7L1PSqSUGfPbC6lZXOHwpM9xaVYV4RkpZ4OvH3NPjeZw9+7C+tfHtJJnh5xlaX0009p9Eqt42pcHRaxo0alDxYczfoc88MnPw/Lnt6V51SVR5TMzhqNa1qyU4tLJvVeD/AFE48vX5fYvDLPaNhDF1I+5HVh7msubThcMrdE6bnypYwaaknW/Li+e3Bak5TajS5zwzutH0JSkqtTOVyYmXt26+04cd101LRLpx3bp4MlpFy5YW8+iQhGnT2KEcfYwlsp5lGMW/sLx7fPx/I+/JrT5reafXtUpSlLkxtZSl3yd71BexqvZFLKfOEdXaQjsk3wzO9Ps5c01LpjXinBnrunZbLGCxk8fWbT+h7Dp6S+EgdMM/5R4fKyuWFrvHUyvlwef6gnONPyzceDv5Syef6kinT7+h1zzr43h54/u7eQp061Zt/EyXPuV0a8J48eT+uS2tJKL5fc5Gxe55ve2v0efJhPpp8GrJc13+5h4Wx8vccnan6mDik8rk3MbXK5z6I1eNvhfzwVt+hmqstu3ahHDXJqYerGXJa1qGXybeEjBvHYdzcjleyXKODcRxk5y4ONcxbTJXbj6df6lYaaYZjb0AAChGUjAAAAAAAAAq4Yk8ohOcgEuTKT4BAMdzS7F354wbMrBhhNhSMU/UzcVjO4wmljhkjHjuBQAEAAAAAAAAAAAIUhRlE2xNUTbEDMhSBlCMpGAIykZGkYDABkKQCEKQCAEAoAAAAAAAAAAAAAAAAAAAAAAAAAAAAAAAAAAAAAAAAAAAAAAAAAKAAG9AUhTHtuumpYpyLKwr3dbbCEmvojjn03oS3tpbJPa547NHk8ryLxTce/w/GmdeYh0jcVYJyUoHHuen4WsGviE5e2T7LcJSo1IKnFeVpYR8n1jT72nqsZzpyVPfnv6Hy/8AMyzfV/4/HHt6XoWzdGzVSdvuw+7R7W4pKrT8SFXw8/pR0PTmu2ttZK0coJPGXg9Ereyu4b6dduT9Ezxcv8rt7OH+HWnmq1abqyhLLx6nHjOcJZecHaajazocwjle51MrmbexxST4PDyYvu+PyTTkqtCUeyIpRb7I4zhCDxu7mXkxxI89jvljb3HIdKEvYx8LHZmlTknwZqpLPY6YZSOer8Vx9V0+NfSK0njd6Hy+rS8CbhJH1ipWqzj4Tj5H3PnPU9BUtQns7H3vxfNbH5n8x48ldO3h8E7GOVtXPJluyj9Fh3Nvyec1QEyirnsTIgQpBGAAFUAAAAAAAAAAAAAAAAAAAAAAAAKkWKQ4NyzQDJVFv0Kqcn6GMkI53JJdzsIwnTpeaLN+j6dK5uaaceNx6nqLRI2domlh7E/6Gv2Rr1eH3LfuMXJN5NNRuMGvUifkXuTbNxchSRkmjiqTM1MqOSsEfc1KojNTjjuBkUx3x9y+JH3AyxkYMfEivUjrR9wsZjcaZVka3VYNOXlNZyap1UjjOtIm7d3BpnKs2YOWTFpe5jyF0ywMAGdjtCFIZVAwGBiRlIwBiZGIEYDABdyMq7hgaypFwZqIGCp75YM3+XwbYLa9xuo2zuZvCHsunFcNqUvcSju5OVcUZRajjsYOnsWCexpxHEwwcmUDTJYYjGkQkEGaisSFIURgMAAAAAAEIUgFIykZQIikQFABAKQoBkKyAQAAAAAAAAAASXJnDiJiZdkIkFzI59COEcKmsyOxprEUac86yBSFcNobNKuqVleOUnjc8GBor0PE2yhw4vLM5PRx6yllfSKM1VoRnS9sm2mlUpvxO55HRtfjRSo1G2+x6mnNV4ZpySyMc99Pg+T42eGfti6PWNDncylOjDOTzdW1u7J4awfQ0pxW1s49TTqdd+eKZu8G+47cHmXGeubwkbpf3j5MZ3UXxBnt6mg2jX9mjXS0SzpyzKkmYuFxezHz8MXjreyub6qoqOYs9rpem1LGhGUo44OVTtbejzSp7TbuqS4cvKV4PJ8/k5v4z4KU6bb3+h1WvX0adCUYP0OZf3dC1ovlZx7nh769neXO1N7Wzrb034PiZS+9arWl4lVXEv3OXKGZZMdvhUNke5upteHz3OeU3H0uTk9q4lzQVVKSXMeTs9D1WFNeFOXmzhHBhnM0/U4lS3nSn4sHjHJnjvr21ZM+P1yfRqT30t/oXKn5UeN0rXpwnGnWk2j1lG6pV6alTaTf1O85McnwefwuTDP2xcS90ajXTc48s8/ddPVIN+BD+h7SnFzT3STMcwi8SWTnlhjfh1w87Pimq+f/AMFvvWByLfQLqc/zIcHuHa+L5o4SGxUlh9zM8aV0y/K5WadPZ9O0KKUnDzfY7Wko0o7UbYNt8vgxquEIuba4+p2nFjjNPLlz8vkZev0ZkuZfIdHrOrU7aElRl5zRqvUMKcZUYN7voeZm6txN1JvMWccs9fD6XjeJ+qe1YxlK5rznLltnIjDaWjCME2kM+Y52PZlnc8tNFwng9d03BO0hk8ldSWGeu6dT+BpsYf7RnypccO3dywnwef6hX5f8jvtkm+50XUccUv5Hoy1XyfCxxvNt5Og/K/ub12ONbfK/ucldjj69vu8slrFhBhHWZajjlOmXoYmXoYj29nEAAakT9RjVWYmXqWSzEljWPy6yosM0S5Zyq8cNnGOVj1YXoABWgAAAAAKQoAAAGQrIAAAAAAAAAAAAAAAAAAAAAAEAgUZRN0TTE3RApCkDKEZSMCEKQjSMq7EZQKQEAEAAhCkAAAAAAAAAAAAAAAAAAAAAAAAAAAAAAAAAAAAAAAAAAAAAAAAAAAAVECF+EUpCoxhO1sQ7nRdavdMuFOnLEfudO0YzVWUcQlg58/jTkj2+L5d4q+06H1Pa3sFG4qZnj39Ttruxt9Uj5lmOD4RZXdxaS3eIeo0rrOtbTiq1STifH5PD9O4+3xedM+nq77pWnRk/hIeb04OuUtd0uXkWEvueh07q2xvVHjze7Z28fhb187Wn9T5+c/l2+pO8dx5GHVVXG2+n/Uv8X024f5U8yPbx6U027h5qMW39UdTqH4ftZlaRjAn6Jm4zybx10kZ0JrzPkzVKD5gaK3RWtU25KssL6HX1rLU9Pf5kpSx7I5ZeFZ3H0OH8jNTbuHTqLsa34mTpf4zVpcThUf8A7WZx16DfNOf7M82XFlj09F8vDJ3e+e3bI+f9R06tTVJ04rg9Uteop7ZU57n9DoqmpW711zq0Jyj9mfU/Hy4R8j8nyTN5edrKnzJcmt0qi9OD6ze9C1NZ0mndWUVTyt3J841SxraZVlSrJ5i8dj7vFz7un5fl4dXbrYw45MkkuxKct6ZJ5jI9tu48XxVXzsj7lhyyPuX6ZvyAAgAAAAAAAAAAAAAAAAAAAAAAAAqEYtshlGW0knexyaKW7Ej1+i6JZ3qjvjlv6HiXNt8HZWOsXFm1tm0ayqx9l0Do62p1I1FT4TyuDm9X9O1Lyli3hnEUv6HVfh91JK6o1vHm3tXGTb1R1nTtJuMJPt6HzbM7m9E1p8p1fpu8sKsnVp4SOknT2L6nr9Q6kp6jBueXn3PK3daE5tRR78ZZO3HNxiAhpgKYlAoIAD7EKQAAAAAAAAAACaHaEKQioGAwMSMpGAMTIgGLBWiYAi7lYS5I85AqNkUYRN8FkDKMN0cHeaFQTr4a78HWUqaXJ6rpjTa13exUYNrK7HnzzmN7dccd/DVr2jfC06VXHEuTzVaGZH3DqPplXml26Se6MOyPmtz0ne05ySoSxnuYw58cm7x2PIzicaoj0N3otW2T8SDjj3OjuYRg2s8npl24OIwR5yV8djcRCFIVEYKMAQAAAABCGWCYAEZlgjRRCIuBgAC4IQCkGQKyAAQFwMAQFwMAQAAAABSZ5KnlES8wSuTQjyc6C4NFvBYTOQuDUebOqQuSF05dmDOhBR3OUu6MCTXC5JY3jlpxnbSp1/EUvXJ2dDW61tNLEmkaIx8VJM3KhGNNx4ZLj/Tr7TL5d/b9QwrUluSi/qdlRvaVSP8AbRX8zw87X1jJr7Mx8KqlxOf7kmfJOnDl8Tiz7+3vVXpJ/wDURf8AMyle28V/aQf8zwHh1l+uf7sjhWa+ef7mpllflwx8Hj329vPWaFDnMWdTfdUqScadPn3R59Wkpx81SWfuzOnaRp+ufuZymV+HecHDjemutXuL2eXUklnsbqFsqUcvlm1QS7Iy7CzJ2y5JJrEWO7McNy47Ca3LBYy2xwdp8arl0yaWODBLPfsRPDbK5GbJrVJe3GuaG5N0/K/oYWt/c2VTlykkcvJjJKXojjcL9O05JrVdrb9ROaWU44O0o6xRrLlxj9zx0rdN8NowdvL0nJfzNYe0+XHPxuDPuvcvU6UXhVo/uWWqUIx3OpF/zPBqhJf3k/3ZHbzf95P92XLLP6csfC4N9vVXfUcF5YJcex0V7rdeq9sN2H7HDjaZ7yf7nIp0o012z9zlLy35enDj4OP/AFcaFGVZ+JOTz7M5dLHyNce4cU3nsVvjB2xn9pyZ+3Ua23GTXoZ7fLkPkZ4wLGblqyxxK6bTl6HoNG1WFvawg8cHTzipU3D3NCtcdpv9zlccvp1zzx5MfXJ7R69SXqjpta1WFxFJNdjo3a//AMkv3JO1UsZm/wBy/wA3Pi4ODju4zt45pNr3N6+UwpR8KG1GWeDWMu+zkytvSMIA6p7f2y9DEuSEk0yAFwVdpjgmfQreOAoipPlxLiPBwX3OyuFwdfKPJzr1YViC4GCOiAuBgIgLgYCoUYIBQTIyBWQAAAAABQICkAAAAAAAAAAFwBAXAwBEA+AijKJuiaoo2oCkJkZDOgjGSZyDQQpCNIwGABARgCkGQBBkAAAAAAAAAAAAAAAAAAAAAAAAAAAAAAAAAAAAAAAAAAAAAAAAAAAAKiBcFiKCZGTOu9x13PXVZZEG5y242r3Mcmcp7qe3GPqXK36c5IwmnTa9UbJSUY5SyzDd5cGMVhnLPH2mq7cXJ65bd3o9OpcU041nTl7ZPR0a17ZJNVak8Hi7O6lbXEaifb0Pe6PfQvIR3qOX9D8/5nDlhn0/V+D5GOfH8ufp3Wtza1FGpSm0n6nutM64t7imlVjGLx6nhq9pCp+lJe6RxZ6PSabjXkn7Js8U5bh8vXfGnJ8PrtLUtPvFu8elH6ZNnw2l115lRmfFlY3NB5p1arS/zs5NHWNTtOIQnLHuzrPKl6cM/B5Mfh9YraDpdZeWhROuq9G2c5bowpo8PT6z1eivNbvH1N8fxNuqHFSnFfdI64yZuGWOeHy9PW6EoV5b1tjgyt+irOlJOdKE5e55uP4rycNuIfsjH/4pzp8xUH/JHsw8fKTp4uTnmV7fTaNtRoWkaKcYRS7Hyv8AEyzslGEqXhqXq0dfqH4o3dTdsgufbB4nWeorjWJZq5X8zfHw8ky3Xn5eXC4ull5ajUe2fQzisy8xjT8jz3MpS3vPY+rhetV8jP5WWI9jAqIdNsgAAAAAAAAAAAAAAAAAAAAAAAAAAxecmaXBAUVPazLfyuPUwLF4ZnS7ez6e1VWtvUjF7G0dTrupylW5e/J1MbiUVw2vsa6knUeXyPWbamSKu6seFtDp4W7dknCjgx7epq2s27UgBEQowAAAAAAAAAAAAAAAACjtCFIYVAwGBiRlIwBCkAjAYAmcGS5Iu5G8AZNcnOs6UZNZOByzfRrSpvuB7XSbDS57ZXbwvXg+idPVdBsZJ2s/P27I+KUb6pvw5eU7KjqdajKMqc8co8fPh7PRxZR+iJXVLwHUqPyJZR856q6xdC42WU049mcvQ9eV/o1eFSWZQps+YajV8SvVbf6n/uefj47K755dM9U169vtyk08nnKkJSk5VDkVJVPRmiSm+8j6OEeHJom4LhGo2SUYvkjafZHTXZ9MSFwCssQUgAjKRgRFIigAAAIykYAiKRAUhSARlIygAAAAAAAARgMAAABY8GUVmRj2NtJZYZzrm0FiKNpjTWEZG48t+QAGmaFxkhtpxyGazpRwbGwlhBDRMlSGGN2COaGm5mo3IxcskGl9mTeWQIBjYACm0IykYRCMpCUCFIZalQy2oxLuC7NqJtQyTcDa4SIMkCABAKQpAIwGADMWZMxZF2AAsAAGkAAFEVERUGajQXBfUYM1WurHdE6+rHDO1xlHX3MeTNd+OuKACPQAAMgACwIUgKAAAAAAAAoAAAACAAAAAAAAFIUAAAIwgwijZEzXYwiZrsBAABCFIBSEyCACFQBmLMmYsAQpAAAAAAAAAAAAAAAAAAAAAAAAAAAAAAAAAAAAAAAAAAAAAAAAAAAAAAAAAAAAAAoAAzYSqnFPzdjl2up3VrNfDvyo4eE+GZqSisI4cvDOT5evh8rLi6j22mdTQlFRvJ4O6p6jp9ZJ055Z8s2VHLOeDk07utRWIzwz5fN+N9vh9/xfzOOE/k+pq6js4fBxqt/Clltnzxapf44rcGqpqF5PiVTJxw/EZS7enm/N8eWPT1+odRUlBxUzyF9du6qZTysmiW6fM3kx4XGD6fF4Mxnb4HkfkbnemvZBdmM47GaijLyr0PVMHhvPawTfqV4DlFehMp9jUwjNztAAbmMjFUgBbGQAEUAAAAAAAAAAAAAAAAAAAAAAAAABQAAGQGSACAAAAQAAAAAAAAAAAAAAAAAAB2hCkMqgYAGJGZMjAhDIxAjAYAhjjkyKBYvCMlNZ7GAA3qfsciFxsSysnDi8Iy3EuMq43Ver0nWPg6FSOeKiwdLqNfNZuL4bycBVH7skpZXLOfo6XLZKbl6mmdOclxPBk2YSb9zrjNOd7atji+ZZMk0+ywRiJo+lIGQMqYlDAhDIgEQKAIAyAUMoAxIjIgAhSARlIyoACgCApAAAAgMgBiCkAyfc5FuuxxVy0dharhFkc865CWECy7GMe5uR5r8qAyIqVTkUlwaoo5MflRYisJcAFNJjMsGW1EBU0uETK9gAaR9yFIZABkAEZSMCAAlEIZEJoYjBSZGlTAIzBjRpmMmtFGljIhANKzIQDQMADQMjAMogKQsAAGgAABFREZICfqM3jBiY8marNHDuY/Q5a7GFRZiyWLjdOpa5IbJrlmKMvX7bYgku5UF0AEApCGQKgKAICgCAoAAgAoIAAKAICkYAAACkKAAAEYRRFclGcTNCJJAAX0AGJGZEAxIZkIMDJAgFMWAwBAAAAAAAAAAAAAAAAAAAAAAAAAAAAAAAAAAAAAAAAAAAAAAAAAAAAAAAAAAAAAAAsFQZARFTw8hvPJClmO2plIjqN8IsaTfLkMDJjLGr7T+llJp4Qw5epAZkyZ2u1r1Mt6SxgwB0mN/tdz+gqaXoYgmmWfiRX6SSmpdo4MQVQADYAAbAAAAAAAAAAAAAAAAAAAAAAAAAAAAAUAABSAAQIoAAAgAAAAAAAAAAAAAAAAAADtCFIZVAABGRlZGAMTIxAjAYAgyCAXIyQAXdgbjF9yE2NikNxgVl0bXJGzHILBGEUGhGQrIRAMBgCFIAAAEZCsgGQAAhCkAEKQCMq7EZV2AoAAEKQAAAKgEAIQpAM6ccs7CgsI4dBZZz4rCNRw5KzkYx7l9CLuzccNqWKIZxRSs4o3LsYxiZhAADabAANgABsQhSARgMACMpGBACMiwICBdKYNlfY1Z5CyMmyDIBoAAAAAAQAUECIKACIEKQsAAFAAAEVERUBSYKXBmiGMlmLMmMZQNuuqxwzScyvHBxDD041g0QzaIHSViQyIFQoAAAAAAAAAEAAAAAUAACMpGAAAApCgAAAMooxNkUUZLsGUAQgIABCZApAQgZAAEIykYAAAAAAAAAAAAAAAAAAAAAAAAAAAAAAAAAAAAAAAAAAAAAAAAAAAAAAAAAAAAAAAAAAACkKN6AAGpYaAAXcNAAMXI0gAC7AAC0AA0gAAAAAAAAAAAAAAAAAAAAAAAAAAAAAAAoAAAAAAAAAAgAAAAAAAAAAAAAAAAAADtCFIZVAABGRlZGAJgpAJgmDIgGOBgoAxwCkYExyCkGgyMkYKaMDBkQCAAbEZCshUACgQhSAEMBFAmCYMgBAABCFIAJgoAmCgAAAAJgoAmBgoAmcE3FZjgDInqVFS5QRyraBzHwaKEcI3tcmnmyu2SXBgu5sS8pgl5mWVjofBspvLMGjZShyaiWuQlhFDXBCsrgYIAvS4ICA6UEIBSFxwMBGILgjQAhCEFGMmJU+AsGsGtzwZSfBol3Iu2zdlGG0IBdrgpiAbZEwQA2uBggCbXBMAA2YLggBtcDBABcDBABcDBABcDBANjLBcGJRsHwVMxYIi9zJGIA1XFPg4Ljg7Ko96OvqrEjDvha1tE2FSbLHuyusYOODW5YN8jRJBsTyUiRQGSZAAZyUiKAAAAmCggmAUATIyAAyAAAAKBSFAZJkDAFitxuisI10+5tyBGwmRhEBomCkAmBgACYJgyIBMAMAQjKRgAAAAAAAAAAAAAAAAAAAAAAAAAAAAAAAAAAAAAAAAAAAAAAAAAAAAAAAAAAAAAAAAAAAGQBoMjIBNGzIyANGzIyAXRsAAAAAAAAAAAAFBGcae5PDMUlLu8HM0q3lWr7Ipyy8GLlpZHCeYvDQxxk9Breh1LFw8j8yTOilGaWxxwvcTLa6YAY28A0yAAAAAAAAAAAAAAAAAAAAAAAAAAAAAAAAAAAAAAAAAAAAAAAA7QhSGVQAARkZWRgCFIAIUgEAAEIykYAhSARgMAZEKQCAAsEZCshUC4IZgYkMiAQAAAABAABCFIAAAAAAAAAAAAAAR9xgPuZYAxM4LMkYPuZw4aYR2UI4SNhxHcpJchXS9zThcHM9DH1OK7pe5Y3CfqGfRyU22cimmkcCFdbjmQrLabjNwb22XBxvHWS/Er3KkwcjAwcf4le4+JXuF9HIwMM4/xK9x8SvcHo34Jhmj4le5PiV7g9G95RMs0O4RPiEE9W/LGTj/EIjuED1cjkmGcf4lD4lEPVvHocf4le5jK5XuSrMG6TMMcnHlcr3CuUZ2vo5OCGn4lGPxK9y7PRyAcf4lD4lDZ6VyAcf4lD4lDZ6VyAcf4lD4lDZ6VyAcf4lD4lDZ6VyAcf4lD4lDZ6VyAcf4lD4lDZ6VyAcf4lD4lDZ6VyAcf4lD4lDZ6VyBg4/wASvcfEr3JaejklON8SvcfEr3Js9HJwMHH+JXuPiV7jZ6OTgY4OP8SvcvxKG09G+MeGcK5h5mbHc4Xc0zqbw6Yxri0kTPIxyNuA7RGRxMkZ44DTQ44MTbNGsDEYKQAAAAAAAAgAACAAAACgAAABAMkVIiM0gLBGQiiPuQUhUSQEIAwJkAICkKQCMBgCEZSMAAAAAAAAAAAAAAAAAAAAAAAAAAAAAAAAAAAAAAAAAAAAAAAAAAAAAAAAAAAAAAAAAAAAAAAAAAAAAAAAAAAAAAAAlAAF30NlGmqlRKXY+j9I2PT8KkJVKzVX1WPX9z5tCp4bycmzuK1rdU6u7EdybOOc21H2vqyGgu2i61bE1BbVhe33PjuqTp+M/hnmHudt1HrNLVYUpUX8kEpfseV8SafD8pOPHSnPr3Azu5B3YAAAAAAAAAAAAAAAAAAAAAAAAAAAAAAAAAAAAAAAAAAAAAAAAdoQpDKoAAIyMrIwBCkAEKQCAACEZSMCkZQwMWAwAAAAAFgjIysMqITJSAAAAAAAAAQAAQhSAUAACFIAAAAhSAAAAGQAAyAAzkAA9QZa9QCnq20m2zmp+U4lKJyvQ1GbiR7lZEDUT1AAU9VRSIZBMUZGGTIX1Yt8jLD7kMHqZMWykYPVMlRiXsQ9UkzROTz3Nk5GmTBMTLGWQEa9V3P3GWQA9VyxlkAPVcsZZAD1XLGWQA9VyxlkAPVcsZZAD1XLGWQA9VyxlkAPVcsZZAD1XLLlmJUD1ZZYyyFIeq5YyyFCeq5ZcsgB6rkIArOmQIigCgoExk1Tjg3YEo5QWOJzkyXYzlTwa28BpW0Qi7lAAAAACAAAIAABSFRQAAAxMhtAQ7m5I1xWDYgDIVkIBiysgAjKRgCIpEBSFIBCkKBCMpGAAAAAAUBAAAAIAAAAAAAAAAAAAAAAAAAAAAAAAAAAAAAAAAAAAAAAAAAAAAAAAAAAAAAAAAAAAAAAAAAAAAAAAAAAGgAB09egxku54xkgOeWKqpNLGeCADHEAAVAAEAAAAAAAAAAAAAAAAAAAAAAAAAAAAAAAAAAAAAAAAAAAAAB2hCkMqgAAjIysjAEKQAQpAIAAIRlIwKGAwMWAwAAAAAFgjDKyMohCjAEAAQAAAAZAgAwBCFwMAAAAIUgAAACFIAAAAAAAAAAANgXcBd0U25lKPBs9SU+Il7s1GbQoSb4Lg0m0AANgBAu0ZCsxGzdRgMZMm6hH2LkjBuojGXYyXBrnJEN1rkzAreWQiygAC7AADYAAbAADYAAbAADYAAbAADYAAbAADYVELkG1KY5LkhuqUi5LgJtQBgG1BcDBQRkiYKglUpEUIuBHuA0FhUSaOHOLTOXyYyp5C7cZdgZSg48sxCgJkySyBAVrDIQATIyAAAAqIOwFALgoiNiRglybkgbTARWQISIZYyRLKIrFkKvNPau5JeWW19wBGUYAhEUgFIXJAIUhUBCMpGAAAAAAVAAAAAIAAAAAAAAAAAAAAAAAAAAAAAAAAAAAAAAAAAAAAAAAAAAAAAAAAAAAAAAAAAAAAAAAAAAAAAAAAAAFAAGvboAAZtAADGgAAAAAAAAAAAAAAAAAAAAAAAAAAAAAAAAAAAAAAAAAAAAAAAAAAO0IUhlUAAEZGVkYAhSACFIBAABCMpGBQwGBiwGAAAAFRCosEYYYZRAABCFIEEAgBGAwBQAAI+xSPsBAAAAABkKyAQpCgAAAAAEIUgFAAgFisshnTWZGkcyPylQS8pUuDUZZRfJH3C4YKRGRlZGFACEojIGQgjDAZBCFIBGzRM2SZqk8kaYJFLgjAAAgAAAAAAAAAAAAAAAAAAAAAAAAEKQChAIDOJkYooGQIXIGRSFDIikRQKgECopk+xiZd0WDEpcEKNc45Rx5LBy+xhKnu7ErUcVFzgylScTXgiss5IVdgZ0IQuANCFBSrsIzIjCbEZx5MVHJtjHBWRRMi5IBCFIBkniLNUG3ksm8os8QaxyGo5NC0lcLZT+dnMvenriwsY3dV5TMtAuIUdSp1Z4cV6M7/qLX6OpWnwUIRjt9UZqvEELNbZtGOQikYIaEYDBBCrsQq7ACMpGAKQoAAAAAAAAEAAAIBAUAACFIAAAAAAAAAAAAAAAAAAAAAAAAAAAAAAAAAAAAAAAAAAAAAAAAAAAAAAAAAAAAAAAAAAAAAAAAAAAAAAAAAAAAAAAAAAAAAAAAAAAAAAAAAAAAAAAAAAAAAAAAAAAAAAdoQpDKoAAIyMrIwBCkAEKQCAACEZSMChhBgYsGWCAQFIAKjEqLAYYYZRAABCFIEECoYAxYKxgAAABH2KR9gIAAAAAMhQBiUYAAAAAABCGRMAAEPUAbaCzI1epy6EF3NI3/AKQuwBqMsX3MhgFSIyMrIw0MxMmYkojMTJkwQQMj4YIBi+xW8GuUngDCbNfqZN5IRpTFlAEBQQQFAEAIBQAAAAAAAAAAAAAAAAAAIUAAgAMkUxQyBmUxRmkgjIpChBFIigVAIpUDJEGcFgzaMPUuWMFDbuWCxW3uIvDK+RpZUmk0cadI5WENqZNLtwcY4Ic10YvnBi6C9iaVwwch0PoY+C/YaGkpu8NBU0NI0myMNyybNkSrCXAKwUcFyVkwETJRgAQhSAHjBjH5Xu7lZJebuGoypzdOOVwivyvxVJts1t5jt9BnEdvoZq7G8vJCkwEQhcA0IwAQQq7AZAEYAApABQQAUEAFBAAAAAIBAUAACFAEBQBAAAAAAAAAAABQBAUgAAAAAAAAAAAAAAAAAAAAAAAAAAAAAAAAAAAAAAAAAAAAAAAAAAAAAAAAAAAAAAAAAAAAAAAAAAAAAAAAAAAAAAAAAAAAAAAAAAAAAAAAAAAdoQpDKoAAIyMrIwBCkAEKQCAACEZSMCrsVkXYrAhCkAEKQCFRCosBhhhlEAAEIUgRUGEGBGAwAAAAj7FI+wEAAAAAAAAIUgAAAAAAAABdiLuVdiLuA9TmUexw/U5lHsaRuABqM0ABUiMjKyMNBGUjJRiwGCDB9wV9wyDXJmqTNkzS+4EABGgAAAAQAABCFIARSIoAAAAAAAAAAAAAAAAAAAAABV2AXYAZRNi7GuJsXYClIUMiKiIqAyQCBUUhSFgpSFKKu5SLuUsFKiFRRi28k3G1JYMWkYVr3EckyswYNrwYsmSg2xeSoySDAxDAZBAABCFIBGQrIFiEKQyqkZSMARlIzQgAIBCkAAAAAAAAAAAAAAAAABAICgAAAAAAAMhWQAAAAAAAACgAARlIwAAAAAAAAAAAAAAAAAAAAAAAAAAAAAAAAAAAAAAAAAAAAAAAAAAAAAAAAAAAAAAAAAAAAAAAAAAAAAAAAAAAAAAAAAAAAAAAAAAAAAAAAAAA/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0"/>
            <a:ext cx="9220200" cy="5143500"/>
          </a:xfrm>
          <a:prstGeom prst="rect">
            <a:avLst/>
          </a:prstGeom>
        </p:spPr>
      </p:pic>
      <p:sp>
        <p:nvSpPr>
          <p:cNvPr id="9" name="Cloud Callout 8"/>
          <p:cNvSpPr/>
          <p:nvPr/>
        </p:nvSpPr>
        <p:spPr>
          <a:xfrm>
            <a:off x="5585059" y="4171950"/>
            <a:ext cx="3711341" cy="1143000"/>
          </a:xfrm>
          <a:prstGeom prst="cloudCallout">
            <a:avLst/>
          </a:prstGeom>
          <a:solidFill>
            <a:schemeClr val="bg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743876" y="4257008"/>
            <a:ext cx="3733800" cy="677108"/>
          </a:xfrm>
          <a:prstGeom prst="rect">
            <a:avLst/>
          </a:prstGeom>
          <a:noFill/>
        </p:spPr>
        <p:txBody>
          <a:bodyPr wrap="square" rtlCol="0">
            <a:spAutoFit/>
          </a:bodyPr>
          <a:lstStyle/>
          <a:p>
            <a:r>
              <a:rPr lang="fr-CA" sz="1900" dirty="0" smtClean="0">
                <a:solidFill>
                  <a:srgbClr val="FF0000"/>
                </a:solidFill>
                <a:latin typeface="Aharoni" pitchFamily="2" charset="-79"/>
                <a:cs typeface="Aharoni" pitchFamily="2" charset="-79"/>
              </a:rPr>
              <a:t>	Élaboré par :</a:t>
            </a:r>
          </a:p>
          <a:p>
            <a:r>
              <a:rPr lang="en-US" sz="1900" dirty="0" err="1" smtClean="0">
                <a:solidFill>
                  <a:srgbClr val="FF0000"/>
                </a:solidFill>
                <a:latin typeface="Aharoni" pitchFamily="2" charset="-79"/>
                <a:cs typeface="Aharoni" pitchFamily="2" charset="-79"/>
              </a:rPr>
              <a:t>Donsam</a:t>
            </a:r>
            <a:r>
              <a:rPr lang="en-US" sz="1900" dirty="0" smtClean="0">
                <a:solidFill>
                  <a:srgbClr val="FF0000"/>
                </a:solidFill>
                <a:latin typeface="Aharoni" pitchFamily="2" charset="-79"/>
                <a:cs typeface="Aharoni" pitchFamily="2" charset="-79"/>
              </a:rPr>
              <a:t> Jean </a:t>
            </a:r>
            <a:r>
              <a:rPr lang="en-US" sz="1900" dirty="0" err="1" smtClean="0">
                <a:solidFill>
                  <a:srgbClr val="FF0000"/>
                </a:solidFill>
                <a:latin typeface="Aharoni" pitchFamily="2" charset="-79"/>
                <a:cs typeface="Aharoni" pitchFamily="2" charset="-79"/>
              </a:rPr>
              <a:t>Gabard</a:t>
            </a:r>
            <a:r>
              <a:rPr lang="en-US" sz="1900" dirty="0" smtClean="0">
                <a:solidFill>
                  <a:srgbClr val="FF0000"/>
                </a:solidFill>
                <a:latin typeface="Aharoni" pitchFamily="2" charset="-79"/>
                <a:cs typeface="Aharoni" pitchFamily="2" charset="-79"/>
              </a:rPr>
              <a:t> NOEL</a:t>
            </a:r>
            <a:endParaRPr lang="en-US" sz="1900" dirty="0">
              <a:solidFill>
                <a:srgbClr val="FF0000"/>
              </a:solidFill>
              <a:latin typeface="Aharoni" pitchFamily="2" charset="-79"/>
              <a:cs typeface="Aharoni" pitchFamily="2" charset="-79"/>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p:cNvSpPr/>
          <p:nvPr/>
        </p:nvSpPr>
        <p:spPr>
          <a:xfrm>
            <a:off x="476280" y="1047750"/>
            <a:ext cx="3619080" cy="3505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285750" indent="-285750" defTabSz="914400">
              <a:lnSpc>
                <a:spcPct val="170000"/>
              </a:lnSpc>
              <a:buFont typeface="Arial" pitchFamily="34" charset="0"/>
              <a:buChar char="•"/>
              <a:tabLst>
                <a:tab pos="0" algn="l"/>
              </a:tabLst>
            </a:pPr>
            <a:r>
              <a:rPr lang="fr-CA" sz="1400" b="0" u="none" strike="noStrike" dirty="0" smtClean="0">
                <a:solidFill>
                  <a:srgbClr val="000000"/>
                </a:solidFill>
                <a:effectLst/>
                <a:uFillTx/>
                <a:latin typeface="Times New Roman" pitchFamily="18" charset="0"/>
                <a:ea typeface="MS PMincho" pitchFamily="18" charset="-128"/>
                <a:cs typeface="Times New Roman" pitchFamily="18" charset="0"/>
              </a:rPr>
              <a:t>Introduction</a:t>
            </a:r>
          </a:p>
          <a:p>
            <a:pPr marL="285750" indent="-285750" defTabSz="914400">
              <a:lnSpc>
                <a:spcPct val="170000"/>
              </a:lnSpc>
              <a:buFont typeface="Arial" pitchFamily="34" charset="0"/>
              <a:buChar char="•"/>
              <a:tabLst>
                <a:tab pos="0" algn="l"/>
              </a:tabLst>
            </a:pPr>
            <a:r>
              <a:rPr lang="fr-CA" sz="1400" dirty="0" smtClean="0">
                <a:solidFill>
                  <a:srgbClr val="000000"/>
                </a:solidFill>
                <a:latin typeface="Times New Roman" pitchFamily="18" charset="0"/>
                <a:ea typeface="MS PMincho" pitchFamily="18" charset="-128"/>
                <a:cs typeface="Times New Roman" pitchFamily="18" charset="0"/>
              </a:rPr>
              <a:t>Définition</a:t>
            </a:r>
          </a:p>
          <a:p>
            <a:pPr marL="285750" indent="-285750" defTabSz="914400">
              <a:lnSpc>
                <a:spcPct val="170000"/>
              </a:lnSpc>
              <a:buFont typeface="Arial" pitchFamily="34" charset="0"/>
              <a:buChar char="•"/>
              <a:tabLst>
                <a:tab pos="0" algn="l"/>
              </a:tabLst>
            </a:pPr>
            <a:r>
              <a:rPr lang="fr-CA" sz="1400" dirty="0" smtClean="0">
                <a:solidFill>
                  <a:srgbClr val="000000"/>
                </a:solidFill>
                <a:latin typeface="Times New Roman" pitchFamily="18" charset="0"/>
                <a:ea typeface="MS PMincho" pitchFamily="18" charset="-128"/>
                <a:cs typeface="Times New Roman" pitchFamily="18" charset="0"/>
              </a:rPr>
              <a:t>Fonctionnement</a:t>
            </a:r>
          </a:p>
          <a:p>
            <a:pPr marL="285750" indent="-285750" defTabSz="914400">
              <a:lnSpc>
                <a:spcPct val="170000"/>
              </a:lnSpc>
              <a:buFont typeface="Arial" pitchFamily="34" charset="0"/>
              <a:buChar char="•"/>
              <a:tabLst>
                <a:tab pos="0" algn="l"/>
              </a:tabLst>
            </a:pPr>
            <a:r>
              <a:rPr lang="fr-CA" sz="1400" dirty="0" smtClean="0">
                <a:solidFill>
                  <a:srgbClr val="000000"/>
                </a:solidFill>
                <a:latin typeface="Times New Roman" pitchFamily="18" charset="0"/>
                <a:ea typeface="MS PMincho" pitchFamily="18" charset="-128"/>
                <a:cs typeface="Times New Roman" pitchFamily="18" charset="0"/>
              </a:rPr>
              <a:t>Cas d’utilisation</a:t>
            </a:r>
          </a:p>
          <a:p>
            <a:pPr marL="285750" indent="-285750" defTabSz="914400">
              <a:lnSpc>
                <a:spcPct val="170000"/>
              </a:lnSpc>
              <a:buFont typeface="Arial" pitchFamily="34" charset="0"/>
              <a:buChar char="•"/>
              <a:tabLst>
                <a:tab pos="0" algn="l"/>
              </a:tabLst>
            </a:pPr>
            <a:r>
              <a:rPr lang="fr-CA" sz="1400" dirty="0" smtClean="0">
                <a:solidFill>
                  <a:srgbClr val="000000"/>
                </a:solidFill>
                <a:latin typeface="Times New Roman" pitchFamily="18" charset="0"/>
                <a:ea typeface="MS PMincho" pitchFamily="18" charset="-128"/>
                <a:cs typeface="Times New Roman" pitchFamily="18" charset="0"/>
              </a:rPr>
              <a:t>Avantages et Inconvénients</a:t>
            </a:r>
          </a:p>
          <a:p>
            <a:pPr marL="285750" indent="-285750" defTabSz="914400">
              <a:lnSpc>
                <a:spcPct val="170000"/>
              </a:lnSpc>
              <a:buFont typeface="Arial" pitchFamily="34" charset="0"/>
              <a:buChar char="•"/>
              <a:tabLst>
                <a:tab pos="0" algn="l"/>
              </a:tabLst>
            </a:pPr>
            <a:r>
              <a:rPr lang="fr-CA" sz="1400" dirty="0" smtClean="0">
                <a:solidFill>
                  <a:srgbClr val="000000"/>
                </a:solidFill>
                <a:latin typeface="Times New Roman" pitchFamily="18" charset="0"/>
                <a:ea typeface="MS PMincho" pitchFamily="18" charset="-128"/>
                <a:cs typeface="Times New Roman" pitchFamily="18" charset="0"/>
              </a:rPr>
              <a:t>Comparaison</a:t>
            </a:r>
          </a:p>
          <a:p>
            <a:pPr marL="285750" indent="-285750" defTabSz="914400">
              <a:lnSpc>
                <a:spcPct val="170000"/>
              </a:lnSpc>
              <a:buFont typeface="Arial" pitchFamily="34" charset="0"/>
              <a:buChar char="•"/>
              <a:tabLst>
                <a:tab pos="0" algn="l"/>
              </a:tabLst>
            </a:pPr>
            <a:r>
              <a:rPr lang="fr-CA" sz="1400" dirty="0" smtClean="0">
                <a:solidFill>
                  <a:srgbClr val="000000"/>
                </a:solidFill>
                <a:latin typeface="Times New Roman" pitchFamily="18" charset="0"/>
                <a:ea typeface="MS PMincho" pitchFamily="18" charset="-128"/>
                <a:cs typeface="Times New Roman" pitchFamily="18" charset="0"/>
              </a:rPr>
              <a:t>Conclusion</a:t>
            </a:r>
          </a:p>
          <a:p>
            <a:pPr marL="285750" indent="-285750" defTabSz="914400">
              <a:lnSpc>
                <a:spcPct val="170000"/>
              </a:lnSpc>
              <a:buFont typeface="Arial" pitchFamily="34" charset="0"/>
              <a:buChar char="•"/>
              <a:tabLst>
                <a:tab pos="0" algn="l"/>
              </a:tabLst>
            </a:pPr>
            <a:r>
              <a:rPr lang="fr-CA" sz="1400" dirty="0" smtClean="0">
                <a:solidFill>
                  <a:srgbClr val="000000"/>
                </a:solidFill>
                <a:latin typeface="Times New Roman" pitchFamily="18" charset="0"/>
                <a:ea typeface="MS PMincho" pitchFamily="18" charset="-128"/>
                <a:cs typeface="Times New Roman" pitchFamily="18" charset="0"/>
              </a:rPr>
              <a:t>Références</a:t>
            </a:r>
          </a:p>
          <a:p>
            <a:pPr defTabSz="914400">
              <a:lnSpc>
                <a:spcPct val="100000"/>
              </a:lnSpc>
              <a:tabLst>
                <a:tab pos="0" algn="l"/>
              </a:tabLst>
            </a:pPr>
            <a:endParaRPr lang="en-US" sz="1200" dirty="0" smtClean="0">
              <a:solidFill>
                <a:srgbClr val="000000"/>
              </a:solidFill>
              <a:latin typeface="OpenSymbol"/>
            </a:endParaRPr>
          </a:p>
          <a:p>
            <a:pPr defTabSz="914400">
              <a:lnSpc>
                <a:spcPct val="100000"/>
              </a:lnSpc>
              <a:tabLst>
                <a:tab pos="0" algn="l"/>
              </a:tabLst>
            </a:pPr>
            <a:endParaRPr lang="en-US" sz="1200" dirty="0" smtClean="0">
              <a:solidFill>
                <a:srgbClr val="000000"/>
              </a:solidFill>
              <a:latin typeface="OpenSymbol"/>
            </a:endParaRPr>
          </a:p>
          <a:p>
            <a:pPr defTabSz="914400">
              <a:lnSpc>
                <a:spcPct val="100000"/>
              </a:lnSpc>
              <a:tabLst>
                <a:tab pos="0" algn="l"/>
              </a:tabLst>
            </a:pPr>
            <a:endParaRPr lang="en-US" sz="1200" b="0" u="none" strike="noStrike" dirty="0">
              <a:solidFill>
                <a:srgbClr val="000000"/>
              </a:solidFill>
              <a:effectLst/>
              <a:uFillTx/>
              <a:latin typeface="OpenSymbol"/>
            </a:endParaRPr>
          </a:p>
        </p:txBody>
      </p:sp>
      <p:pic>
        <p:nvPicPr>
          <p:cNvPr id="79" name="image69cabadead916" descr="image69cabadead919"/>
          <p:cNvPicPr/>
          <p:nvPr/>
        </p:nvPicPr>
        <p:blipFill>
          <a:blip r:embed="rId2"/>
          <a:stretch/>
        </p:blipFill>
        <p:spPr>
          <a:xfrm>
            <a:off x="4572000" y="0"/>
            <a:ext cx="4571640" cy="5143320"/>
          </a:xfrm>
          <a:prstGeom prst="rect">
            <a:avLst/>
          </a:prstGeom>
          <a:noFill/>
          <a:ln w="0">
            <a:noFill/>
          </a:ln>
        </p:spPr>
      </p:pic>
      <p:sp>
        <p:nvSpPr>
          <p:cNvPr id="5" name="PlaceHolder 1"/>
          <p:cNvSpPr>
            <a:spLocks noGrp="1"/>
          </p:cNvSpPr>
          <p:nvPr>
            <p:ph type="title"/>
          </p:nvPr>
        </p:nvSpPr>
        <p:spPr>
          <a:xfrm>
            <a:off x="476280" y="457200"/>
            <a:ext cx="3276600" cy="59055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dirty="0">
                <a:solidFill>
                  <a:schemeClr val="dk1"/>
                </a:solidFill>
                <a:effectLst/>
                <a:uFillTx/>
                <a:latin typeface="Sora"/>
                <a:ea typeface="Sora"/>
              </a:rPr>
              <a:t>Introduction</a:t>
            </a:r>
            <a:endParaRPr lang="fr-FR" sz="2600" b="0" u="none" strike="noStrike" dirty="0">
              <a:solidFill>
                <a:schemeClr val="dk1"/>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p:cNvSpPr/>
          <p:nvPr/>
        </p:nvSpPr>
        <p:spPr>
          <a:xfrm>
            <a:off x="228600" y="666750"/>
            <a:ext cx="4267200" cy="4267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a:bodyPr>
          <a:lstStyle/>
          <a:p>
            <a:pPr algn="ctr">
              <a:lnSpc>
                <a:spcPct val="150000"/>
              </a:lnSpc>
            </a:pPr>
            <a:r>
              <a:rPr lang="fr-FR" sz="1200" dirty="0" smtClean="0">
                <a:effectLst/>
                <a:latin typeface="Times New Roman" pitchFamily="18" charset="0"/>
                <a:cs typeface="Times New Roman" pitchFamily="18" charset="0"/>
              </a:rPr>
              <a:t>Dans les systèmes </a:t>
            </a:r>
            <a:r>
              <a:rPr lang="fr-FR" sz="1200" b="1" dirty="0" smtClean="0">
                <a:effectLst/>
                <a:latin typeface="Times New Roman" pitchFamily="18" charset="0"/>
                <a:cs typeface="Times New Roman" pitchFamily="18" charset="0"/>
              </a:rPr>
              <a:t>Unix/Linux</a:t>
            </a:r>
            <a:r>
              <a:rPr lang="fr-FR" sz="1200" dirty="0" smtClean="0">
                <a:effectLst/>
                <a:latin typeface="Times New Roman" pitchFamily="18" charset="0"/>
                <a:cs typeface="Times New Roman" pitchFamily="18" charset="0"/>
              </a:rPr>
              <a:t> , le transfert de fichiers est une tâche essentielle. Les anciens outils comme </a:t>
            </a:r>
            <a:r>
              <a:rPr lang="fr-FR" sz="1200" b="1" dirty="0" smtClean="0">
                <a:effectLst/>
                <a:latin typeface="Times New Roman" pitchFamily="18" charset="0"/>
                <a:cs typeface="Times New Roman" pitchFamily="18" charset="0"/>
              </a:rPr>
              <a:t>FTP (File Transfer Protocol)</a:t>
            </a:r>
            <a:r>
              <a:rPr lang="fr-FR" sz="1200" dirty="0" smtClean="0">
                <a:effectLst/>
                <a:latin typeface="Times New Roman" pitchFamily="18" charset="0"/>
                <a:cs typeface="Times New Roman" pitchFamily="18" charset="0"/>
              </a:rPr>
              <a:t> n'étaient pas sécurisés, car les données circulaient en clair. Pour résoudre ce problème, des solutions basées sur </a:t>
            </a:r>
            <a:r>
              <a:rPr lang="fr-FR" sz="1200" b="1" dirty="0" smtClean="0">
                <a:effectLst/>
                <a:latin typeface="Times New Roman" pitchFamily="18" charset="0"/>
                <a:cs typeface="Times New Roman" pitchFamily="18" charset="0"/>
              </a:rPr>
              <a:t>SSH</a:t>
            </a:r>
            <a:r>
              <a:rPr lang="fr-FR" sz="1200" dirty="0" smtClean="0">
                <a:effectLst/>
                <a:latin typeface="Times New Roman" pitchFamily="18" charset="0"/>
                <a:cs typeface="Times New Roman" pitchFamily="18" charset="0"/>
              </a:rPr>
              <a:t> ont été développées.</a:t>
            </a:r>
          </a:p>
          <a:p>
            <a:pPr algn="ctr">
              <a:lnSpc>
                <a:spcPct val="150000"/>
              </a:lnSpc>
            </a:pPr>
            <a:endParaRPr lang="fr-FR" sz="1200" dirty="0" smtClean="0">
              <a:latin typeface="Times New Roman" pitchFamily="18" charset="0"/>
              <a:cs typeface="Times New Roman" pitchFamily="18" charset="0"/>
            </a:endParaRPr>
          </a:p>
          <a:p>
            <a:pPr algn="ctr">
              <a:lnSpc>
                <a:spcPct val="150000"/>
              </a:lnSpc>
            </a:pPr>
            <a:r>
              <a:rPr lang="fr-FR" sz="1200" dirty="0" smtClean="0">
                <a:effectLst/>
                <a:latin typeface="Times New Roman" pitchFamily="18" charset="0"/>
                <a:cs typeface="Times New Roman" pitchFamily="18" charset="0"/>
              </a:rPr>
              <a:t>Deux protocoles sont aujourd'hui largement utilisés : </a:t>
            </a:r>
            <a:r>
              <a:rPr lang="fr-FR" sz="1200" b="1" dirty="0" smtClean="0">
                <a:effectLst/>
                <a:latin typeface="Times New Roman" pitchFamily="18" charset="0"/>
                <a:cs typeface="Times New Roman" pitchFamily="18" charset="0"/>
              </a:rPr>
              <a:t>SCP (Secure Copy Protocol)</a:t>
            </a:r>
            <a:r>
              <a:rPr lang="fr-FR" sz="1200" dirty="0" smtClean="0">
                <a:effectLst/>
                <a:latin typeface="Times New Roman" pitchFamily="18" charset="0"/>
                <a:cs typeface="Times New Roman" pitchFamily="18" charset="0"/>
              </a:rPr>
              <a:t> et </a:t>
            </a:r>
            <a:r>
              <a:rPr lang="fr-FR" sz="1200" b="1" dirty="0" smtClean="0">
                <a:effectLst/>
                <a:latin typeface="Times New Roman" pitchFamily="18" charset="0"/>
                <a:cs typeface="Times New Roman" pitchFamily="18" charset="0"/>
              </a:rPr>
              <a:t>SFTP (SSH File Transfer Protocol)</a:t>
            </a:r>
            <a:r>
              <a:rPr lang="fr-FR" sz="1200" dirty="0" smtClean="0">
                <a:effectLst/>
                <a:latin typeface="Times New Roman" pitchFamily="18" charset="0"/>
                <a:cs typeface="Times New Roman" pitchFamily="18" charset="0"/>
              </a:rPr>
              <a:t> . Tous deux permettent de transférer des fichiers de manière sécurisée, mais avec des approches différentes :</a:t>
            </a:r>
            <a:endParaRPr lang="fr-FR" sz="1200" dirty="0" smtClean="0">
              <a:latin typeface="Times New Roman" pitchFamily="18" charset="0"/>
              <a:cs typeface="Times New Roman" pitchFamily="18" charset="0"/>
            </a:endParaRPr>
          </a:p>
          <a:p>
            <a:pPr algn="ctr">
              <a:lnSpc>
                <a:spcPct val="150000"/>
              </a:lnSpc>
            </a:pPr>
            <a:r>
              <a:rPr lang="fr-FR" sz="1200" b="1" dirty="0" smtClean="0">
                <a:effectLst/>
                <a:latin typeface="Times New Roman" pitchFamily="18" charset="0"/>
                <a:cs typeface="Times New Roman" pitchFamily="18" charset="0"/>
              </a:rPr>
              <a:t>SCP</a:t>
            </a:r>
            <a:r>
              <a:rPr lang="fr-FR" sz="1200" dirty="0" smtClean="0">
                <a:effectLst/>
                <a:latin typeface="Times New Roman" pitchFamily="18" charset="0"/>
                <a:cs typeface="Times New Roman" pitchFamily="18" charset="0"/>
              </a:rPr>
              <a:t> mise sur la simplicité et la rapidité.</a:t>
            </a:r>
            <a:endParaRPr lang="fr-FR" sz="1200" dirty="0" smtClean="0">
              <a:latin typeface="Times New Roman" pitchFamily="18" charset="0"/>
              <a:cs typeface="Times New Roman" pitchFamily="18" charset="0"/>
            </a:endParaRPr>
          </a:p>
          <a:p>
            <a:pPr algn="ctr">
              <a:lnSpc>
                <a:spcPct val="150000"/>
              </a:lnSpc>
            </a:pPr>
            <a:r>
              <a:rPr lang="fr-FR" sz="1200" b="1" dirty="0" smtClean="0">
                <a:effectLst/>
                <a:latin typeface="Times New Roman" pitchFamily="18" charset="0"/>
                <a:cs typeface="Times New Roman" pitchFamily="18" charset="0"/>
              </a:rPr>
              <a:t>SFTP</a:t>
            </a:r>
            <a:r>
              <a:rPr lang="fr-FR" sz="1200" dirty="0" smtClean="0">
                <a:effectLst/>
                <a:latin typeface="Times New Roman" pitchFamily="18" charset="0"/>
                <a:cs typeface="Times New Roman" pitchFamily="18" charset="0"/>
              </a:rPr>
              <a:t> offre plus de fonctionnalités et une sécurité renforcée.</a:t>
            </a:r>
          </a:p>
          <a:p>
            <a:pPr algn="ctr">
              <a:lnSpc>
                <a:spcPct val="150000"/>
              </a:lnSpc>
            </a:pPr>
            <a:endParaRPr lang="fr-FR" sz="1200" dirty="0" smtClean="0">
              <a:latin typeface="Times New Roman" pitchFamily="18" charset="0"/>
              <a:cs typeface="Times New Roman" pitchFamily="18" charset="0"/>
            </a:endParaRPr>
          </a:p>
          <a:p>
            <a:pPr algn="ctr">
              <a:lnSpc>
                <a:spcPct val="150000"/>
              </a:lnSpc>
            </a:pPr>
            <a:r>
              <a:rPr lang="fr-FR" sz="1200" dirty="0" smtClean="0">
                <a:effectLst/>
                <a:latin typeface="Times New Roman" pitchFamily="18" charset="0"/>
                <a:cs typeface="Times New Roman" pitchFamily="18" charset="0"/>
              </a:rPr>
              <a:t>Cet exposé analysera leurs définitions, similitudes, fonctionnement, cas d'utilisation, avantages et inconvénients, avant de comparer les deux et de proposer des critères de choix adaptés aux besoins.</a:t>
            </a:r>
            <a:endParaRPr lang="fr-FR" sz="1200" dirty="0" smtClean="0">
              <a:latin typeface="Times New Roman" pitchFamily="18" charset="0"/>
              <a:cs typeface="Times New Roman" pitchFamily="18" charset="0"/>
            </a:endParaRPr>
          </a:p>
          <a:p>
            <a:pPr>
              <a:lnSpc>
                <a:spcPct val="150000"/>
              </a:lnSpc>
              <a:tabLst>
                <a:tab pos="0" algn="l"/>
              </a:tabLst>
            </a:pPr>
            <a:endParaRPr lang="en-US" sz="1200" b="0" u="none" strike="noStrike" dirty="0">
              <a:solidFill>
                <a:srgbClr val="000000"/>
              </a:solidFill>
              <a:effectLst/>
              <a:uFillTx/>
              <a:latin typeface="OpenSymbol"/>
            </a:endParaRPr>
          </a:p>
        </p:txBody>
      </p:sp>
      <p:pic>
        <p:nvPicPr>
          <p:cNvPr id="82" name="image69cabadeb9ea2" descr="image69cabadeb9ea9"/>
          <p:cNvPicPr/>
          <p:nvPr/>
        </p:nvPicPr>
        <p:blipFill>
          <a:blip r:embed="rId2"/>
          <a:stretch/>
        </p:blipFill>
        <p:spPr>
          <a:xfrm>
            <a:off x="4648200" y="133350"/>
            <a:ext cx="4495440" cy="4800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PlaceHolder 1"/>
          <p:cNvSpPr>
            <a:spLocks noGrp="1"/>
          </p:cNvSpPr>
          <p:nvPr>
            <p:ph type="title"/>
          </p:nvPr>
        </p:nvSpPr>
        <p:spPr>
          <a:xfrm>
            <a:off x="685800" y="133350"/>
            <a:ext cx="3124200" cy="59055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2600" b="1" u="none" strike="noStrike" dirty="0">
                <a:solidFill>
                  <a:schemeClr val="dk1"/>
                </a:solidFill>
                <a:effectLst/>
                <a:uFillTx/>
                <a:latin typeface="Sora"/>
                <a:ea typeface="Sora"/>
              </a:rPr>
              <a:t>Introduction</a:t>
            </a:r>
            <a:endParaRPr lang="fr-FR" sz="2600" b="0" u="none" strike="noStrike" dirty="0">
              <a:solidFill>
                <a:schemeClr val="dk1"/>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p:cNvSpPr txBox="1">
            <a:spLocks/>
          </p:cNvSpPr>
          <p:nvPr/>
        </p:nvSpPr>
        <p:spPr>
          <a:xfrm>
            <a:off x="2286000" y="511843"/>
            <a:ext cx="4838400" cy="590550"/>
          </a:xfrm>
          <a:prstGeom prst="rect">
            <a:avLst/>
          </a:prstGeom>
          <a:noFill/>
          <a:ln w="0">
            <a:noFill/>
          </a:ln>
        </p:spPr>
        <p:txBody>
          <a:bodyPr lIns="91440" tIns="91440" rIns="91440" bIns="91440" anchor="t">
            <a:normAutofit lnSpcReduction="10000"/>
          </a:bodyPr>
          <a:lstStyle/>
          <a:p>
            <a:r>
              <a:rPr lang="en-US" sz="2800" dirty="0"/>
              <a:t>SCP (Secure Copy Protocol)</a:t>
            </a:r>
          </a:p>
        </p:txBody>
      </p:sp>
      <p:sp>
        <p:nvSpPr>
          <p:cNvPr id="6" name="PlaceHolder 1"/>
          <p:cNvSpPr>
            <a:spLocks noGrp="1"/>
          </p:cNvSpPr>
          <p:nvPr>
            <p:ph type="subTitle"/>
          </p:nvPr>
        </p:nvSpPr>
        <p:spPr>
          <a:xfrm>
            <a:off x="457200" y="1200150"/>
            <a:ext cx="8001000" cy="2133599"/>
          </a:xfrm>
          <a:prstGeom prst="rect">
            <a:avLst/>
          </a:prstGeom>
          <a:noFill/>
          <a:ln w="0">
            <a:noFill/>
          </a:ln>
        </p:spPr>
        <p:txBody>
          <a:bodyPr lIns="91440" tIns="91440" rIns="91440" bIns="91440" anchor="t">
            <a:normAutofit/>
          </a:bodyPr>
          <a:lstStyle/>
          <a:p>
            <a:pPr indent="0" algn="ctr">
              <a:lnSpc>
                <a:spcPct val="150000"/>
              </a:lnSpc>
              <a:buNone/>
              <a:tabLst>
                <a:tab pos="0" algn="l"/>
              </a:tabLst>
            </a:pPr>
            <a:r>
              <a:rPr lang="fr-FR" sz="1400" dirty="0">
                <a:latin typeface="Times New Roman" pitchFamily="18" charset="0"/>
                <a:cs typeface="Times New Roman" pitchFamily="18" charset="0"/>
              </a:rPr>
              <a:t>SCP est un protocole de transfert de fichiers sécurisé permettant de déplacer des fichiers entre deux hôtes distants ou entre un hôte local et un hôte distant. S'appuyant sur SSH pour sécuriser les transferts de données, SCP est dérivé du protocole BSD </a:t>
            </a:r>
            <a:r>
              <a:rPr lang="fr-FR" sz="1400" dirty="0" err="1">
                <a:latin typeface="Times New Roman" pitchFamily="18" charset="0"/>
                <a:cs typeface="Times New Roman" pitchFamily="18" charset="0"/>
              </a:rPr>
              <a:t>Remote</a:t>
            </a:r>
            <a:r>
              <a:rPr lang="fr-FR" sz="1400" dirty="0">
                <a:latin typeface="Times New Roman" pitchFamily="18" charset="0"/>
                <a:cs typeface="Times New Roman" pitchFamily="18" charset="0"/>
              </a:rPr>
              <a:t> Copy Protocol (RCP), un protocole des années 1980 initialement utilisé pour les transferts de fichiers non chiffrés entre machines distantes</a:t>
            </a:r>
            <a:r>
              <a:rPr lang="fr-FR" sz="1400" dirty="0" smtClean="0">
                <a:latin typeface="Times New Roman" pitchFamily="18" charset="0"/>
                <a:cs typeface="Times New Roman" pitchFamily="18" charset="0"/>
              </a:rPr>
              <a:t>.</a:t>
            </a:r>
          </a:p>
          <a:p>
            <a:pPr indent="0">
              <a:lnSpc>
                <a:spcPct val="100000"/>
              </a:lnSpc>
              <a:buNone/>
              <a:tabLst>
                <a:tab pos="0" algn="l"/>
              </a:tabLst>
            </a:pPr>
            <a:endParaRPr lang="fr-FR" sz="1400" b="0" u="none" strike="noStrike" dirty="0">
              <a:solidFill>
                <a:schemeClr val="dk1"/>
              </a:solidFill>
              <a:effectLst/>
              <a:uFillTx/>
              <a:latin typeface="Arial"/>
            </a:endParaRPr>
          </a:p>
          <a:p>
            <a:pPr indent="0">
              <a:lnSpc>
                <a:spcPct val="100000"/>
              </a:lnSpc>
              <a:buNone/>
              <a:tabLst>
                <a:tab pos="0" algn="l"/>
              </a:tabLst>
            </a:pPr>
            <a:endParaRPr lang="fr-FR" sz="1400" b="0" u="none" strike="noStrike" dirty="0">
              <a:solidFill>
                <a:schemeClr val="dk1"/>
              </a:solidFill>
              <a:effectLst/>
              <a:uFillTx/>
              <a:latin typeface="Arial"/>
            </a:endParaRPr>
          </a:p>
          <a:p>
            <a:pPr indent="0">
              <a:lnSpc>
                <a:spcPct val="100000"/>
              </a:lnSpc>
              <a:buNone/>
              <a:tabLst>
                <a:tab pos="0" algn="l"/>
              </a:tabLst>
            </a:pPr>
            <a:endParaRPr lang="fr-FR" sz="1400" dirty="0" smtClean="0">
              <a:solidFill>
                <a:schemeClr val="dk1"/>
              </a:solidFill>
              <a:latin typeface="Arial"/>
            </a:endParaRPr>
          </a:p>
          <a:p>
            <a:pPr indent="0">
              <a:lnSpc>
                <a:spcPct val="100000"/>
              </a:lnSpc>
              <a:buNone/>
              <a:tabLst>
                <a:tab pos="0" algn="l"/>
              </a:tabLst>
            </a:pPr>
            <a:endParaRPr lang="fr-FR" sz="1400" b="0" u="none" strike="noStrike" dirty="0">
              <a:solidFill>
                <a:schemeClr val="dk1"/>
              </a:solidFill>
              <a:effectLst/>
              <a:uFillTx/>
              <a:latin typeface="Arial"/>
            </a:endParaRPr>
          </a:p>
        </p:txBody>
      </p:sp>
      <p:sp>
        <p:nvSpPr>
          <p:cNvPr id="4" name="AutoShape 2" descr="What is SCP (Secure Copy Protoco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227" y="2571750"/>
            <a:ext cx="6648450"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2600" b="0" u="none" strike="noStrike" dirty="0">
              <a:solidFill>
                <a:srgbClr val="000000"/>
              </a:solidFill>
              <a:effectLst/>
              <a:uFillTx/>
              <a:latin typeface="OpenSymbol"/>
            </a:endParaRPr>
          </a:p>
        </p:txBody>
      </p:sp>
      <p:sp>
        <p:nvSpPr>
          <p:cNvPr id="4" name="PlaceHolder 1"/>
          <p:cNvSpPr txBox="1">
            <a:spLocks/>
          </p:cNvSpPr>
          <p:nvPr/>
        </p:nvSpPr>
        <p:spPr>
          <a:xfrm>
            <a:off x="304800" y="1047750"/>
            <a:ext cx="8077200" cy="2514600"/>
          </a:xfrm>
          <a:prstGeom prst="rect">
            <a:avLst/>
          </a:prstGeom>
          <a:noFill/>
          <a:ln w="0">
            <a:noFill/>
          </a:ln>
        </p:spPr>
        <p:txBody>
          <a:bodyPr lIns="91440" tIns="91440" rIns="91440" bIns="91440" anchor="t">
            <a:normAutofit/>
          </a:bodyPr>
          <a:lstStyle/>
          <a:p>
            <a:pPr algn="ctr">
              <a:lnSpc>
                <a:spcPct val="150000"/>
              </a:lnSpc>
            </a:pPr>
            <a:r>
              <a:rPr lang="fr-FR" sz="1400" dirty="0" smtClean="0">
                <a:latin typeface="Times New Roman" pitchFamily="18" charset="0"/>
                <a:cs typeface="Times New Roman" pitchFamily="18" charset="0"/>
              </a:rPr>
              <a:t>SFTP, </a:t>
            </a:r>
            <a:r>
              <a:rPr lang="fr-FR" sz="1400" dirty="0">
                <a:latin typeface="Times New Roman" pitchFamily="18" charset="0"/>
                <a:cs typeface="Times New Roman" pitchFamily="18" charset="0"/>
              </a:rPr>
              <a:t>également connu sous le nom de protocole de transfert de fichiers SSH, est une alternative sécurisée au protocole de transfert de fichiers (FTP) traditionnel, développé dans les années 1970. Contrairement à FTP, qui transfère les données sans chiffrement et expose les informations sensibles à des risques potentiels, SFTP chiffre les données lors de leur transmission, protégeant ainsi les informations personnelles, financières et de santé. Parmi les algorithmes de chiffrement couramment utilisés avec SFTP sur SSH, on trouve AES (Advanced </a:t>
            </a:r>
            <a:r>
              <a:rPr lang="fr-FR" sz="1400" dirty="0" err="1">
                <a:latin typeface="Times New Roman" pitchFamily="18" charset="0"/>
                <a:cs typeface="Times New Roman" pitchFamily="18" charset="0"/>
              </a:rPr>
              <a:t>Encryption</a:t>
            </a:r>
            <a:r>
              <a:rPr lang="fr-FR" sz="1400" dirty="0">
                <a:latin typeface="Times New Roman" pitchFamily="18" charset="0"/>
                <a:cs typeface="Times New Roman" pitchFamily="18" charset="0"/>
              </a:rPr>
              <a:t> Standard), </a:t>
            </a:r>
            <a:r>
              <a:rPr lang="fr-FR" sz="1400" dirty="0" err="1">
                <a:latin typeface="Times New Roman" pitchFamily="18" charset="0"/>
                <a:cs typeface="Times New Roman" pitchFamily="18" charset="0"/>
              </a:rPr>
              <a:t>Blowfish</a:t>
            </a:r>
            <a:r>
              <a:rPr lang="fr-FR" sz="1400" dirty="0">
                <a:latin typeface="Times New Roman" pitchFamily="18" charset="0"/>
                <a:cs typeface="Times New Roman" pitchFamily="18" charset="0"/>
              </a:rPr>
              <a:t> et SHA-2 (Secure Hash </a:t>
            </a:r>
            <a:r>
              <a:rPr lang="fr-FR" sz="1400" dirty="0" err="1">
                <a:latin typeface="Times New Roman" pitchFamily="18" charset="0"/>
                <a:cs typeface="Times New Roman" pitchFamily="18" charset="0"/>
              </a:rPr>
              <a:t>Algorithm</a:t>
            </a:r>
            <a:r>
              <a:rPr lang="fr-FR" sz="1400" dirty="0">
                <a:latin typeface="Times New Roman" pitchFamily="18" charset="0"/>
                <a:cs typeface="Times New Roman" pitchFamily="18" charset="0"/>
              </a:rPr>
              <a:t>).</a:t>
            </a:r>
          </a:p>
        </p:txBody>
      </p:sp>
      <p:sp>
        <p:nvSpPr>
          <p:cNvPr id="5" name="PlaceHolder 1"/>
          <p:cNvSpPr txBox="1">
            <a:spLocks/>
          </p:cNvSpPr>
          <p:nvPr/>
        </p:nvSpPr>
        <p:spPr>
          <a:xfrm>
            <a:off x="1924200" y="361830"/>
            <a:ext cx="4838400" cy="590550"/>
          </a:xfrm>
          <a:prstGeom prst="rect">
            <a:avLst/>
          </a:prstGeom>
          <a:noFill/>
          <a:ln w="0">
            <a:noFill/>
          </a:ln>
        </p:spPr>
        <p:txBody>
          <a:bodyPr lIns="91440" tIns="91440" rIns="91440" bIns="91440" anchor="t">
            <a:normAutofit fontScale="77500" lnSpcReduction="20000"/>
          </a:bodyPr>
          <a:lstStyle/>
          <a:p>
            <a:r>
              <a:rPr lang="en-US" sz="2800" dirty="0"/>
              <a:t>SFTP (Secure File Transfer Protocol)</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802957"/>
            <a:ext cx="65913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Google Shape;174;p30" title="freepik__adjust__92215.jpeg"/>
          <p:cNvSpPr/>
          <p:nvPr/>
        </p:nvSpPr>
        <p:spPr>
          <a:xfrm>
            <a:off x="5217480" y="228600"/>
            <a:ext cx="3926520" cy="4686120"/>
          </a:xfrm>
          <a:prstGeom prst="roundRect">
            <a:avLst>
              <a:gd name="adj" fmla="val 8045"/>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92" name="PlaceHolder 2"/>
          <p:cNvSpPr>
            <a:spLocks noGrp="1"/>
          </p:cNvSpPr>
          <p:nvPr>
            <p:ph/>
          </p:nvPr>
        </p:nvSpPr>
        <p:spPr>
          <a:xfrm>
            <a:off x="217371" y="1123950"/>
            <a:ext cx="4838400" cy="3200400"/>
          </a:xfrm>
          <a:prstGeom prst="rect">
            <a:avLst/>
          </a:prstGeom>
          <a:noFill/>
          <a:ln w="0">
            <a:noFill/>
          </a:ln>
        </p:spPr>
        <p:txBody>
          <a:bodyPr lIns="91440" tIns="91440" rIns="91440" bIns="91440" anchor="b">
            <a:normAutofit/>
          </a:bodyPr>
          <a:lstStyle/>
          <a:p>
            <a:pPr marL="285750" indent="-285750" fontAlgn="base">
              <a:lnSpc>
                <a:spcPct val="150000"/>
              </a:lnSpc>
              <a:buFont typeface="Wingdings" pitchFamily="2" charset="2"/>
              <a:buChar char="q"/>
            </a:pPr>
            <a:r>
              <a:rPr lang="fr-FR" sz="1400" dirty="0" smtClean="0">
                <a:latin typeface="Times New Roman" pitchFamily="18" charset="0"/>
                <a:cs typeface="Times New Roman" pitchFamily="18" charset="0"/>
              </a:rPr>
              <a:t>Les </a:t>
            </a:r>
            <a:r>
              <a:rPr lang="fr-FR" sz="1400" dirty="0">
                <a:latin typeface="Times New Roman" pitchFamily="18" charset="0"/>
                <a:cs typeface="Times New Roman" pitchFamily="18" charset="0"/>
              </a:rPr>
              <a:t>deux protocoles sont des alternatives à FTP.</a:t>
            </a:r>
          </a:p>
          <a:p>
            <a:pPr marL="285750" indent="-285750" fontAlgn="base">
              <a:lnSpc>
                <a:spcPct val="150000"/>
              </a:lnSpc>
              <a:buFont typeface="Wingdings" pitchFamily="2" charset="2"/>
              <a:buChar char="q"/>
            </a:pPr>
            <a:r>
              <a:rPr lang="fr-FR" sz="1400" dirty="0">
                <a:latin typeface="Times New Roman" pitchFamily="18" charset="0"/>
                <a:cs typeface="Times New Roman" pitchFamily="18" charset="0"/>
              </a:rPr>
              <a:t>Ils utilisent SSH (Secure Shell) comme protocole de chiffrement.</a:t>
            </a:r>
          </a:p>
          <a:p>
            <a:pPr marL="285750" indent="-285750" fontAlgn="base">
              <a:lnSpc>
                <a:spcPct val="150000"/>
              </a:lnSpc>
              <a:buFont typeface="Wingdings" pitchFamily="2" charset="2"/>
              <a:buChar char="q"/>
            </a:pPr>
            <a:r>
              <a:rPr lang="fr-FR" sz="1400" dirty="0">
                <a:latin typeface="Times New Roman" pitchFamily="18" charset="0"/>
                <a:cs typeface="Times New Roman" pitchFamily="18" charset="0"/>
              </a:rPr>
              <a:t>Ils n’ont pas de restrictions de taille de fichiers lors d’un transfert.</a:t>
            </a:r>
          </a:p>
          <a:p>
            <a:pPr marL="285750" indent="-285750" fontAlgn="base">
              <a:lnSpc>
                <a:spcPct val="150000"/>
              </a:lnSpc>
              <a:buFont typeface="Wingdings" pitchFamily="2" charset="2"/>
              <a:buChar char="q"/>
            </a:pPr>
            <a:r>
              <a:rPr lang="fr-FR" sz="1400" dirty="0">
                <a:latin typeface="Times New Roman" pitchFamily="18" charset="0"/>
                <a:cs typeface="Times New Roman" pitchFamily="18" charset="0"/>
              </a:rPr>
              <a:t>Ils utilisent tous les deux le port 22.</a:t>
            </a:r>
          </a:p>
          <a:p>
            <a:pPr marL="285750" indent="-285750" fontAlgn="base">
              <a:lnSpc>
                <a:spcPct val="150000"/>
              </a:lnSpc>
              <a:buFont typeface="Wingdings" pitchFamily="2" charset="2"/>
              <a:buChar char="q"/>
            </a:pPr>
            <a:r>
              <a:rPr lang="fr-FR" sz="1400" dirty="0">
                <a:latin typeface="Times New Roman" pitchFamily="18" charset="0"/>
                <a:cs typeface="Times New Roman" pitchFamily="18" charset="0"/>
              </a:rPr>
              <a:t>Ils sont sécurisés grâce à une authentification par clé publique SSH et/ou mot de passe.</a:t>
            </a:r>
          </a:p>
          <a:p>
            <a:pPr marL="285750" indent="-285750" fontAlgn="base">
              <a:lnSpc>
                <a:spcPct val="150000"/>
              </a:lnSpc>
              <a:buFont typeface="Wingdings" pitchFamily="2" charset="2"/>
              <a:buChar char="q"/>
            </a:pPr>
            <a:r>
              <a:rPr lang="fr-FR" sz="1400" dirty="0">
                <a:latin typeface="Times New Roman" pitchFamily="18" charset="0"/>
                <a:cs typeface="Times New Roman" pitchFamily="18" charset="0"/>
              </a:rPr>
              <a:t>Ils utilisent TCP comme canal de transport.</a:t>
            </a:r>
          </a:p>
          <a:p>
            <a:pPr indent="0">
              <a:lnSpc>
                <a:spcPct val="150000"/>
              </a:lnSpc>
              <a:buNone/>
              <a:tabLst>
                <a:tab pos="0" algn="l"/>
              </a:tabLst>
            </a:pPr>
            <a:endParaRPr lang="fr-FR" sz="1400" b="0" u="none" strike="noStrike" dirty="0">
              <a:solidFill>
                <a:srgbClr val="000000"/>
              </a:solidFill>
              <a:effectLst/>
              <a:uFillTx/>
              <a:latin typeface="Arial"/>
            </a:endParaRPr>
          </a:p>
        </p:txBody>
      </p:sp>
      <p:sp>
        <p:nvSpPr>
          <p:cNvPr id="5" name="PlaceHolder 1"/>
          <p:cNvSpPr txBox="1">
            <a:spLocks/>
          </p:cNvSpPr>
          <p:nvPr/>
        </p:nvSpPr>
        <p:spPr>
          <a:xfrm>
            <a:off x="381000" y="251961"/>
            <a:ext cx="4343400" cy="590550"/>
          </a:xfrm>
          <a:prstGeom prst="rect">
            <a:avLst/>
          </a:prstGeom>
          <a:noFill/>
          <a:ln w="0">
            <a:noFill/>
          </a:ln>
        </p:spPr>
        <p:txBody>
          <a:bodyPr lIns="91440" tIns="91440" rIns="91440" bIns="91440" anchor="t">
            <a:noAutofit/>
          </a:bodyPr>
          <a:lstStyle/>
          <a:p>
            <a:pPr algn="ctr">
              <a:tabLst>
                <a:tab pos="0" algn="l"/>
              </a:tabLst>
            </a:pPr>
            <a:r>
              <a:rPr lang="fr-CA" sz="2800" b="1" dirty="0" smtClean="0">
                <a:solidFill>
                  <a:schemeClr val="dk1"/>
                </a:solidFill>
                <a:latin typeface="Sora"/>
              </a:rPr>
              <a:t>Similitudes</a:t>
            </a:r>
            <a:endParaRPr lang="fr-CA" sz="2800" dirty="0">
              <a:solidFill>
                <a:schemeClr val="dk1"/>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2600" b="0" u="none" strike="noStrike" dirty="0">
              <a:solidFill>
                <a:srgbClr val="000000"/>
              </a:solidFill>
              <a:effectLst/>
              <a:uFillTx/>
              <a:latin typeface="OpenSymbol"/>
            </a:endParaRPr>
          </a:p>
        </p:txBody>
      </p:sp>
      <p:sp>
        <p:nvSpPr>
          <p:cNvPr id="4" name="PlaceHolder 1"/>
          <p:cNvSpPr txBox="1">
            <a:spLocks/>
          </p:cNvSpPr>
          <p:nvPr/>
        </p:nvSpPr>
        <p:spPr>
          <a:xfrm>
            <a:off x="381000" y="1123950"/>
            <a:ext cx="8077200" cy="3352799"/>
          </a:xfrm>
          <a:prstGeom prst="rect">
            <a:avLst/>
          </a:prstGeom>
          <a:noFill/>
          <a:ln w="0">
            <a:noFill/>
          </a:ln>
        </p:spPr>
        <p:txBody>
          <a:bodyPr lIns="91440" tIns="91440" rIns="91440" bIns="91440" anchor="t">
            <a:noAutofit/>
          </a:bodyPr>
          <a:lstStyle/>
          <a:p>
            <a:pPr marL="285750" indent="-285750" algn="just">
              <a:lnSpc>
                <a:spcPct val="150000"/>
              </a:lnSpc>
              <a:buFont typeface="Wingdings" pitchFamily="2" charset="2"/>
              <a:buChar char="q"/>
            </a:pPr>
            <a:r>
              <a:rPr lang="fr-FR" sz="1400" dirty="0">
                <a:latin typeface="Times New Roman" pitchFamily="18" charset="0"/>
                <a:cs typeface="Times New Roman" pitchFamily="18" charset="0"/>
              </a:rPr>
              <a:t>SCP est basé sur la commande </a:t>
            </a:r>
            <a:r>
              <a:rPr lang="fr-FR" sz="1400" dirty="0" smtClean="0">
                <a:latin typeface="Times New Roman" pitchFamily="18" charset="0"/>
                <a:cs typeface="Times New Roman" pitchFamily="18" charset="0"/>
              </a:rPr>
              <a:t>Unix </a:t>
            </a:r>
            <a:r>
              <a:rPr lang="fr-FR" sz="1400" dirty="0" err="1" smtClean="0">
                <a:latin typeface="Times New Roman" pitchFamily="18" charset="0"/>
                <a:cs typeface="Times New Roman" pitchFamily="18" charset="0"/>
              </a:rPr>
              <a:t>cp</a:t>
            </a:r>
            <a:r>
              <a:rPr lang="fr-FR" sz="1400" dirty="0" smtClean="0">
                <a:latin typeface="Times New Roman" pitchFamily="18" charset="0"/>
                <a:cs typeface="Times New Roman" pitchFamily="18" charset="0"/>
              </a:rPr>
              <a:t> </a:t>
            </a:r>
            <a:r>
              <a:rPr lang="fr-FR" sz="1400" dirty="0">
                <a:latin typeface="Times New Roman" pitchFamily="18" charset="0"/>
                <a:cs typeface="Times New Roman" pitchFamily="18" charset="0"/>
              </a:rPr>
              <a:t>et utilise le protocole SSH pour chiffrer les fichiers et les transférer de manière sécurisée entre hôtes. Il établit une connexion SSH sécurisée entre les sites local et distant et requiert une authentification SSH, telle qu'un mot de passe ou une clé. Une fois la connexion établie, les fichiers et répertoires peuvent être copiés d'un emplacement à un autre en préservant leurs droits d'accès, leurs permissions et leur horodatage</a:t>
            </a:r>
            <a:r>
              <a:rPr lang="fr-FR" sz="1400" dirty="0" smtClean="0">
                <a:latin typeface="Times New Roman" pitchFamily="18" charset="0"/>
                <a:cs typeface="Times New Roman" pitchFamily="18" charset="0"/>
              </a:rPr>
              <a:t>.</a:t>
            </a:r>
          </a:p>
          <a:p>
            <a:pPr marL="285750" indent="-285750" algn="just">
              <a:lnSpc>
                <a:spcPct val="150000"/>
              </a:lnSpc>
              <a:buFont typeface="Wingdings" pitchFamily="2" charset="2"/>
              <a:buChar char="q"/>
            </a:pPr>
            <a:endParaRPr lang="fr-FR" sz="1400" dirty="0">
              <a:latin typeface="Times New Roman" pitchFamily="18" charset="0"/>
              <a:cs typeface="Times New Roman" pitchFamily="18" charset="0"/>
            </a:endParaRPr>
          </a:p>
          <a:p>
            <a:pPr marL="285750" indent="-285750" algn="just">
              <a:lnSpc>
                <a:spcPct val="150000"/>
              </a:lnSpc>
              <a:buFont typeface="Wingdings" pitchFamily="2" charset="2"/>
              <a:buChar char="q"/>
            </a:pPr>
            <a:r>
              <a:rPr lang="fr-FR" sz="1400" dirty="0">
                <a:latin typeface="Times New Roman" pitchFamily="18" charset="0"/>
                <a:cs typeface="Times New Roman" pitchFamily="18" charset="0"/>
              </a:rPr>
              <a:t>Le protocole SFTP établit une connexion sécurisée via SSH, nécessitant une authentification par mot de passe ou clé SSH pour garantir un accès sécurisé. Une fois la connexion établie, SFTP prend en charge les transferts de fichiers sécurisés et des fonctionnalités avancées de gestion des fichiers, telles que le </a:t>
            </a:r>
            <a:r>
              <a:rPr lang="fr-FR" sz="1400" dirty="0" err="1">
                <a:latin typeface="Times New Roman" pitchFamily="18" charset="0"/>
                <a:cs typeface="Times New Roman" pitchFamily="18" charset="0"/>
              </a:rPr>
              <a:t>renommage</a:t>
            </a:r>
            <a:r>
              <a:rPr lang="fr-FR" sz="1400" dirty="0">
                <a:latin typeface="Times New Roman" pitchFamily="18" charset="0"/>
                <a:cs typeface="Times New Roman" pitchFamily="18" charset="0"/>
              </a:rPr>
              <a:t> des répertoires, la suppression des fichiers et la modification des permissions utilisateur.</a:t>
            </a:r>
            <a:endParaRPr lang="fr-FR" sz="1400" dirty="0" smtClean="0">
              <a:latin typeface="Times New Roman" pitchFamily="18" charset="0"/>
              <a:cs typeface="Times New Roman" pitchFamily="18" charset="0"/>
            </a:endParaRPr>
          </a:p>
          <a:p>
            <a:pPr>
              <a:lnSpc>
                <a:spcPct val="150000"/>
              </a:lnSpc>
            </a:pPr>
            <a:endParaRPr lang="fr-FR" sz="1400" dirty="0">
              <a:latin typeface="Times New Roman" pitchFamily="18" charset="0"/>
              <a:cs typeface="Times New Roman" pitchFamily="18" charset="0"/>
            </a:endParaRPr>
          </a:p>
        </p:txBody>
      </p:sp>
      <p:sp>
        <p:nvSpPr>
          <p:cNvPr id="7" name="PlaceHolder 1"/>
          <p:cNvSpPr>
            <a:spLocks noGrp="1"/>
          </p:cNvSpPr>
          <p:nvPr>
            <p:ph type="title"/>
          </p:nvPr>
        </p:nvSpPr>
        <p:spPr>
          <a:xfrm>
            <a:off x="2057400" y="361950"/>
            <a:ext cx="4838400" cy="59055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2400" b="1" dirty="0" err="1" smtClean="0">
                <a:solidFill>
                  <a:schemeClr val="dk1"/>
                </a:solidFill>
                <a:latin typeface="Sora"/>
              </a:rPr>
              <a:t>Fonctionnement</a:t>
            </a:r>
            <a:endParaRPr lang="fr-FR" sz="2400" b="0" u="none" strike="noStrike" dirty="0">
              <a:solidFill>
                <a:schemeClr val="dk1"/>
              </a:solidFill>
              <a:effectLst/>
              <a:uFillTx/>
              <a:latin typeface="Arial"/>
            </a:endParaRPr>
          </a:p>
        </p:txBody>
      </p:sp>
    </p:spTree>
    <p:extLst>
      <p:ext uri="{BB962C8B-B14F-4D97-AF65-F5344CB8AC3E}">
        <p14:creationId xmlns:p14="http://schemas.microsoft.com/office/powerpoint/2010/main" val="217884764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ceHolder 1"/>
          <p:cNvSpPr txBox="1">
            <a:spLocks/>
          </p:cNvSpPr>
          <p:nvPr/>
        </p:nvSpPr>
        <p:spPr>
          <a:xfrm>
            <a:off x="140368" y="895349"/>
            <a:ext cx="4114800" cy="3886200"/>
          </a:xfrm>
          <a:prstGeom prst="rect">
            <a:avLst/>
          </a:prstGeom>
          <a:noFill/>
          <a:ln w="0">
            <a:noFill/>
          </a:ln>
        </p:spPr>
        <p:txBody>
          <a:bodyPr lIns="91440" tIns="91440" rIns="91440" bIns="91440" anchor="t">
            <a:normAutofit/>
          </a:bodyPr>
          <a:lstStyle/>
          <a:p>
            <a:pPr marL="285750" indent="-285750">
              <a:lnSpc>
                <a:spcPct val="150000"/>
              </a:lnSpc>
              <a:buFont typeface="Wingdings" pitchFamily="2" charset="2"/>
              <a:buChar char="v"/>
            </a:pPr>
            <a:r>
              <a:rPr lang="fr-FR" sz="1400" dirty="0">
                <a:latin typeface="Times New Roman" pitchFamily="18" charset="0"/>
                <a:cs typeface="Times New Roman" pitchFamily="18" charset="0"/>
              </a:rPr>
              <a:t>SCP est particulièrement adapté aux scénarios où rapidité et simplicité sont essentielles. Cela inclut :</a:t>
            </a:r>
          </a:p>
          <a:p>
            <a:pPr marL="285750" indent="-285750">
              <a:lnSpc>
                <a:spcPct val="150000"/>
              </a:lnSpc>
              <a:buFont typeface="Wingdings" pitchFamily="2" charset="2"/>
              <a:buChar char="ü"/>
            </a:pPr>
            <a:r>
              <a:rPr lang="fr-FR" sz="1400" b="1" dirty="0">
                <a:latin typeface="Times New Roman" pitchFamily="18" charset="0"/>
                <a:cs typeface="Times New Roman" pitchFamily="18" charset="0"/>
              </a:rPr>
              <a:t>Transferts de fichiers rapides </a:t>
            </a:r>
            <a:endParaRPr lang="fr-FR" sz="1400" b="1" dirty="0" smtClean="0">
              <a:latin typeface="Times New Roman" pitchFamily="18" charset="0"/>
              <a:cs typeface="Times New Roman" pitchFamily="18" charset="0"/>
            </a:endParaRPr>
          </a:p>
          <a:p>
            <a:pPr marL="285750" indent="-285750">
              <a:lnSpc>
                <a:spcPct val="150000"/>
              </a:lnSpc>
              <a:buFont typeface="Wingdings" pitchFamily="2" charset="2"/>
              <a:buChar char="ü"/>
            </a:pPr>
            <a:r>
              <a:rPr lang="fr-FR" sz="1400" b="1" dirty="0" smtClean="0">
                <a:latin typeface="Times New Roman" pitchFamily="18" charset="0"/>
                <a:cs typeface="Times New Roman" pitchFamily="18" charset="0"/>
              </a:rPr>
              <a:t>Transferts </a:t>
            </a:r>
            <a:r>
              <a:rPr lang="fr-FR" sz="1400" b="1" dirty="0">
                <a:latin typeface="Times New Roman" pitchFamily="18" charset="0"/>
                <a:cs typeface="Times New Roman" pitchFamily="18" charset="0"/>
              </a:rPr>
              <a:t>de fichiers volumineux </a:t>
            </a:r>
            <a:endParaRPr lang="fr-FR" sz="1400" b="1" dirty="0" smtClean="0">
              <a:latin typeface="Times New Roman" pitchFamily="18" charset="0"/>
              <a:cs typeface="Times New Roman" pitchFamily="18" charset="0"/>
            </a:endParaRPr>
          </a:p>
          <a:p>
            <a:pPr marL="285750" indent="-285750">
              <a:lnSpc>
                <a:spcPct val="150000"/>
              </a:lnSpc>
              <a:buFont typeface="Wingdings" pitchFamily="2" charset="2"/>
              <a:buChar char="ü"/>
            </a:pPr>
            <a:r>
              <a:rPr lang="fr-FR" sz="1400" b="1" dirty="0" smtClean="0">
                <a:latin typeface="Times New Roman" pitchFamily="18" charset="0"/>
                <a:cs typeface="Times New Roman" pitchFamily="18" charset="0"/>
              </a:rPr>
              <a:t>Sauvegardes </a:t>
            </a:r>
            <a:r>
              <a:rPr lang="fr-FR" sz="1400" b="1" dirty="0">
                <a:latin typeface="Times New Roman" pitchFamily="18" charset="0"/>
                <a:cs typeface="Times New Roman" pitchFamily="18" charset="0"/>
              </a:rPr>
              <a:t>et reprise après sinistre </a:t>
            </a:r>
            <a:endParaRPr lang="fr-FR" sz="1400" b="1" dirty="0" smtClean="0">
              <a:latin typeface="Times New Roman" pitchFamily="18" charset="0"/>
              <a:cs typeface="Times New Roman" pitchFamily="18" charset="0"/>
            </a:endParaRPr>
          </a:p>
          <a:p>
            <a:pPr marL="285750" indent="-285750">
              <a:lnSpc>
                <a:spcPct val="150000"/>
              </a:lnSpc>
              <a:buFont typeface="Wingdings" pitchFamily="2" charset="2"/>
              <a:buChar char="ü"/>
            </a:pPr>
            <a:r>
              <a:rPr lang="fr-FR" sz="1400" b="1" dirty="0" smtClean="0">
                <a:latin typeface="Times New Roman" pitchFamily="18" charset="0"/>
                <a:cs typeface="Times New Roman" pitchFamily="18" charset="0"/>
              </a:rPr>
              <a:t>Transferts </a:t>
            </a:r>
            <a:r>
              <a:rPr lang="fr-FR" sz="1400" b="1" dirty="0">
                <a:latin typeface="Times New Roman" pitchFamily="18" charset="0"/>
                <a:cs typeface="Times New Roman" pitchFamily="18" charset="0"/>
              </a:rPr>
              <a:t>mono-utilisateur </a:t>
            </a:r>
            <a:endParaRPr lang="fr-FR" sz="1400" dirty="0">
              <a:latin typeface="Times New Roman" pitchFamily="18" charset="0"/>
              <a:cs typeface="Times New Roman" pitchFamily="18" charset="0"/>
            </a:endParaRPr>
          </a:p>
          <a:p>
            <a:pPr marL="285750" indent="-285750">
              <a:lnSpc>
                <a:spcPct val="150000"/>
              </a:lnSpc>
              <a:buFont typeface="Wingdings" pitchFamily="2" charset="2"/>
              <a:buChar char="ü"/>
            </a:pPr>
            <a:r>
              <a:rPr lang="fr-FR" sz="1400" b="1" dirty="0">
                <a:latin typeface="Times New Roman" pitchFamily="18" charset="0"/>
                <a:cs typeface="Times New Roman" pitchFamily="18" charset="0"/>
              </a:rPr>
              <a:t>Environnements aux ressources limitées </a:t>
            </a:r>
            <a:endParaRPr lang="fr-FR" sz="1400" b="1" dirty="0" smtClean="0">
              <a:latin typeface="Times New Roman" pitchFamily="18" charset="0"/>
              <a:cs typeface="Times New Roman" pitchFamily="18" charset="0"/>
            </a:endParaRPr>
          </a:p>
          <a:p>
            <a:pPr marL="285750" indent="-285750">
              <a:lnSpc>
                <a:spcPct val="150000"/>
              </a:lnSpc>
              <a:buFont typeface="Wingdings" pitchFamily="2" charset="2"/>
              <a:buChar char="ü"/>
            </a:pPr>
            <a:r>
              <a:rPr lang="fr-FR" sz="1400" b="1" dirty="0" smtClean="0">
                <a:latin typeface="Times New Roman" pitchFamily="18" charset="0"/>
                <a:cs typeface="Times New Roman" pitchFamily="18" charset="0"/>
              </a:rPr>
              <a:t>Communications inter-serveurs</a:t>
            </a:r>
          </a:p>
          <a:p>
            <a:endParaRPr lang="fr-FR" sz="1400" dirty="0"/>
          </a:p>
        </p:txBody>
      </p:sp>
      <p:sp>
        <p:nvSpPr>
          <p:cNvPr id="5" name="PlaceHolder 1"/>
          <p:cNvSpPr>
            <a:spLocks noGrp="1"/>
          </p:cNvSpPr>
          <p:nvPr>
            <p:ph type="title"/>
          </p:nvPr>
        </p:nvSpPr>
        <p:spPr>
          <a:xfrm>
            <a:off x="2057400" y="361950"/>
            <a:ext cx="4838400" cy="59055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2400" b="1" dirty="0" err="1" smtClean="0">
                <a:solidFill>
                  <a:schemeClr val="dk1"/>
                </a:solidFill>
                <a:latin typeface="Sora"/>
              </a:rPr>
              <a:t>Cas</a:t>
            </a:r>
            <a:r>
              <a:rPr lang="en-US" sz="2400" b="1" dirty="0" smtClean="0">
                <a:solidFill>
                  <a:schemeClr val="dk1"/>
                </a:solidFill>
                <a:latin typeface="Sora"/>
              </a:rPr>
              <a:t> </a:t>
            </a:r>
            <a:r>
              <a:rPr lang="en-US" sz="2400" b="1" dirty="0" err="1" smtClean="0">
                <a:solidFill>
                  <a:schemeClr val="dk1"/>
                </a:solidFill>
                <a:latin typeface="Sora"/>
              </a:rPr>
              <a:t>d’utilisation</a:t>
            </a:r>
            <a:r>
              <a:rPr lang="en-US" sz="2400" b="1" dirty="0" smtClean="0">
                <a:solidFill>
                  <a:schemeClr val="dk1"/>
                </a:solidFill>
                <a:latin typeface="Sora"/>
              </a:rPr>
              <a:t/>
            </a:r>
            <a:br>
              <a:rPr lang="en-US" sz="2400" b="1" dirty="0" smtClean="0">
                <a:solidFill>
                  <a:schemeClr val="dk1"/>
                </a:solidFill>
                <a:latin typeface="Sora"/>
              </a:rPr>
            </a:br>
            <a:endParaRPr lang="fr-FR" sz="2400" b="0" u="none" strike="noStrike" dirty="0">
              <a:solidFill>
                <a:schemeClr val="dk1"/>
              </a:solidFill>
              <a:effectLst/>
              <a:uFillTx/>
              <a:latin typeface="Arial"/>
            </a:endParaRPr>
          </a:p>
        </p:txBody>
      </p:sp>
      <p:sp>
        <p:nvSpPr>
          <p:cNvPr id="7" name="PlaceHolder 1"/>
          <p:cNvSpPr txBox="1">
            <a:spLocks/>
          </p:cNvSpPr>
          <p:nvPr/>
        </p:nvSpPr>
        <p:spPr>
          <a:xfrm>
            <a:off x="4648200" y="917206"/>
            <a:ext cx="4267200" cy="3864343"/>
          </a:xfrm>
          <a:prstGeom prst="rect">
            <a:avLst/>
          </a:prstGeom>
          <a:noFill/>
          <a:ln w="0">
            <a:noFill/>
          </a:ln>
        </p:spPr>
        <p:txBody>
          <a:bodyPr lIns="91440" tIns="91440" rIns="91440" bIns="91440" anchor="t">
            <a:normAutofit/>
          </a:bodyPr>
          <a:lstStyle/>
          <a:p>
            <a:pPr marL="285750" indent="-285750">
              <a:lnSpc>
                <a:spcPct val="150000"/>
              </a:lnSpc>
              <a:buFont typeface="Wingdings" pitchFamily="2" charset="2"/>
              <a:buChar char="v"/>
            </a:pPr>
            <a:r>
              <a:rPr lang="fr-FR" sz="1400" dirty="0" smtClean="0">
                <a:latin typeface="Times New Roman" pitchFamily="18" charset="0"/>
                <a:cs typeface="Times New Roman" pitchFamily="18" charset="0"/>
              </a:rPr>
              <a:t>Les organisations pourraient se tourner vers le SFTP pour :</a:t>
            </a:r>
          </a:p>
          <a:p>
            <a:pPr marL="285750" indent="-285750">
              <a:lnSpc>
                <a:spcPct val="150000"/>
              </a:lnSpc>
              <a:buFont typeface="Wingdings" pitchFamily="2" charset="2"/>
              <a:buChar char="ü"/>
            </a:pPr>
            <a:r>
              <a:rPr lang="fr-FR" sz="1400" b="1" dirty="0" smtClean="0">
                <a:latin typeface="Times New Roman" pitchFamily="18" charset="0"/>
                <a:cs typeface="Times New Roman" pitchFamily="18" charset="0"/>
              </a:rPr>
              <a:t>Gestion complexe des fichiers et des répertoires </a:t>
            </a:r>
          </a:p>
          <a:p>
            <a:pPr marL="285750" indent="-285750">
              <a:lnSpc>
                <a:spcPct val="150000"/>
              </a:lnSpc>
              <a:buFont typeface="Wingdings" pitchFamily="2" charset="2"/>
              <a:buChar char="ü"/>
            </a:pPr>
            <a:r>
              <a:rPr lang="fr-FR" sz="1400" b="1" dirty="0" smtClean="0">
                <a:latin typeface="Times New Roman" pitchFamily="18" charset="0"/>
                <a:cs typeface="Times New Roman" pitchFamily="18" charset="0"/>
              </a:rPr>
              <a:t>Collaboration entre différents systèmes </a:t>
            </a:r>
          </a:p>
          <a:p>
            <a:pPr marL="285750" indent="-285750">
              <a:lnSpc>
                <a:spcPct val="150000"/>
              </a:lnSpc>
              <a:buFont typeface="Wingdings" pitchFamily="2" charset="2"/>
              <a:buChar char="ü"/>
            </a:pPr>
            <a:r>
              <a:rPr lang="fr-FR" sz="1400" b="1" dirty="0" smtClean="0">
                <a:latin typeface="Times New Roman" pitchFamily="18" charset="0"/>
                <a:cs typeface="Times New Roman" pitchFamily="18" charset="0"/>
              </a:rPr>
              <a:t>Partage de fichiers sécurisé </a:t>
            </a:r>
          </a:p>
          <a:p>
            <a:pPr marL="285750" indent="-285750">
              <a:lnSpc>
                <a:spcPct val="150000"/>
              </a:lnSpc>
              <a:buFont typeface="Wingdings" pitchFamily="2" charset="2"/>
              <a:buChar char="ü"/>
            </a:pPr>
            <a:r>
              <a:rPr lang="fr-FR" sz="1400" b="1" dirty="0" smtClean="0">
                <a:latin typeface="Times New Roman" pitchFamily="18" charset="0"/>
                <a:cs typeface="Times New Roman" pitchFamily="18" charset="0"/>
              </a:rPr>
              <a:t>Conformité réglementaire</a:t>
            </a:r>
            <a:endParaRPr lang="fr-FR" sz="1400" dirty="0" smtClean="0">
              <a:latin typeface="Times New Roman" pitchFamily="18" charset="0"/>
              <a:cs typeface="Times New Roman" pitchFamily="18" charset="0"/>
            </a:endParaRPr>
          </a:p>
          <a:p>
            <a:pPr marL="285750" indent="-285750">
              <a:lnSpc>
                <a:spcPct val="150000"/>
              </a:lnSpc>
              <a:buFont typeface="Wingdings" pitchFamily="2" charset="2"/>
              <a:buChar char="ü"/>
            </a:pPr>
            <a:r>
              <a:rPr lang="fr-FR" sz="1400" b="1" dirty="0" smtClean="0">
                <a:latin typeface="Times New Roman" pitchFamily="18" charset="0"/>
                <a:cs typeface="Times New Roman" pitchFamily="18" charset="0"/>
              </a:rPr>
              <a:t>Fichiers volumineux </a:t>
            </a:r>
            <a:endParaRPr lang="fr-FR" sz="1400" dirty="0">
              <a:latin typeface="Times New Roman" pitchFamily="18" charset="0"/>
              <a:cs typeface="Times New Roman" pitchFamily="18" charset="0"/>
            </a:endParaRPr>
          </a:p>
        </p:txBody>
      </p:sp>
    </p:spTree>
    <p:extLst>
      <p:ext uri="{BB962C8B-B14F-4D97-AF65-F5344CB8AC3E}">
        <p14:creationId xmlns:p14="http://schemas.microsoft.com/office/powerpoint/2010/main" val="3524772540"/>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Google Shape;174;p30" title="freepik__adjust__92215.jpeg"/>
          <p:cNvSpPr/>
          <p:nvPr/>
        </p:nvSpPr>
        <p:spPr>
          <a:xfrm>
            <a:off x="5217480" y="228600"/>
            <a:ext cx="3926520" cy="4686120"/>
          </a:xfrm>
          <a:prstGeom prst="roundRect">
            <a:avLst>
              <a:gd name="adj" fmla="val 8045"/>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75" name="PlaceHolder 1"/>
          <p:cNvSpPr>
            <a:spLocks noGrp="1"/>
          </p:cNvSpPr>
          <p:nvPr>
            <p:ph type="title"/>
          </p:nvPr>
        </p:nvSpPr>
        <p:spPr>
          <a:xfrm>
            <a:off x="228600" y="228600"/>
            <a:ext cx="4838400" cy="59055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2000" b="1" dirty="0" err="1" smtClean="0">
                <a:solidFill>
                  <a:schemeClr val="dk1"/>
                </a:solidFill>
                <a:latin typeface="Sora"/>
              </a:rPr>
              <a:t>Avantag</a:t>
            </a:r>
            <a:r>
              <a:rPr lang="en-US" sz="2200" b="1" dirty="0" err="1" smtClean="0">
                <a:solidFill>
                  <a:schemeClr val="dk1"/>
                </a:solidFill>
                <a:latin typeface="Sora"/>
              </a:rPr>
              <a:t>es</a:t>
            </a:r>
            <a:r>
              <a:rPr lang="en-US" sz="2200" b="1" dirty="0" smtClean="0">
                <a:solidFill>
                  <a:schemeClr val="dk1"/>
                </a:solidFill>
                <a:latin typeface="Sora"/>
              </a:rPr>
              <a:t> et </a:t>
            </a:r>
            <a:r>
              <a:rPr lang="en-US" sz="2200" b="1" dirty="0" err="1" smtClean="0">
                <a:solidFill>
                  <a:schemeClr val="dk1"/>
                </a:solidFill>
                <a:latin typeface="Sora"/>
              </a:rPr>
              <a:t>Inconvenients</a:t>
            </a:r>
            <a:endParaRPr lang="fr-FR" b="0" u="none" strike="noStrike" dirty="0">
              <a:solidFill>
                <a:schemeClr val="dk1"/>
              </a:solidFill>
              <a:effectLst/>
              <a:uFillTx/>
              <a:latin typeface="Arial"/>
            </a:endParaRPr>
          </a:p>
        </p:txBody>
      </p:sp>
      <p:sp>
        <p:nvSpPr>
          <p:cNvPr id="7" name="PlaceHolder 2"/>
          <p:cNvSpPr txBox="1">
            <a:spLocks/>
          </p:cNvSpPr>
          <p:nvPr/>
        </p:nvSpPr>
        <p:spPr>
          <a:xfrm>
            <a:off x="252664" y="895350"/>
            <a:ext cx="4765307" cy="3886200"/>
          </a:xfrm>
          <a:prstGeom prst="rect">
            <a:avLst/>
          </a:prstGeom>
          <a:noFill/>
          <a:ln w="0">
            <a:noFill/>
          </a:ln>
        </p:spPr>
        <p:txBody>
          <a:bodyPr lIns="91440" tIns="91440" rIns="91440" bIns="91440" anchor="t">
            <a:noAutofit/>
          </a:bodyPr>
          <a:lstStyle/>
          <a:p>
            <a:pPr algn="just">
              <a:lnSpc>
                <a:spcPct val="150000"/>
              </a:lnSpc>
            </a:pPr>
            <a:r>
              <a:rPr lang="fr-FR" sz="1200" dirty="0">
                <a:latin typeface="Times New Roman" pitchFamily="18" charset="0"/>
                <a:cs typeface="Times New Roman" pitchFamily="18" charset="0"/>
              </a:rPr>
              <a:t>SCP est apprécié pour sa rapidité et sa simplicité, ce qui en fait un excellent choix pour les organisations ayant besoin de transferts de fichiers rapides et faciles</a:t>
            </a:r>
            <a:r>
              <a:rPr lang="fr-FR" sz="1200" dirty="0" smtClean="0">
                <a:latin typeface="Times New Roman" pitchFamily="18" charset="0"/>
                <a:cs typeface="Times New Roman" pitchFamily="18" charset="0"/>
              </a:rPr>
              <a:t>.</a:t>
            </a:r>
            <a:endParaRPr lang="fr-FR" sz="1200" dirty="0">
              <a:latin typeface="Times New Roman" pitchFamily="18" charset="0"/>
              <a:cs typeface="Times New Roman" pitchFamily="18" charset="0"/>
            </a:endParaRPr>
          </a:p>
          <a:p>
            <a:pPr algn="just">
              <a:lnSpc>
                <a:spcPct val="150000"/>
              </a:lnSpc>
            </a:pPr>
            <a:r>
              <a:rPr lang="fr-FR" sz="1200" dirty="0">
                <a:latin typeface="Times New Roman" pitchFamily="18" charset="0"/>
                <a:cs typeface="Times New Roman" pitchFamily="18" charset="0"/>
              </a:rPr>
              <a:t>Cependant, SCP ne propose pas de fonctionnalités avancées de gestion de fichiers. Les utilisateurs ne peuvent ni naviguer dans les répertoires, ni renommer les fichiers, ni gérer les permissions, ce qui peut s'avérer limitant pour les organisations qui gèrent régulièrement des fichiers sur des serveurs distants</a:t>
            </a:r>
            <a:r>
              <a:rPr lang="fr-FR" sz="1200" dirty="0" smtClean="0">
                <a:latin typeface="Times New Roman" pitchFamily="18" charset="0"/>
                <a:cs typeface="Times New Roman" pitchFamily="18" charset="0"/>
              </a:rPr>
              <a:t>.</a:t>
            </a:r>
            <a:endParaRPr lang="fr-FR" sz="1200" dirty="0">
              <a:latin typeface="Times New Roman" pitchFamily="18" charset="0"/>
              <a:cs typeface="Times New Roman" pitchFamily="18" charset="0"/>
            </a:endParaRPr>
          </a:p>
          <a:p>
            <a:pPr algn="just">
              <a:lnSpc>
                <a:spcPct val="150000"/>
              </a:lnSpc>
            </a:pPr>
            <a:r>
              <a:rPr lang="fr-FR" sz="1200" dirty="0">
                <a:latin typeface="Times New Roman" pitchFamily="18" charset="0"/>
                <a:cs typeface="Times New Roman" pitchFamily="18" charset="0"/>
              </a:rPr>
              <a:t>De plus, SCP rencontre des difficultés avec les transferts interrompus. En cas de rupture d'un transfert, les utilisateurs doivent le recommencer depuis le début, ce qui peut s'avérer inefficace et consommer inutilement de la bande passante, un problème particulièrement préoccupant pour les fichiers volumineux sur des réseaux instables.</a:t>
            </a:r>
          </a:p>
        </p:txBody>
      </p:sp>
    </p:spTree>
    <p:extLst>
      <p:ext uri="{BB962C8B-B14F-4D97-AF65-F5344CB8AC3E}">
        <p14:creationId xmlns:p14="http://schemas.microsoft.com/office/powerpoint/2010/main" val="161750055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Google Shape;174;p30" title="freepik__adjust__92215.jpeg"/>
          <p:cNvSpPr/>
          <p:nvPr/>
        </p:nvSpPr>
        <p:spPr>
          <a:xfrm>
            <a:off x="5217480" y="228600"/>
            <a:ext cx="3926520" cy="4686120"/>
          </a:xfrm>
          <a:prstGeom prst="roundRect">
            <a:avLst>
              <a:gd name="adj" fmla="val 8045"/>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75" name="PlaceHolder 1"/>
          <p:cNvSpPr>
            <a:spLocks noGrp="1"/>
          </p:cNvSpPr>
          <p:nvPr>
            <p:ph type="title"/>
          </p:nvPr>
        </p:nvSpPr>
        <p:spPr>
          <a:xfrm>
            <a:off x="228600" y="228600"/>
            <a:ext cx="4838400" cy="59055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200" b="1" dirty="0" err="1" smtClean="0">
                <a:solidFill>
                  <a:schemeClr val="dk1"/>
                </a:solidFill>
                <a:latin typeface="Sora"/>
              </a:rPr>
              <a:t>Avantages</a:t>
            </a:r>
            <a:r>
              <a:rPr lang="en-US" sz="2200" b="1" dirty="0" smtClean="0">
                <a:solidFill>
                  <a:schemeClr val="dk1"/>
                </a:solidFill>
                <a:latin typeface="Sora"/>
              </a:rPr>
              <a:t> et </a:t>
            </a:r>
            <a:r>
              <a:rPr lang="en-US" sz="2200" b="1" dirty="0" err="1" smtClean="0">
                <a:solidFill>
                  <a:schemeClr val="dk1"/>
                </a:solidFill>
                <a:latin typeface="Sora"/>
              </a:rPr>
              <a:t>Inconvenients</a:t>
            </a:r>
            <a:r>
              <a:rPr lang="en-US" sz="2600" b="1" dirty="0" smtClean="0">
                <a:solidFill>
                  <a:schemeClr val="dk1"/>
                </a:solidFill>
                <a:latin typeface="Sora"/>
              </a:rPr>
              <a:t/>
            </a:r>
            <a:br>
              <a:rPr lang="en-US" sz="2600" b="1" dirty="0" smtClean="0">
                <a:solidFill>
                  <a:schemeClr val="dk1"/>
                </a:solidFill>
                <a:latin typeface="Sora"/>
              </a:rPr>
            </a:br>
            <a:endParaRPr lang="fr-FR" sz="2600" b="0" u="none" strike="noStrike" dirty="0">
              <a:solidFill>
                <a:schemeClr val="dk1"/>
              </a:solidFill>
              <a:effectLst/>
              <a:uFillTx/>
              <a:latin typeface="Arial"/>
            </a:endParaRPr>
          </a:p>
        </p:txBody>
      </p:sp>
      <p:sp>
        <p:nvSpPr>
          <p:cNvPr id="7" name="PlaceHolder 2"/>
          <p:cNvSpPr txBox="1">
            <a:spLocks/>
          </p:cNvSpPr>
          <p:nvPr/>
        </p:nvSpPr>
        <p:spPr>
          <a:xfrm>
            <a:off x="252664" y="780960"/>
            <a:ext cx="4765307" cy="3581400"/>
          </a:xfrm>
          <a:prstGeom prst="rect">
            <a:avLst/>
          </a:prstGeom>
          <a:noFill/>
          <a:ln w="0">
            <a:noFill/>
          </a:ln>
        </p:spPr>
        <p:txBody>
          <a:bodyPr lIns="91440" tIns="91440" rIns="91440" bIns="91440" anchor="t">
            <a:noAutofit/>
          </a:bodyPr>
          <a:lstStyle/>
          <a:p>
            <a:pPr algn="just">
              <a:lnSpc>
                <a:spcPct val="150000"/>
              </a:lnSpc>
            </a:pPr>
            <a:r>
              <a:rPr lang="fr-FR" sz="1200" dirty="0">
                <a:latin typeface="Times New Roman" pitchFamily="18" charset="0"/>
                <a:cs typeface="Times New Roman" pitchFamily="18" charset="0"/>
              </a:rPr>
              <a:t>Le principal atout du protocole SFTP réside dans ses fonctionnalités complètes de gestion des fichiers. Il permet aux utilisateurs de naviguer dans les répertoires, de créer et de supprimer des dossiers, de renommer des fichiers et de gérer les autorisations, offrant ainsi un meilleur contrôle des transferts de fichiers</a:t>
            </a:r>
            <a:r>
              <a:rPr lang="fr-FR" sz="1200" dirty="0" smtClean="0">
                <a:latin typeface="Times New Roman" pitchFamily="18" charset="0"/>
                <a:cs typeface="Times New Roman" pitchFamily="18" charset="0"/>
              </a:rPr>
              <a:t>.</a:t>
            </a:r>
            <a:endParaRPr lang="fr-FR" sz="1200" dirty="0">
              <a:latin typeface="Times New Roman" pitchFamily="18" charset="0"/>
              <a:cs typeface="Times New Roman" pitchFamily="18" charset="0"/>
            </a:endParaRPr>
          </a:p>
          <a:p>
            <a:pPr algn="just">
              <a:lnSpc>
                <a:spcPct val="150000"/>
              </a:lnSpc>
            </a:pPr>
            <a:r>
              <a:rPr lang="fr-FR" sz="1200" dirty="0">
                <a:latin typeface="Times New Roman" pitchFamily="18" charset="0"/>
                <a:cs typeface="Times New Roman" pitchFamily="18" charset="0"/>
              </a:rPr>
              <a:t>Le protocole SFTP intègre une gestion robuste des erreurs et permet la reprise des transferts interrompus, minimisant ainsi les perturbations et renforçant la sécurité. Sa journalisation détaillée favorise la traçabilité et contribue à démontrer la conformité réglementaire</a:t>
            </a:r>
            <a:r>
              <a:rPr lang="fr-FR" sz="1200" dirty="0" smtClean="0">
                <a:latin typeface="Times New Roman" pitchFamily="18" charset="0"/>
                <a:cs typeface="Times New Roman" pitchFamily="18" charset="0"/>
              </a:rPr>
              <a:t>.</a:t>
            </a:r>
            <a:endParaRPr lang="fr-FR" sz="1200" dirty="0">
              <a:latin typeface="Times New Roman" pitchFamily="18" charset="0"/>
              <a:cs typeface="Times New Roman" pitchFamily="18" charset="0"/>
            </a:endParaRPr>
          </a:p>
          <a:p>
            <a:pPr algn="just">
              <a:lnSpc>
                <a:spcPct val="150000"/>
              </a:lnSpc>
            </a:pPr>
            <a:r>
              <a:rPr lang="fr-FR" sz="1200" dirty="0">
                <a:latin typeface="Times New Roman" pitchFamily="18" charset="0"/>
                <a:cs typeface="Times New Roman" pitchFamily="18" charset="0"/>
              </a:rPr>
              <a:t>Cependant, le protocole SFTP est plus lent que le protocole SCP en raison de l'accusé de réception des paquets, ce qui peut engendrer une latence, notamment avec les fichiers volumineux ou les arborescences de répertoires complexes. De plus, la mise en place et la configuration du protocole SFTP peuvent s'avérer plus complexes.</a:t>
            </a:r>
          </a:p>
        </p:txBody>
      </p:sp>
    </p:spTree>
    <p:extLst>
      <p:ext uri="{BB962C8B-B14F-4D97-AF65-F5344CB8AC3E}">
        <p14:creationId xmlns:p14="http://schemas.microsoft.com/office/powerpoint/2010/main" val="361142973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p:cNvSpPr/>
          <p:nvPr/>
        </p:nvSpPr>
        <p:spPr>
          <a:xfrm>
            <a:off x="4953000" y="1962285"/>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dirty="0" err="1" smtClean="0">
                <a:solidFill>
                  <a:schemeClr val="dk1"/>
                </a:solidFill>
                <a:effectLst/>
                <a:uFillTx/>
                <a:latin typeface="Sora"/>
              </a:rPr>
              <a:t>Comparaison</a:t>
            </a:r>
            <a:endParaRPr lang="en-US" sz="4000" b="0" u="none" strike="noStrike" dirty="0">
              <a:solidFill>
                <a:srgbClr val="000000"/>
              </a:solidFill>
              <a:effectLst/>
              <a:uFillTx/>
              <a:latin typeface="OpenSymbol"/>
            </a:endParaRPr>
          </a:p>
        </p:txBody>
      </p:sp>
      <p:pic>
        <p:nvPicPr>
          <p:cNvPr id="89" name="image69cabadec570a" descr="image69cabadec570e"/>
          <p:cNvPicPr/>
          <p:nvPr/>
        </p:nvPicPr>
        <p:blipFill>
          <a:blip r:embed="rId2"/>
          <a:stretch/>
        </p:blipFill>
        <p:spPr>
          <a:xfrm>
            <a:off x="381000" y="742950"/>
            <a:ext cx="3810000" cy="386715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ceHolder 1"/>
          <p:cNvSpPr txBox="1">
            <a:spLocks/>
          </p:cNvSpPr>
          <p:nvPr/>
        </p:nvSpPr>
        <p:spPr>
          <a:xfrm>
            <a:off x="514200" y="1200151"/>
            <a:ext cx="8077200" cy="3048000"/>
          </a:xfrm>
          <a:prstGeom prst="rect">
            <a:avLst/>
          </a:prstGeom>
          <a:noFill/>
          <a:ln w="0">
            <a:noFill/>
          </a:ln>
        </p:spPr>
        <p:txBody>
          <a:bodyPr lIns="91440" tIns="91440" rIns="91440" bIns="91440" anchor="t">
            <a:noAutofit/>
          </a:bodyPr>
          <a:lstStyle/>
          <a:p>
            <a:pPr algn="ctr">
              <a:lnSpc>
                <a:spcPct val="170000"/>
              </a:lnSpc>
            </a:pPr>
            <a:r>
              <a:rPr lang="fr-FR" sz="1200" dirty="0">
                <a:latin typeface="Times New Roman" pitchFamily="18" charset="0"/>
                <a:cs typeface="Times New Roman" pitchFamily="18" charset="0"/>
              </a:rPr>
              <a:t>Les protocoles SCP et SFTP sont tous deux sécurisés, car ils s'appuient sur SSH pour le transfert de données chiffrées et nécessitent une authentification pour se protéger contre les accès non autorisés</a:t>
            </a:r>
            <a:r>
              <a:rPr lang="fr-FR" sz="1200" dirty="0" smtClean="0">
                <a:latin typeface="Times New Roman" pitchFamily="18" charset="0"/>
                <a:cs typeface="Times New Roman" pitchFamily="18" charset="0"/>
              </a:rPr>
              <a:t>.</a:t>
            </a:r>
          </a:p>
          <a:p>
            <a:pPr algn="ctr">
              <a:lnSpc>
                <a:spcPct val="170000"/>
              </a:lnSpc>
            </a:pPr>
            <a:endParaRPr lang="fr-FR" sz="1200" dirty="0">
              <a:latin typeface="Times New Roman" pitchFamily="18" charset="0"/>
              <a:cs typeface="Times New Roman" pitchFamily="18" charset="0"/>
            </a:endParaRPr>
          </a:p>
          <a:p>
            <a:pPr algn="ctr">
              <a:lnSpc>
                <a:spcPct val="170000"/>
              </a:lnSpc>
            </a:pPr>
            <a:r>
              <a:rPr lang="fr-FR" sz="1200" dirty="0">
                <a:latin typeface="Times New Roman" pitchFamily="18" charset="0"/>
                <a:cs typeface="Times New Roman" pitchFamily="18" charset="0"/>
              </a:rPr>
              <a:t>Il existe toutefois des différences subtiles en matière de sécurité. Le protocole SCP étant axé sur la simplification des transferts de fichiers, il ne propose pas les mêmes fonctionnalités de gestion et de visibilité que le protocole SFTP. De plus, SFTP permet aux utilisateurs de gérer efficacement les contrôles d'accès et les autorisations, ce qui permet aux organisations de définir des droits d'accès spécifiques pour différents utilisateurs ou groupes</a:t>
            </a:r>
            <a:r>
              <a:rPr lang="fr-FR" sz="1200" dirty="0" smtClean="0">
                <a:latin typeface="Times New Roman" pitchFamily="18" charset="0"/>
                <a:cs typeface="Times New Roman" pitchFamily="18" charset="0"/>
              </a:rPr>
              <a:t>.</a:t>
            </a:r>
          </a:p>
          <a:p>
            <a:pPr algn="ctr">
              <a:lnSpc>
                <a:spcPct val="170000"/>
              </a:lnSpc>
            </a:pPr>
            <a:endParaRPr lang="fr-FR" sz="1200" dirty="0">
              <a:latin typeface="Times New Roman" pitchFamily="18" charset="0"/>
              <a:cs typeface="Times New Roman" pitchFamily="18" charset="0"/>
            </a:endParaRPr>
          </a:p>
          <a:p>
            <a:pPr algn="ctr">
              <a:lnSpc>
                <a:spcPct val="170000"/>
              </a:lnSpc>
            </a:pPr>
            <a:r>
              <a:rPr lang="fr-FR" sz="1200" dirty="0">
                <a:latin typeface="Times New Roman" pitchFamily="18" charset="0"/>
                <a:cs typeface="Times New Roman" pitchFamily="18" charset="0"/>
              </a:rPr>
              <a:t>Grâce à sa fonction de reprise, SFTP réduit également les risques de vulnérabilité liés aux transferts interrompus. En définitive, les deux protocoles sont sécurisés ; les organisations doivent choisir en fonction de leurs besoins spécifiques en matière de sécurité et d’exploitation.</a:t>
            </a:r>
          </a:p>
          <a:p>
            <a:r>
              <a:rPr lang="fr-FR" sz="1200" dirty="0"/>
              <a:t> </a:t>
            </a:r>
          </a:p>
        </p:txBody>
      </p:sp>
      <p:sp>
        <p:nvSpPr>
          <p:cNvPr id="7" name="PlaceHolder 1"/>
          <p:cNvSpPr>
            <a:spLocks noGrp="1"/>
          </p:cNvSpPr>
          <p:nvPr>
            <p:ph type="title"/>
          </p:nvPr>
        </p:nvSpPr>
        <p:spPr>
          <a:xfrm>
            <a:off x="2286000" y="514350"/>
            <a:ext cx="4838400" cy="59055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200" b="1" dirty="0" err="1" smtClean="0">
                <a:solidFill>
                  <a:schemeClr val="dk1"/>
                </a:solidFill>
                <a:latin typeface="Sora"/>
              </a:rPr>
              <a:t>Comparaison</a:t>
            </a:r>
            <a:r>
              <a:rPr lang="en-US" sz="2200" b="1" dirty="0" smtClean="0">
                <a:solidFill>
                  <a:schemeClr val="dk1"/>
                </a:solidFill>
                <a:latin typeface="Sora"/>
              </a:rPr>
              <a:t> entre SCP et SFTP</a:t>
            </a:r>
            <a:r>
              <a:rPr lang="en-US" sz="2600" b="1" dirty="0" smtClean="0">
                <a:solidFill>
                  <a:schemeClr val="dk1"/>
                </a:solidFill>
                <a:latin typeface="Sora"/>
              </a:rPr>
              <a:t/>
            </a:r>
            <a:br>
              <a:rPr lang="en-US" sz="2600" b="1" dirty="0" smtClean="0">
                <a:solidFill>
                  <a:schemeClr val="dk1"/>
                </a:solidFill>
                <a:latin typeface="Sora"/>
              </a:rPr>
            </a:br>
            <a:endParaRPr lang="fr-FR" sz="2600" b="0" u="none" strike="noStrike" dirty="0">
              <a:solidFill>
                <a:schemeClr val="dk1"/>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ceHolder 1"/>
          <p:cNvSpPr txBox="1">
            <a:spLocks/>
          </p:cNvSpPr>
          <p:nvPr/>
        </p:nvSpPr>
        <p:spPr>
          <a:xfrm>
            <a:off x="478857" y="895350"/>
            <a:ext cx="8077200" cy="3200400"/>
          </a:xfrm>
          <a:prstGeom prst="rect">
            <a:avLst/>
          </a:prstGeom>
          <a:noFill/>
          <a:ln w="0">
            <a:noFill/>
          </a:ln>
        </p:spPr>
        <p:txBody>
          <a:bodyPr lIns="91440" tIns="91440" rIns="91440" bIns="91440" anchor="t">
            <a:normAutofit/>
          </a:bodyPr>
          <a:lstStyle/>
          <a:p>
            <a:pPr algn="ctr">
              <a:lnSpc>
                <a:spcPct val="150000"/>
              </a:lnSpc>
            </a:pPr>
            <a:r>
              <a:rPr lang="fr-FR" sz="1400" dirty="0" smtClean="0">
                <a:latin typeface="Times New Roman" pitchFamily="18" charset="0"/>
                <a:cs typeface="Times New Roman" pitchFamily="18" charset="0"/>
              </a:rPr>
              <a:t>En conclusion, </a:t>
            </a:r>
            <a:r>
              <a:rPr lang="fr-FR" sz="1400" b="1" dirty="0" smtClean="0">
                <a:latin typeface="Times New Roman" pitchFamily="18" charset="0"/>
                <a:cs typeface="Times New Roman" pitchFamily="18" charset="0"/>
              </a:rPr>
              <a:t>SCP</a:t>
            </a:r>
            <a:r>
              <a:rPr lang="fr-FR" sz="1400" dirty="0" smtClean="0">
                <a:latin typeface="Times New Roman" pitchFamily="18" charset="0"/>
                <a:cs typeface="Times New Roman" pitchFamily="18" charset="0"/>
              </a:rPr>
              <a:t> et </a:t>
            </a:r>
            <a:r>
              <a:rPr lang="fr-FR" sz="1400" b="1" dirty="0" smtClean="0">
                <a:latin typeface="Times New Roman" pitchFamily="18" charset="0"/>
                <a:cs typeface="Times New Roman" pitchFamily="18" charset="0"/>
              </a:rPr>
              <a:t>SFTP</a:t>
            </a:r>
            <a:r>
              <a:rPr lang="fr-FR" sz="1400" dirty="0" smtClean="0">
                <a:latin typeface="Times New Roman" pitchFamily="18" charset="0"/>
                <a:cs typeface="Times New Roman" pitchFamily="18" charset="0"/>
              </a:rPr>
              <a:t> sont deux protocoles sécurisés de transfert de fichiers basés sur SSH. Ils partagent plusieurs points communs, comme l'utilisation du port 22 et le chiffrement des données, mais se distinguent par leurs fonctionnalités. SCP est simple et rapide, idéal pour des transferts ponctuels. SFTP, plus complet, permet la gestion avancée des fichiers et offre une sécurité renforcée, ce qui le rend mieux adapté aux environnements professionnels. Le choix dépend donc des besoins : utiliser </a:t>
            </a:r>
            <a:r>
              <a:rPr lang="fr-FR" sz="1400" b="1" dirty="0" smtClean="0">
                <a:latin typeface="Times New Roman" pitchFamily="18" charset="0"/>
                <a:cs typeface="Times New Roman" pitchFamily="18" charset="0"/>
              </a:rPr>
              <a:t>SCP</a:t>
            </a:r>
            <a:r>
              <a:rPr lang="fr-FR" sz="1400" dirty="0" smtClean="0">
                <a:latin typeface="Times New Roman" pitchFamily="18" charset="0"/>
                <a:cs typeface="Times New Roman" pitchFamily="18" charset="0"/>
              </a:rPr>
              <a:t> pour des copies rapides et directes, ou </a:t>
            </a:r>
            <a:r>
              <a:rPr lang="fr-FR" sz="1400" b="1" dirty="0" smtClean="0">
                <a:latin typeface="Times New Roman" pitchFamily="18" charset="0"/>
                <a:cs typeface="Times New Roman" pitchFamily="18" charset="0"/>
              </a:rPr>
              <a:t>SFTP</a:t>
            </a:r>
            <a:r>
              <a:rPr lang="fr-FR" sz="1400" dirty="0" smtClean="0">
                <a:latin typeface="Times New Roman" pitchFamily="18" charset="0"/>
                <a:cs typeface="Times New Roman" pitchFamily="18" charset="0"/>
              </a:rPr>
              <a:t> pour une gestion continue et sécurisée des fichiers.</a:t>
            </a:r>
            <a:endParaRPr lang="fr-FR" sz="1400" dirty="0">
              <a:latin typeface="Times New Roman" pitchFamily="18" charset="0"/>
              <a:cs typeface="Times New Roman" pitchFamily="18" charset="0"/>
            </a:endParaRPr>
          </a:p>
        </p:txBody>
      </p:sp>
      <p:sp>
        <p:nvSpPr>
          <p:cNvPr id="5" name="PlaceHolder 1"/>
          <p:cNvSpPr>
            <a:spLocks noGrp="1"/>
          </p:cNvSpPr>
          <p:nvPr>
            <p:ph type="title"/>
          </p:nvPr>
        </p:nvSpPr>
        <p:spPr>
          <a:xfrm>
            <a:off x="2057400" y="285750"/>
            <a:ext cx="4838400" cy="59055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2400" b="1" dirty="0" smtClean="0">
                <a:solidFill>
                  <a:schemeClr val="dk1"/>
                </a:solidFill>
                <a:latin typeface="Sora"/>
              </a:rPr>
              <a:t>Conclusion</a:t>
            </a:r>
            <a:br>
              <a:rPr lang="en-US" sz="2400" b="1" dirty="0" smtClean="0">
                <a:solidFill>
                  <a:schemeClr val="dk1"/>
                </a:solidFill>
                <a:latin typeface="Sora"/>
              </a:rPr>
            </a:br>
            <a:endParaRPr lang="fr-FR" sz="2400" b="0" u="none" strike="noStrike" dirty="0">
              <a:solidFill>
                <a:schemeClr val="dk1"/>
              </a:solidFill>
              <a:effectLst/>
              <a:uFillTx/>
              <a:latin typeface="Arial"/>
            </a:endParaRPr>
          </a:p>
        </p:txBody>
      </p:sp>
    </p:spTree>
    <p:extLst>
      <p:ext uri="{BB962C8B-B14F-4D97-AF65-F5344CB8AC3E}">
        <p14:creationId xmlns:p14="http://schemas.microsoft.com/office/powerpoint/2010/main" val="399084219"/>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1"/>
          <p:cNvSpPr txBox="1">
            <a:spLocks/>
          </p:cNvSpPr>
          <p:nvPr/>
        </p:nvSpPr>
        <p:spPr>
          <a:xfrm>
            <a:off x="222985" y="1200151"/>
            <a:ext cx="8077200" cy="3048000"/>
          </a:xfrm>
          <a:prstGeom prst="rect">
            <a:avLst/>
          </a:prstGeom>
          <a:noFill/>
          <a:ln w="0">
            <a:noFill/>
          </a:ln>
        </p:spPr>
        <p:txBody>
          <a:bodyPr lIns="91440" tIns="91440" rIns="91440" bIns="91440" anchor="t">
            <a:normAutofit/>
          </a:bodyPr>
          <a:lstStyle/>
          <a:p>
            <a:pPr algn="ctr"/>
            <a:endParaRPr lang="fr-FR" sz="1600" dirty="0" smtClean="0">
              <a:hlinkClick r:id="rId2"/>
            </a:endParaRPr>
          </a:p>
          <a:p>
            <a:pPr algn="ctr"/>
            <a:r>
              <a:rPr lang="fr-FR" sz="1600" dirty="0" smtClean="0">
                <a:hlinkClick r:id="rId2"/>
              </a:rPr>
              <a:t>https://bluefinch-esbd.com/fr/scp-vs-sftp/</a:t>
            </a:r>
            <a:endParaRPr lang="fr-FR" sz="1600" dirty="0" smtClean="0"/>
          </a:p>
          <a:p>
            <a:pPr algn="ctr"/>
            <a:r>
              <a:rPr lang="fr-FR" sz="1600" dirty="0" smtClean="0">
                <a:hlinkClick r:id="rId3"/>
              </a:rPr>
              <a:t>https://www.solarwinds.com/resources/it-glossary/scp-vs-sftp</a:t>
            </a:r>
            <a:endParaRPr lang="fr-FR" sz="1600" dirty="0" smtClean="0"/>
          </a:p>
          <a:p>
            <a:pPr algn="ctr"/>
            <a:r>
              <a:rPr lang="fr-FR" sz="1600" dirty="0" smtClean="0">
                <a:hlinkClick r:id="rId4"/>
              </a:rPr>
              <a:t>https://en.wikipedia.org/wiki/SCP_Foundation#Media_inspired_by_the_SCP_Foundation</a:t>
            </a:r>
            <a:endParaRPr lang="fr-FR" sz="1600" dirty="0" smtClean="0"/>
          </a:p>
          <a:p>
            <a:pPr algn="ctr"/>
            <a:r>
              <a:rPr lang="fr-FR" sz="1600" dirty="0" smtClean="0">
                <a:hlinkClick r:id="rId5"/>
              </a:rPr>
              <a:t>https://en.wikipedia.org/wiki/SSH_File_Transfer_Protocol</a:t>
            </a:r>
            <a:endParaRPr lang="fr-FR" sz="1600" dirty="0" smtClean="0"/>
          </a:p>
          <a:p>
            <a:pPr algn="ctr"/>
            <a:r>
              <a:rPr lang="fr-FR" sz="1600" dirty="0" smtClean="0">
                <a:hlinkClick r:id="rId6"/>
              </a:rPr>
              <a:t>https://aws.amazon.com/fr/what-is/sftp/</a:t>
            </a:r>
            <a:endParaRPr lang="fr-FR" sz="1600" dirty="0" smtClean="0"/>
          </a:p>
          <a:p>
            <a:pPr algn="ctr"/>
            <a:endParaRPr lang="fr-FR" sz="1600" dirty="0" smtClean="0"/>
          </a:p>
          <a:p>
            <a:endParaRPr lang="fr-FR" sz="1600" dirty="0"/>
          </a:p>
        </p:txBody>
      </p:sp>
      <p:sp>
        <p:nvSpPr>
          <p:cNvPr id="5" name="PlaceHolder 1"/>
          <p:cNvSpPr>
            <a:spLocks noGrp="1"/>
          </p:cNvSpPr>
          <p:nvPr>
            <p:ph type="title"/>
          </p:nvPr>
        </p:nvSpPr>
        <p:spPr>
          <a:xfrm>
            <a:off x="2057400" y="285750"/>
            <a:ext cx="4838400" cy="59055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2400" b="1" dirty="0" smtClean="0">
                <a:solidFill>
                  <a:schemeClr val="dk1"/>
                </a:solidFill>
                <a:latin typeface="Sora"/>
              </a:rPr>
              <a:t>References</a:t>
            </a:r>
            <a:br>
              <a:rPr lang="en-US" sz="2400" b="1" dirty="0" smtClean="0">
                <a:solidFill>
                  <a:schemeClr val="dk1"/>
                </a:solidFill>
                <a:latin typeface="Sora"/>
              </a:rPr>
            </a:br>
            <a:endParaRPr lang="fr-FR" sz="2400" b="0" u="none" strike="noStrike" dirty="0">
              <a:solidFill>
                <a:schemeClr val="dk1"/>
              </a:solidFill>
              <a:effectLst/>
              <a:uFillTx/>
              <a:latin typeface="Arial"/>
            </a:endParaRPr>
          </a:p>
        </p:txBody>
      </p:sp>
    </p:spTree>
    <p:extLst>
      <p:ext uri="{BB962C8B-B14F-4D97-AF65-F5344CB8AC3E}">
        <p14:creationId xmlns:p14="http://schemas.microsoft.com/office/powerpoint/2010/main" val="184200705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theme/theme1.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372</TotalTime>
  <Words>1147</Words>
  <Application>Microsoft Office PowerPoint</Application>
  <PresentationFormat>On-screen Show (16:9)</PresentationFormat>
  <Paragraphs>76</Paragraphs>
  <Slides>14</Slides>
  <Notes>0</Notes>
  <HiddenSlides>0</HiddenSlides>
  <MMClips>0</MMClips>
  <ScaleCrop>false</ScaleCrop>
  <HeadingPairs>
    <vt:vector size="4" baseType="variant">
      <vt:variant>
        <vt:lpstr>Theme</vt:lpstr>
      </vt:variant>
      <vt:variant>
        <vt:i4>2</vt:i4>
      </vt:variant>
      <vt:variant>
        <vt:lpstr>Slide Titles</vt:lpstr>
      </vt:variant>
      <vt:variant>
        <vt:i4>14</vt:i4>
      </vt:variant>
    </vt:vector>
  </HeadingPairs>
  <TitlesOfParts>
    <vt:vector size="16" baseType="lpstr">
      <vt:lpstr>Tech Startup by Slidesgo</vt:lpstr>
      <vt:lpstr>Slidesgo Final Pages</vt:lpstr>
      <vt:lpstr>PowerPoint Presentation</vt:lpstr>
      <vt:lpstr>Introduction</vt:lpstr>
      <vt:lpstr>Introduction</vt:lpstr>
      <vt:lpstr>PowerPoint Presentation</vt:lpstr>
      <vt:lpstr>PowerPoint Presentation</vt:lpstr>
      <vt:lpstr>PowerPoint Presentation</vt:lpstr>
      <vt:lpstr>Fonctionnement</vt:lpstr>
      <vt:lpstr>Cas d’utilisation </vt:lpstr>
      <vt:lpstr>Avantages et Inconvenients</vt:lpstr>
      <vt:lpstr>Avantages et Inconvenients </vt:lpstr>
      <vt:lpstr>PowerPoint Presentation</vt:lpstr>
      <vt:lpstr>Comparaison entre SCP et SFTP </vt:lpstr>
      <vt:lpstr>Conclusion </vt:lpstr>
      <vt:lpstr>References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SCP &amp; SFTP</dc:title>
  <dc:creator>Gabard</dc:creator>
  <cp:lastModifiedBy>NOEL</cp:lastModifiedBy>
  <cp:revision>16</cp:revision>
  <dcterms:modified xsi:type="dcterms:W3CDTF">2026-03-31T00:17:20Z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2026-03-30T18:03:09Z</dcterms:created>
  <dc:creator>Unknown Creator</dc:creator>
  <dc:description/>
  <dc:language>en-US</dc:language>
  <cp:lastModifiedBy>Unknown Creator</cp:lastModifiedBy>
  <dcterms:modified xsi:type="dcterms:W3CDTF">2026-03-30T18:03:09Z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