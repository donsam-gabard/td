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4" r:id="rId8"/>
    <p:sldId id="265" r:id="rId9"/>
    <p:sldId id="269" r:id="rId10"/>
    <p:sldId id="270"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9" autoAdjust="0"/>
    <p:restoredTop sz="94660"/>
  </p:normalViewPr>
  <p:slideViewPr>
    <p:cSldViewPr>
      <p:cViewPr>
        <p:scale>
          <a:sx n="102" d="100"/>
          <a:sy n="102" d="100"/>
        </p:scale>
        <p:origin x="-480" y="-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228600" y="428400"/>
            <a:ext cx="6222600" cy="98496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p>
            <a:pPr indent="0">
              <a:buNone/>
            </a:pPr>
            <a:r>
              <a:rPr lang="fr-FR" sz="4700" b="0" u="none" strike="noStrike">
                <a:solidFill>
                  <a:schemeClr val="dk1"/>
                </a:solidFill>
                <a:effectLst/>
                <a:uFillTx/>
                <a:latin typeface="Arial"/>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4" name="Google Shape;69;p14"/>
          <p:cNvPicPr/>
          <p:nvPr/>
        </p:nvPicPr>
        <p:blipFill>
          <a:blip r:embed="rId2"/>
          <a:stretch/>
        </p:blipFill>
        <p:spPr>
          <a:xfrm rot="10800000" flipH="1">
            <a:off x="0" y="0"/>
            <a:ext cx="9143640" cy="5142960"/>
          </a:xfrm>
          <a:prstGeom prst="rect">
            <a:avLst/>
          </a:prstGeom>
          <a:noFill/>
          <a:ln w="0">
            <a:noFill/>
          </a:ln>
        </p:spPr>
      </p:pic>
      <p:sp>
        <p:nvSpPr>
          <p:cNvPr id="5" name="PlaceHolder 1"/>
          <p:cNvSpPr>
            <a:spLocks noGrp="1"/>
          </p:cNvSpPr>
          <p:nvPr>
            <p:ph type="title"/>
          </p:nvPr>
        </p:nvSpPr>
        <p:spPr>
          <a:xfrm>
            <a:off x="228600" y="228600"/>
            <a:ext cx="8475120" cy="13111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7" name="Google Shape;73;p15"/>
          <p:cNvPicPr/>
          <p:nvPr/>
        </p:nvPicPr>
        <p:blipFill>
          <a:blip r:embed="rId2"/>
          <a:stretch/>
        </p:blipFill>
        <p:spPr>
          <a:xfrm rot="10800000">
            <a:off x="360" y="0"/>
            <a:ext cx="9143640" cy="5142960"/>
          </a:xfrm>
          <a:prstGeom prst="rect">
            <a:avLst/>
          </a:prstGeom>
          <a:noFill/>
          <a:ln w="0">
            <a:noFill/>
          </a:ln>
        </p:spPr>
      </p:pic>
      <p:sp>
        <p:nvSpPr>
          <p:cNvPr id="8" name="PlaceHolder 1"/>
          <p:cNvSpPr>
            <a:spLocks noGrp="1"/>
          </p:cNvSpPr>
          <p:nvPr>
            <p:ph type="title"/>
          </p:nvPr>
        </p:nvSpPr>
        <p:spPr>
          <a:xfrm>
            <a:off x="228600" y="228600"/>
            <a:ext cx="4835520" cy="17413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9" name="PlaceHolder 2"/>
          <p:cNvSpPr>
            <a:spLocks noGrp="1"/>
          </p:cNvSpPr>
          <p:nvPr>
            <p:ph type="body"/>
          </p:nvPr>
        </p:nvSpPr>
        <p:spPr>
          <a:xfrm>
            <a:off x="228600" y="1969920"/>
            <a:ext cx="4835520" cy="24422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0" name="PlaceHolder 3"/>
          <p:cNvSpPr>
            <a:spLocks noGrp="1"/>
          </p:cNvSpPr>
          <p:nvPr>
            <p:ph type="body"/>
          </p:nvPr>
        </p:nvSpPr>
        <p:spPr>
          <a:xfrm>
            <a:off x="5217480" y="228600"/>
            <a:ext cx="392652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11" name="Google Shape;111;p20"/>
          <p:cNvPicPr/>
          <p:nvPr/>
        </p:nvPicPr>
        <p:blipFill>
          <a:blip r:embed="rId2"/>
          <a:stretch/>
        </p:blipFill>
        <p:spPr>
          <a:xfrm rot="10800000">
            <a:off x="360" y="0"/>
            <a:ext cx="9143640" cy="5142960"/>
          </a:xfrm>
          <a:prstGeom prst="rect">
            <a:avLst/>
          </a:prstGeom>
          <a:noFill/>
          <a:ln w="0">
            <a:noFill/>
          </a:ln>
        </p:spPr>
      </p:pic>
      <p:sp>
        <p:nvSpPr>
          <p:cNvPr id="12" name="Google Shape;112;p20"/>
          <p:cNvSpPr/>
          <p:nvPr/>
        </p:nvSpPr>
        <p:spPr>
          <a:xfrm>
            <a:off x="228600" y="3283560"/>
            <a:ext cx="494532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US" sz="1000" b="0" u="none" strike="noStrike">
              <a:solidFill>
                <a:srgbClr val="000000"/>
              </a:solidFill>
              <a:effectLst/>
              <a:uFillTx/>
              <a:latin typeface="OpenSymbol"/>
            </a:endParaRPr>
          </a:p>
        </p:txBody>
      </p:sp>
      <p:sp>
        <p:nvSpPr>
          <p:cNvPr id="13" name="PlaceHolder 1"/>
          <p:cNvSpPr>
            <a:spLocks noGrp="1"/>
          </p:cNvSpPr>
          <p:nvPr>
            <p:ph type="title"/>
          </p:nvPr>
        </p:nvSpPr>
        <p:spPr>
          <a:xfrm>
            <a:off x="228600" y="228600"/>
            <a:ext cx="6562080" cy="98496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1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5" name="PlaceHolder 2"/>
          <p:cNvSpPr>
            <a:spLocks noGrp="1"/>
          </p:cNvSpPr>
          <p:nvPr>
            <p:ph type="title"/>
          </p:nvPr>
        </p:nvSpPr>
        <p:spPr>
          <a:xfrm>
            <a:off x="1248840" y="380880"/>
            <a:ext cx="5471640" cy="79992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16" name="PlaceHolder 3"/>
          <p:cNvSpPr>
            <a:spLocks noGrp="1"/>
          </p:cNvSpPr>
          <p:nvPr>
            <p:ph type="title"/>
          </p:nvPr>
        </p:nvSpPr>
        <p:spPr>
          <a:xfrm>
            <a:off x="228600" y="421920"/>
            <a:ext cx="1019880" cy="718200"/>
          </a:xfrm>
          <a:prstGeom prst="rect">
            <a:avLst/>
          </a:prstGeom>
          <a:noFill/>
          <a:ln w="0">
            <a:noFill/>
          </a:ln>
        </p:spPr>
        <p:txBody>
          <a:bodyPr lIns="91440" tIns="91440" rIns="91440" bIns="91440" anchor="ctr">
            <a:noAutofit/>
          </a:bodyPr>
          <a:lstStyle/>
          <a:p>
            <a:pPr indent="0" algn="ctr">
              <a:lnSpc>
                <a:spcPct val="100000"/>
              </a:lnSpc>
              <a:buNone/>
            </a:pPr>
            <a:r>
              <a:rPr lang="fr-FR" sz="4400" b="1" u="none" strike="noStrike">
                <a:solidFill>
                  <a:schemeClr val="dk1"/>
                </a:solidFill>
                <a:effectLst/>
                <a:uFillTx/>
                <a:latin typeface="Sora"/>
                <a:ea typeface="Sora"/>
              </a:rPr>
              <a:t>xx%</a:t>
            </a:r>
            <a:endParaRPr lang="fr-FR" sz="4400" b="0" u="none" strike="noStrike">
              <a:solidFill>
                <a:schemeClr val="dk1"/>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17" name="Google Shape;17;p4"/>
          <p:cNvPicPr/>
          <p:nvPr/>
        </p:nvPicPr>
        <p:blipFill>
          <a:blip r:embed="rId2"/>
          <a:stretch/>
        </p:blipFill>
        <p:spPr>
          <a:xfrm>
            <a:off x="0" y="0"/>
            <a:ext cx="9143640" cy="5142960"/>
          </a:xfrm>
          <a:prstGeom prst="rect">
            <a:avLst/>
          </a:prstGeom>
          <a:noFill/>
          <a:ln w="0">
            <a:noFill/>
          </a:ln>
        </p:spPr>
      </p:pic>
      <p:sp>
        <p:nvSpPr>
          <p:cNvPr id="1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228600" y="3999600"/>
            <a:ext cx="2020320" cy="7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oogle Shape;134;p27"/>
          <p:cNvPicPr/>
          <p:nvPr/>
        </p:nvPicPr>
        <p:blipFill>
          <a:blip r:embed="rId2"/>
          <a:stretch/>
        </p:blipFill>
        <p:spPr>
          <a:xfrm flipH="1">
            <a:off x="360" y="0"/>
            <a:ext cx="9143640" cy="5142960"/>
          </a:xfrm>
          <a:prstGeom prst="rect">
            <a:avLst/>
          </a:prstGeom>
          <a:noFill/>
          <a:ln w="0">
            <a:noFill/>
          </a:ln>
        </p:spPr>
      </p:pic>
      <p:sp>
        <p:nvSpPr>
          <p:cNvPr id="27" name="PlaceHolder 1"/>
          <p:cNvSpPr>
            <a:spLocks noGrp="1"/>
          </p:cNvSpPr>
          <p:nvPr>
            <p:ph type="title"/>
          </p:nvPr>
        </p:nvSpPr>
        <p:spPr>
          <a:xfrm>
            <a:off x="228600" y="1276350"/>
            <a:ext cx="6219360" cy="98064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rmAutofit fontScale="90000"/>
          </a:bodyPr>
          <a:lstStyle/>
          <a:p>
            <a:pPr indent="0">
              <a:lnSpc>
                <a:spcPct val="100000"/>
              </a:lnSpc>
              <a:buNone/>
              <a:tabLst>
                <a:tab pos="0" algn="l"/>
              </a:tabLst>
            </a:pPr>
            <a:r>
              <a:rPr lang="en-US" sz="4700" b="1" u="none" strike="noStrike" dirty="0">
                <a:solidFill>
                  <a:schemeClr val="accent1"/>
                </a:solidFill>
                <a:effectLst/>
                <a:uFillTx/>
                <a:latin typeface="Sora"/>
                <a:ea typeface="Sora"/>
              </a:rPr>
              <a:t>IP </a:t>
            </a:r>
            <a:r>
              <a:rPr lang="en-US" sz="4700" b="1" u="none" strike="noStrike" dirty="0" smtClean="0">
                <a:solidFill>
                  <a:schemeClr val="accent1"/>
                </a:solidFill>
                <a:effectLst/>
                <a:uFillTx/>
                <a:latin typeface="Sora"/>
                <a:ea typeface="Sora"/>
              </a:rPr>
              <a:t>PBX &amp; SIP SERVER</a:t>
            </a:r>
            <a:endParaRPr lang="fr-FR" sz="4700" b="0" u="none" strike="noStrike" dirty="0">
              <a:solidFill>
                <a:schemeClr val="accent1"/>
              </a:solidFill>
              <a:effectLst/>
              <a:uFillTx/>
              <a:latin typeface="Arial"/>
            </a:endParaRPr>
          </a:p>
        </p:txBody>
      </p:sp>
      <p:sp>
        <p:nvSpPr>
          <p:cNvPr id="28" name="PlaceHolder 2"/>
          <p:cNvSpPr>
            <a:spLocks noGrp="1"/>
          </p:cNvSpPr>
          <p:nvPr>
            <p:ph type="subTitle"/>
          </p:nvPr>
        </p:nvSpPr>
        <p:spPr>
          <a:xfrm>
            <a:off x="304800" y="3714750"/>
            <a:ext cx="3124080" cy="98064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fr-FR" b="1" u="none" strike="noStrike" dirty="0" smtClean="0">
                <a:solidFill>
                  <a:schemeClr val="accent1"/>
                </a:solidFill>
                <a:effectLst/>
                <a:uFillTx/>
                <a:latin typeface="Sora"/>
              </a:rPr>
              <a:t>Préparé par : </a:t>
            </a:r>
            <a:r>
              <a:rPr lang="en-US" b="1" u="none" strike="noStrike" dirty="0" err="1" smtClean="0">
                <a:solidFill>
                  <a:schemeClr val="accent1"/>
                </a:solidFill>
                <a:effectLst/>
                <a:uFillTx/>
                <a:latin typeface="Sora"/>
              </a:rPr>
              <a:t>Donsam</a:t>
            </a:r>
            <a:r>
              <a:rPr lang="en-US" b="1" u="none" strike="noStrike" dirty="0" smtClean="0">
                <a:solidFill>
                  <a:schemeClr val="accent1"/>
                </a:solidFill>
                <a:effectLst/>
                <a:uFillTx/>
                <a:latin typeface="Sora"/>
              </a:rPr>
              <a:t> </a:t>
            </a:r>
            <a:r>
              <a:rPr lang="en-US" b="1" u="none" strike="noStrike" dirty="0" err="1" smtClean="0">
                <a:solidFill>
                  <a:schemeClr val="accent1"/>
                </a:solidFill>
                <a:effectLst/>
                <a:uFillTx/>
                <a:latin typeface="Sora"/>
              </a:rPr>
              <a:t>Jn</a:t>
            </a:r>
            <a:r>
              <a:rPr lang="en-US" b="1" u="none" strike="noStrike" dirty="0" smtClean="0">
                <a:solidFill>
                  <a:schemeClr val="accent1"/>
                </a:solidFill>
                <a:effectLst/>
                <a:uFillTx/>
                <a:latin typeface="Sora"/>
              </a:rPr>
              <a:t> </a:t>
            </a:r>
            <a:r>
              <a:rPr lang="en-US" b="1" u="none" strike="noStrike" dirty="0" err="1" smtClean="0">
                <a:solidFill>
                  <a:schemeClr val="accent1"/>
                </a:solidFill>
                <a:effectLst/>
                <a:uFillTx/>
                <a:latin typeface="Sora"/>
              </a:rPr>
              <a:t>Gabard</a:t>
            </a:r>
            <a:r>
              <a:rPr lang="en-US" b="1" u="none" strike="noStrike" dirty="0" smtClean="0">
                <a:solidFill>
                  <a:schemeClr val="accent1"/>
                </a:solidFill>
                <a:effectLst/>
                <a:uFillTx/>
                <a:latin typeface="Sora"/>
              </a:rPr>
              <a:t> NOEL</a:t>
            </a:r>
            <a:endParaRPr lang="en-US" b="1" u="none" strike="noStrike" dirty="0">
              <a:solidFill>
                <a:schemeClr val="accent1"/>
              </a:solidFill>
              <a:effectLst/>
              <a:uFillTx/>
              <a:latin typeface="Sor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174;p30" title="freepik__adjust__92215.jpeg"/>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0" name="PlaceHolder 1"/>
          <p:cNvSpPr>
            <a:spLocks noGrp="1"/>
          </p:cNvSpPr>
          <p:nvPr>
            <p:ph type="title"/>
          </p:nvPr>
        </p:nvSpPr>
        <p:spPr>
          <a:xfrm>
            <a:off x="228600" y="228600"/>
            <a:ext cx="4838400" cy="66675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a:solidFill>
                  <a:schemeClr val="dk1"/>
                </a:solidFill>
                <a:effectLst/>
                <a:uFillTx/>
                <a:latin typeface="Sora"/>
                <a:ea typeface="Sora"/>
              </a:rPr>
              <a:t>Introduction</a:t>
            </a:r>
            <a:endParaRPr lang="fr-FR" sz="2600" b="0" u="none" strike="noStrike" dirty="0">
              <a:solidFill>
                <a:schemeClr val="dk1"/>
              </a:solidFill>
              <a:effectLst/>
              <a:uFillTx/>
              <a:latin typeface="Arial"/>
            </a:endParaRPr>
          </a:p>
        </p:txBody>
      </p:sp>
      <p:sp>
        <p:nvSpPr>
          <p:cNvPr id="31" name="PlaceHolder 2"/>
          <p:cNvSpPr>
            <a:spLocks noGrp="1"/>
          </p:cNvSpPr>
          <p:nvPr>
            <p:ph/>
          </p:nvPr>
        </p:nvSpPr>
        <p:spPr>
          <a:xfrm>
            <a:off x="152400" y="1123950"/>
            <a:ext cx="4838400" cy="2437920"/>
          </a:xfrm>
          <a:prstGeom prst="rect">
            <a:avLst/>
          </a:prstGeom>
          <a:noFill/>
          <a:ln w="0">
            <a:noFill/>
          </a:ln>
        </p:spPr>
        <p:txBody>
          <a:bodyPr lIns="91440" tIns="91440" rIns="91440" bIns="91440" anchor="b">
            <a:normAutofit/>
          </a:bodyPr>
          <a:lstStyle/>
          <a:p>
            <a:pPr indent="0">
              <a:lnSpc>
                <a:spcPct val="150000"/>
              </a:lnSpc>
              <a:buNone/>
              <a:tabLst>
                <a:tab pos="0" algn="l"/>
              </a:tabLst>
            </a:pPr>
            <a:r>
              <a:rPr lang="fr-FR" sz="1400" dirty="0" smtClean="0"/>
              <a:t>Aujourd’hui, les entreprises remplacent les systèmes téléphoniques traditionnels (coûteux et rigides) par des solutions IP. </a:t>
            </a:r>
            <a:r>
              <a:rPr lang="fr-FR" sz="1400" b="1" dirty="0" smtClean="0"/>
              <a:t>L’IP PBX</a:t>
            </a:r>
            <a:r>
              <a:rPr lang="fr-FR" sz="1400" dirty="0" smtClean="0"/>
              <a:t> est un standard téléphonique qui utilise Internet, tandis que le </a:t>
            </a:r>
            <a:r>
              <a:rPr lang="fr-FR" sz="1400" b="1" dirty="0" smtClean="0"/>
              <a:t>SIP Server</a:t>
            </a:r>
            <a:r>
              <a:rPr lang="fr-FR" sz="1400" dirty="0" smtClean="0"/>
              <a:t> est le protocole qui permet de connecter les appels. Ensemble, ils offrent une communication flexible, économique et riche en fonctionnalités.</a:t>
            </a:r>
            <a:endParaRPr lang="fr-FR" sz="140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Google Shape;181;p31"/>
          <p:cNvPicPr/>
          <p:nvPr/>
        </p:nvPicPr>
        <p:blipFill>
          <a:blip r:embed="rId2"/>
          <a:stretch/>
        </p:blipFill>
        <p:spPr>
          <a:xfrm>
            <a:off x="0" y="0"/>
            <a:ext cx="9143640" cy="5142960"/>
          </a:xfrm>
          <a:prstGeom prst="rect">
            <a:avLst/>
          </a:prstGeom>
          <a:noFill/>
          <a:ln w="0">
            <a:noFill/>
          </a:ln>
        </p:spPr>
      </p:pic>
      <p:sp>
        <p:nvSpPr>
          <p:cNvPr id="36" name="PlaceHolder 1"/>
          <p:cNvSpPr>
            <a:spLocks noGrp="1"/>
          </p:cNvSpPr>
          <p:nvPr>
            <p:ph type="title"/>
          </p:nvPr>
        </p:nvSpPr>
        <p:spPr>
          <a:xfrm>
            <a:off x="1247760" y="380880"/>
            <a:ext cx="5466960" cy="79992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4000" b="1" u="none" strike="noStrike" dirty="0">
                <a:solidFill>
                  <a:schemeClr val="dk1"/>
                </a:solidFill>
                <a:effectLst/>
                <a:uFillTx/>
                <a:latin typeface="Sora"/>
                <a:ea typeface="Sora"/>
              </a:rPr>
              <a:t>IP PBX</a:t>
            </a:r>
            <a:endParaRPr lang="fr-FR" sz="4000" b="0" u="none" strike="noStrike" dirty="0">
              <a:solidFill>
                <a:schemeClr val="dk1"/>
              </a:solidFill>
              <a:effectLst/>
              <a:uFillTx/>
              <a:latin typeface="Arial"/>
            </a:endParaRPr>
          </a:p>
        </p:txBody>
      </p:sp>
      <p:sp>
        <p:nvSpPr>
          <p:cNvPr id="37" name="PlaceHolder 2"/>
          <p:cNvSpPr>
            <a:spLocks noGrp="1"/>
          </p:cNvSpPr>
          <p:nvPr>
            <p:ph type="title"/>
          </p:nvPr>
        </p:nvSpPr>
        <p:spPr>
          <a:xfrm>
            <a:off x="228600" y="-1326600"/>
            <a:ext cx="1018800" cy="4205160"/>
          </a:xfrm>
          <a:prstGeom prst="rect">
            <a:avLst/>
          </a:prstGeom>
          <a:noFill/>
          <a:ln w="0">
            <a:noFill/>
          </a:ln>
        </p:spPr>
        <p:txBody>
          <a:bodyPr lIns="91440" tIns="91440" rIns="91440" bIns="91440" anchor="ctr">
            <a:spAutoFit/>
          </a:bodyPr>
          <a:lstStyle/>
          <a:p>
            <a:pPr indent="0" algn="ctr">
              <a:lnSpc>
                <a:spcPct val="100000"/>
              </a:lnSpc>
              <a:buNone/>
              <a:tabLst>
                <a:tab pos="0" algn="l"/>
              </a:tabLst>
            </a:pPr>
            <a:r>
              <a:rPr lang="en-US" sz="4400" b="0" u="none" strike="noStrike">
                <a:solidFill>
                  <a:schemeClr val="dk1"/>
                </a:solidFill>
                <a:effectLst/>
                <a:uFillTx/>
                <a:latin typeface="Public Sans"/>
                <a:ea typeface="Sora"/>
              </a:rPr>
              <a:t>01</a:t>
            </a:r>
            <a:endParaRPr lang="fr-FR" sz="4400" b="0" u="none" strike="noStrike">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image69ef91e830921" descr="image69ef91e830927"/>
          <p:cNvSpPr/>
          <p:nvPr/>
        </p:nvSpPr>
        <p:spPr>
          <a:xfrm>
            <a:off x="4800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5" name="PlaceHolder 1"/>
          <p:cNvSpPr>
            <a:spLocks noGrp="1"/>
          </p:cNvSpPr>
          <p:nvPr>
            <p:ph type="title"/>
          </p:nvPr>
        </p:nvSpPr>
        <p:spPr>
          <a:xfrm>
            <a:off x="228600" y="228600"/>
            <a:ext cx="4838400" cy="66675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800" b="1" dirty="0" err="1" smtClean="0"/>
              <a:t>Qu’est-ce</a:t>
            </a:r>
            <a:r>
              <a:rPr lang="en-US" sz="2800" b="1" dirty="0" smtClean="0"/>
              <a:t> </a:t>
            </a:r>
            <a:r>
              <a:rPr lang="en-US" sz="2800" b="1" dirty="0" err="1" smtClean="0"/>
              <a:t>qu’un</a:t>
            </a:r>
            <a:r>
              <a:rPr lang="en-US" sz="2800" b="1" dirty="0" smtClean="0"/>
              <a:t> IP PBX ?</a:t>
            </a:r>
            <a:endParaRPr lang="fr-FR" sz="2600" b="0" u="none" strike="noStrike" dirty="0">
              <a:solidFill>
                <a:schemeClr val="dk1"/>
              </a:solidFill>
              <a:effectLst/>
              <a:uFillTx/>
              <a:latin typeface="Arial"/>
            </a:endParaRPr>
          </a:p>
        </p:txBody>
      </p:sp>
      <p:sp>
        <p:nvSpPr>
          <p:cNvPr id="6" name="PlaceHolder 2"/>
          <p:cNvSpPr txBox="1">
            <a:spLocks/>
          </p:cNvSpPr>
          <p:nvPr/>
        </p:nvSpPr>
        <p:spPr>
          <a:xfrm>
            <a:off x="152400" y="1200150"/>
            <a:ext cx="4838400" cy="1980720"/>
          </a:xfrm>
          <a:prstGeom prst="rect">
            <a:avLst/>
          </a:prstGeom>
          <a:noFill/>
          <a:ln w="0">
            <a:noFill/>
          </a:ln>
        </p:spPr>
        <p:txBody>
          <a:bodyPr lIns="91440" tIns="91440" rIns="91440" bIns="91440" anchor="b">
            <a:normAutofit/>
          </a:bodyPr>
          <a:lstStyle/>
          <a:p>
            <a:pPr>
              <a:lnSpc>
                <a:spcPct val="150000"/>
              </a:lnSpc>
              <a:tabLst>
                <a:tab pos="0" algn="l"/>
              </a:tabLst>
            </a:pPr>
            <a:r>
              <a:rPr lang="fr-FR" sz="1400" dirty="0" smtClean="0"/>
              <a:t>Un IP PBX est un système téléphonique qui utilise le réseau IP pour acheminer les appels. Contrairement aux PBX traditionnels (qui utilisent des lignes téléphoniques analogiques), il permet de gérer les appels via Internet, offrant plus de flexibilité et de fonctionnalités.</a:t>
            </a:r>
          </a:p>
          <a:p>
            <a:pPr>
              <a:lnSpc>
                <a:spcPct val="150000"/>
              </a:lnSpc>
              <a:tabLst>
                <a:tab pos="0" algn="l"/>
              </a:tabLst>
            </a:pPr>
            <a:endParaRPr lang="fr-FR" sz="1400"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laceHolder 2"/>
          <p:cNvSpPr txBox="1">
            <a:spLocks/>
          </p:cNvSpPr>
          <p:nvPr/>
        </p:nvSpPr>
        <p:spPr>
          <a:xfrm>
            <a:off x="5105400" y="133350"/>
            <a:ext cx="3810000" cy="2743200"/>
          </a:xfrm>
          <a:prstGeom prst="rect">
            <a:avLst/>
          </a:prstGeom>
          <a:noFill/>
          <a:ln w="0">
            <a:noFill/>
          </a:ln>
        </p:spPr>
        <p:txBody>
          <a:bodyPr lIns="91440" tIns="91440" rIns="91440" bIns="91440" anchor="b">
            <a:normAutofit/>
          </a:bodyPr>
          <a:lstStyle/>
          <a:p>
            <a:pPr marL="285750" indent="-285750">
              <a:buFont typeface="Wingdings" pitchFamily="2" charset="2"/>
              <a:buChar char="ü"/>
            </a:pPr>
            <a:endParaRPr lang="fr-FR" sz="1400" dirty="0" smtClean="0"/>
          </a:p>
          <a:p>
            <a:r>
              <a:rPr lang="fr-FR" b="1" dirty="0" smtClean="0"/>
              <a:t>Avantages :</a:t>
            </a:r>
          </a:p>
          <a:p>
            <a:endParaRPr lang="fr-FR" dirty="0" smtClean="0"/>
          </a:p>
          <a:p>
            <a:pPr marL="285750" indent="-285750">
              <a:buFont typeface="Wingdings" pitchFamily="2" charset="2"/>
              <a:buChar char="ü"/>
            </a:pPr>
            <a:r>
              <a:rPr lang="fr-FR" sz="1400" dirty="0" smtClean="0"/>
              <a:t>Réduction des coûts (pas besoin de lignes téléphoniques physiques)</a:t>
            </a:r>
          </a:p>
          <a:p>
            <a:pPr marL="285750" indent="-285750">
              <a:buFont typeface="Wingdings" pitchFamily="2" charset="2"/>
              <a:buChar char="ü"/>
            </a:pPr>
            <a:r>
              <a:rPr lang="fr-FR" sz="1400" dirty="0" smtClean="0"/>
              <a:t>Intégration avec d’autres outils (messagerie, CRM, etc.)</a:t>
            </a:r>
          </a:p>
          <a:p>
            <a:pPr marL="285750" indent="-285750">
              <a:buFont typeface="Wingdings" pitchFamily="2" charset="2"/>
              <a:buChar char="ü"/>
            </a:pPr>
            <a:r>
              <a:rPr lang="fr-FR" sz="1400" dirty="0" smtClean="0"/>
              <a:t>Mobilité (accès depuis n’importe où via Internet)</a:t>
            </a:r>
          </a:p>
          <a:p>
            <a:endParaRPr lang="fr-FR" sz="1400" dirty="0" smtClean="0"/>
          </a:p>
          <a:p>
            <a:pPr>
              <a:lnSpc>
                <a:spcPct val="150000"/>
              </a:lnSpc>
              <a:tabLst>
                <a:tab pos="0" algn="l"/>
              </a:tabLst>
            </a:pPr>
            <a:endParaRPr lang="fr-FR" sz="1400" dirty="0">
              <a:solidFill>
                <a:srgbClr val="000000"/>
              </a:solidFill>
              <a:latin typeface="Arial"/>
            </a:endParaRPr>
          </a:p>
        </p:txBody>
      </p:sp>
      <p:sp>
        <p:nvSpPr>
          <p:cNvPr id="7" name="PlaceHolder 2"/>
          <p:cNvSpPr txBox="1">
            <a:spLocks/>
          </p:cNvSpPr>
          <p:nvPr/>
        </p:nvSpPr>
        <p:spPr>
          <a:xfrm>
            <a:off x="838200" y="209550"/>
            <a:ext cx="3733800" cy="1752360"/>
          </a:xfrm>
          <a:prstGeom prst="rect">
            <a:avLst/>
          </a:prstGeom>
          <a:noFill/>
          <a:ln w="0">
            <a:noFill/>
          </a:ln>
        </p:spPr>
        <p:txBody>
          <a:bodyPr lIns="91440" tIns="91440" rIns="91440" bIns="91440" anchor="b">
            <a:normAutofit/>
          </a:bodyPr>
          <a:lstStyle/>
          <a:p>
            <a:r>
              <a:rPr lang="fr-FR" b="1" dirty="0" smtClean="0"/>
              <a:t>Fonctionnalités principales :</a:t>
            </a:r>
          </a:p>
          <a:p>
            <a:endParaRPr lang="fr-FR" sz="1700" dirty="0" smtClean="0"/>
          </a:p>
          <a:p>
            <a:pPr marL="285750" indent="-285750">
              <a:buFont typeface="Wingdings" pitchFamily="2" charset="2"/>
              <a:buChar char="ü"/>
            </a:pPr>
            <a:r>
              <a:rPr lang="fr-FR" sz="1400" dirty="0" smtClean="0"/>
              <a:t>Gestion des appels entrants/sortants</a:t>
            </a:r>
          </a:p>
          <a:p>
            <a:pPr marL="285750" indent="-285750">
              <a:buFont typeface="Wingdings" pitchFamily="2" charset="2"/>
              <a:buChar char="ü"/>
            </a:pPr>
            <a:r>
              <a:rPr lang="fr-FR" sz="1400" dirty="0" smtClean="0"/>
              <a:t>Messagerie vocale</a:t>
            </a:r>
          </a:p>
          <a:p>
            <a:pPr marL="285750" indent="-285750">
              <a:buFont typeface="Wingdings" pitchFamily="2" charset="2"/>
              <a:buChar char="ü"/>
            </a:pPr>
            <a:r>
              <a:rPr lang="fr-FR" sz="1400" dirty="0" smtClean="0"/>
              <a:t>Conférences téléphoniques</a:t>
            </a:r>
          </a:p>
          <a:p>
            <a:pPr marL="285750" indent="-285750">
              <a:buFont typeface="Wingdings" pitchFamily="2" charset="2"/>
              <a:buChar char="ü"/>
            </a:pPr>
            <a:r>
              <a:rPr lang="fr-FR" sz="1400" dirty="0" smtClean="0"/>
              <a:t>Transfert d’appels</a:t>
            </a:r>
            <a:endParaRPr lang="fr-FR" sz="1400"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95550"/>
            <a:ext cx="464820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image69ef91e83a7aa" descr="image69ef91e83a7ad"/>
          <p:cNvSpPr/>
          <p:nvPr/>
        </p:nvSpPr>
        <p:spPr>
          <a:xfrm>
            <a:off x="228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5" name="PlaceHolder 1"/>
          <p:cNvSpPr>
            <a:spLocks noGrp="1"/>
          </p:cNvSpPr>
          <p:nvPr>
            <p:ph type="title"/>
          </p:nvPr>
        </p:nvSpPr>
        <p:spPr>
          <a:xfrm>
            <a:off x="4343040" y="304800"/>
            <a:ext cx="4914600" cy="66675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2800" b="1" dirty="0" err="1" smtClean="0"/>
              <a:t>Qu’est-ce</a:t>
            </a:r>
            <a:r>
              <a:rPr lang="en-US" sz="2800" b="1" dirty="0" smtClean="0"/>
              <a:t> </a:t>
            </a:r>
            <a:r>
              <a:rPr lang="en-US" sz="2800" b="1" dirty="0" err="1" smtClean="0"/>
              <a:t>qu’un</a:t>
            </a:r>
            <a:r>
              <a:rPr lang="en-US" sz="2800" b="1" dirty="0" smtClean="0"/>
              <a:t> SIP SERVER ?</a:t>
            </a:r>
            <a:endParaRPr lang="fr-FR" sz="2600" b="0" u="none" strike="noStrike" dirty="0">
              <a:solidFill>
                <a:schemeClr val="dk1"/>
              </a:solidFill>
              <a:effectLst/>
              <a:uFillTx/>
              <a:latin typeface="Arial"/>
            </a:endParaRPr>
          </a:p>
        </p:txBody>
      </p:sp>
      <p:sp>
        <p:nvSpPr>
          <p:cNvPr id="6" name="PlaceHolder 2"/>
          <p:cNvSpPr txBox="1">
            <a:spLocks/>
          </p:cNvSpPr>
          <p:nvPr/>
        </p:nvSpPr>
        <p:spPr>
          <a:xfrm>
            <a:off x="4495800" y="971550"/>
            <a:ext cx="4495800" cy="1904520"/>
          </a:xfrm>
          <a:prstGeom prst="rect">
            <a:avLst/>
          </a:prstGeom>
          <a:noFill/>
          <a:ln w="0">
            <a:noFill/>
          </a:ln>
        </p:spPr>
        <p:txBody>
          <a:bodyPr lIns="91440" tIns="91440" rIns="91440" bIns="91440" anchor="b">
            <a:normAutofit fontScale="92500"/>
          </a:bodyPr>
          <a:lstStyle/>
          <a:p>
            <a:pPr>
              <a:lnSpc>
                <a:spcPct val="150000"/>
              </a:lnSpc>
              <a:tabLst>
                <a:tab pos="0" algn="l"/>
              </a:tabLst>
            </a:pPr>
            <a:r>
              <a:rPr lang="fr-FR" sz="1400" dirty="0" smtClean="0"/>
              <a:t>Le protocole SIP (Session Initiation Protocol) est un standard pour initier, modifier et terminer des sessions de communication multimédia (voix, vidéo, messagerie instantanée). Un SIP Server agit comme un intermédiaire pour connecter les utilisateurs et gérer ces sessions.</a:t>
            </a:r>
          </a:p>
          <a:p>
            <a:pPr>
              <a:lnSpc>
                <a:spcPct val="150000"/>
              </a:lnSpc>
              <a:tabLst>
                <a:tab pos="0" algn="l"/>
              </a:tabLst>
            </a:pPr>
            <a:endParaRPr lang="fr-FR" sz="1400"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txBox="1">
            <a:spLocks/>
          </p:cNvSpPr>
          <p:nvPr/>
        </p:nvSpPr>
        <p:spPr>
          <a:xfrm>
            <a:off x="1981200" y="325211"/>
            <a:ext cx="4838400" cy="666750"/>
          </a:xfrm>
          <a:prstGeom prst="rect">
            <a:avLst/>
          </a:prstGeom>
          <a:noFill/>
          <a:ln w="0">
            <a:noFill/>
          </a:ln>
        </p:spPr>
        <p:txBody>
          <a:bodyPr lIns="91440" tIns="91440" rIns="91440" bIns="91440" anchor="t">
            <a:normAutofit/>
          </a:bodyPr>
          <a:lstStyle/>
          <a:p>
            <a:pPr algn="ctr"/>
            <a:r>
              <a:rPr lang="fr-FR" sz="2800" b="1" dirty="0" smtClean="0"/>
              <a:t>Fonctionnement </a:t>
            </a:r>
            <a:endParaRPr lang="fr-FR" sz="2800" dirty="0" smtClean="0"/>
          </a:p>
        </p:txBody>
      </p:sp>
      <p:sp>
        <p:nvSpPr>
          <p:cNvPr id="6" name="PlaceHolder 2"/>
          <p:cNvSpPr txBox="1">
            <a:spLocks/>
          </p:cNvSpPr>
          <p:nvPr/>
        </p:nvSpPr>
        <p:spPr>
          <a:xfrm>
            <a:off x="1388706" y="637981"/>
            <a:ext cx="7239000" cy="2010358"/>
          </a:xfrm>
          <a:prstGeom prst="rect">
            <a:avLst/>
          </a:prstGeom>
          <a:noFill/>
          <a:ln w="0">
            <a:noFill/>
          </a:ln>
        </p:spPr>
        <p:txBody>
          <a:bodyPr lIns="91440" tIns="91440" rIns="91440" bIns="91440" anchor="b">
            <a:normAutofit lnSpcReduction="10000"/>
          </a:bodyPr>
          <a:lstStyle/>
          <a:p>
            <a:endParaRPr lang="fr-FR" sz="1400" dirty="0" smtClean="0"/>
          </a:p>
          <a:p>
            <a:endParaRPr lang="fr-FR" sz="1400" dirty="0" smtClean="0"/>
          </a:p>
          <a:p>
            <a:pPr marL="285750" indent="-285750">
              <a:buFont typeface="Wingdings" pitchFamily="2" charset="2"/>
              <a:buChar char="ü"/>
            </a:pPr>
            <a:r>
              <a:rPr lang="fr-FR" sz="1400" dirty="0" smtClean="0"/>
              <a:t>Enregistrement des utilisateurs (via un SIP </a:t>
            </a:r>
            <a:r>
              <a:rPr lang="fr-FR" sz="1400" dirty="0" err="1" smtClean="0"/>
              <a:t>Registrar</a:t>
            </a:r>
            <a:r>
              <a:rPr lang="fr-FR" sz="1400" dirty="0" smtClean="0"/>
              <a:t>)</a:t>
            </a:r>
          </a:p>
          <a:p>
            <a:pPr marL="285750" indent="-285750">
              <a:buFont typeface="Wingdings" pitchFamily="2" charset="2"/>
              <a:buChar char="ü"/>
            </a:pPr>
            <a:r>
              <a:rPr lang="fr-FR" sz="1400" dirty="0" smtClean="0"/>
              <a:t>Routage des appels entre terminaux SIP</a:t>
            </a:r>
          </a:p>
          <a:p>
            <a:pPr marL="285750" indent="-285750">
              <a:buFont typeface="Wingdings" pitchFamily="2" charset="2"/>
              <a:buChar char="ü"/>
            </a:pPr>
            <a:r>
              <a:rPr lang="fr-FR" sz="1400" dirty="0" smtClean="0"/>
              <a:t>Gestion des sessions (établissement, modification, fin)</a:t>
            </a:r>
          </a:p>
          <a:p>
            <a:endParaRPr lang="fr-FR" sz="1400" dirty="0" smtClean="0"/>
          </a:p>
          <a:p>
            <a:r>
              <a:rPr lang="fr-FR" sz="1400" b="1" dirty="0" smtClean="0"/>
              <a:t>Exemples d’utilisation :</a:t>
            </a:r>
            <a:endParaRPr lang="fr-FR" sz="1400" dirty="0" smtClean="0"/>
          </a:p>
          <a:p>
            <a:pPr marL="285750" indent="-285750">
              <a:buFont typeface="Wingdings" pitchFamily="2" charset="2"/>
              <a:buChar char="ü"/>
            </a:pPr>
            <a:r>
              <a:rPr lang="fr-FR" sz="1400" dirty="0" smtClean="0"/>
              <a:t>Appels </a:t>
            </a:r>
            <a:r>
              <a:rPr lang="fr-FR" sz="1400" dirty="0" err="1" smtClean="0"/>
              <a:t>VoIP</a:t>
            </a:r>
            <a:r>
              <a:rPr lang="fr-FR" sz="1400" dirty="0" smtClean="0"/>
              <a:t> entre entreprises</a:t>
            </a:r>
          </a:p>
          <a:p>
            <a:pPr marL="285750" indent="-285750">
              <a:buFont typeface="Wingdings" pitchFamily="2" charset="2"/>
              <a:buChar char="ü"/>
            </a:pPr>
            <a:r>
              <a:rPr lang="fr-FR" sz="1400" dirty="0" smtClean="0"/>
              <a:t>Intégration avec des applications de messagerie (comme Microsoft Teams)</a:t>
            </a:r>
          </a:p>
          <a:p>
            <a:pPr>
              <a:lnSpc>
                <a:spcPct val="150000"/>
              </a:lnSpc>
              <a:tabLst>
                <a:tab pos="0" algn="l"/>
              </a:tabLst>
            </a:pPr>
            <a:endParaRPr lang="fr-FR" sz="1400" dirty="0">
              <a:solidFill>
                <a:srgbClr val="000000"/>
              </a:solidFill>
              <a:latin typeface="Aria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796851"/>
            <a:ext cx="3833813"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txBox="1">
            <a:spLocks/>
          </p:cNvSpPr>
          <p:nvPr/>
        </p:nvSpPr>
        <p:spPr>
          <a:xfrm>
            <a:off x="914400" y="438150"/>
            <a:ext cx="7467600" cy="666750"/>
          </a:xfrm>
          <a:prstGeom prst="rect">
            <a:avLst/>
          </a:prstGeom>
          <a:noFill/>
          <a:ln w="0">
            <a:noFill/>
          </a:ln>
        </p:spPr>
        <p:txBody>
          <a:bodyPr lIns="91440" tIns="91440" rIns="91440" bIns="91440" anchor="t">
            <a:normAutofit fontScale="77500" lnSpcReduction="20000"/>
          </a:bodyPr>
          <a:lstStyle/>
          <a:p>
            <a:pPr algn="ctr"/>
            <a:r>
              <a:rPr lang="fr-FR" sz="2800" b="1" dirty="0" smtClean="0"/>
              <a:t>Comment IP PBX et SIP Server travaillent ensemble ?</a:t>
            </a:r>
            <a:endParaRPr lang="fr-FR" sz="2800" dirty="0" smtClean="0"/>
          </a:p>
        </p:txBody>
      </p:sp>
      <p:sp>
        <p:nvSpPr>
          <p:cNvPr id="7" name="PlaceHolder 2"/>
          <p:cNvSpPr txBox="1">
            <a:spLocks/>
          </p:cNvSpPr>
          <p:nvPr/>
        </p:nvSpPr>
        <p:spPr>
          <a:xfrm>
            <a:off x="345233" y="812735"/>
            <a:ext cx="8382000" cy="3276600"/>
          </a:xfrm>
          <a:prstGeom prst="rect">
            <a:avLst/>
          </a:prstGeom>
          <a:noFill/>
          <a:ln w="0">
            <a:noFill/>
          </a:ln>
        </p:spPr>
        <p:txBody>
          <a:bodyPr lIns="91440" tIns="91440" rIns="91440" bIns="91440" anchor="b">
            <a:normAutofit/>
          </a:bodyPr>
          <a:lstStyle/>
          <a:p>
            <a:pPr algn="ctr"/>
            <a:r>
              <a:rPr lang="fr-FR" sz="1400" dirty="0" smtClean="0"/>
              <a:t>Un IP PBX utilise souvent le protocole SIP pour gérer les appels. Le SIP Server permet de connecter le PBX à d’autres réseaux (comme le réseau téléphonique public ou d’autres entreprises), tandis que le PBX gère les fonctionnalités internes (transfert, messagerie, etc.).</a:t>
            </a:r>
          </a:p>
          <a:p>
            <a:endParaRPr lang="fr-FR" sz="1400" dirty="0" smtClean="0"/>
          </a:p>
          <a:p>
            <a:r>
              <a:rPr lang="fr-FR" sz="1400" b="1" dirty="0" smtClean="0"/>
              <a:t>Exemple de flux d’appel :</a:t>
            </a:r>
            <a:endParaRPr lang="fr-FR" sz="1400" dirty="0" smtClean="0"/>
          </a:p>
          <a:p>
            <a:pPr marL="285750" indent="-285750">
              <a:buFont typeface="Wingdings" pitchFamily="2" charset="2"/>
              <a:buChar char="ü"/>
            </a:pPr>
            <a:r>
              <a:rPr lang="fr-FR" sz="1400" dirty="0" smtClean="0"/>
              <a:t>Un utilisateur compose un numéro.</a:t>
            </a:r>
          </a:p>
          <a:p>
            <a:pPr marL="285750" indent="-285750">
              <a:buFont typeface="Wingdings" pitchFamily="2" charset="2"/>
              <a:buChar char="ü"/>
            </a:pPr>
            <a:r>
              <a:rPr lang="fr-FR" sz="1400" dirty="0" smtClean="0"/>
              <a:t>Le SIP Server authentifie et route l’appel vers le destinataire.</a:t>
            </a:r>
          </a:p>
          <a:p>
            <a:pPr marL="285750" indent="-285750">
              <a:buFont typeface="Wingdings" pitchFamily="2" charset="2"/>
              <a:buChar char="ü"/>
            </a:pPr>
            <a:r>
              <a:rPr lang="fr-FR" sz="1400" dirty="0" smtClean="0"/>
              <a:t>Le PBX gère les fonctionnalités (transfert, messagerie, etc.).</a:t>
            </a:r>
          </a:p>
          <a:p>
            <a:endParaRPr lang="fr-FR" sz="1400" dirty="0" smtClean="0"/>
          </a:p>
          <a:p>
            <a:r>
              <a:rPr lang="fr-FR" sz="1400" b="1" dirty="0" smtClean="0"/>
              <a:t>Avantages :</a:t>
            </a:r>
            <a:endParaRPr lang="fr-FR" sz="1400" dirty="0" smtClean="0"/>
          </a:p>
          <a:p>
            <a:pPr marL="285750" indent="-285750">
              <a:buFont typeface="Wingdings" pitchFamily="2" charset="2"/>
              <a:buChar char="ü"/>
            </a:pPr>
            <a:r>
              <a:rPr lang="fr-FR" sz="1400" dirty="0" smtClean="0"/>
              <a:t>Flexibilité (ajout/suppression d’utilisateurs facilement)</a:t>
            </a:r>
          </a:p>
          <a:p>
            <a:pPr marL="285750" indent="-285750">
              <a:buFont typeface="Wingdings" pitchFamily="2" charset="2"/>
              <a:buChar char="ü"/>
            </a:pPr>
            <a:r>
              <a:rPr lang="fr-FR" sz="1400" dirty="0" smtClean="0"/>
              <a:t>Évolutivité (adaptation aux besoins de l’entreprise)</a:t>
            </a:r>
          </a:p>
          <a:p>
            <a:pPr marL="285750" indent="-285750">
              <a:buFont typeface="Wingdings" pitchFamily="2" charset="2"/>
              <a:buChar char="ü"/>
            </a:pPr>
            <a:r>
              <a:rPr lang="fr-FR" sz="1400" dirty="0" smtClean="0"/>
              <a:t>Réduction des coûts (utilisation du réseau IP existant)</a:t>
            </a:r>
          </a:p>
          <a:p>
            <a:endParaRPr lang="fr-FR" sz="1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763418"/>
            <a:ext cx="3648075" cy="1880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txBox="1">
            <a:spLocks/>
          </p:cNvSpPr>
          <p:nvPr/>
        </p:nvSpPr>
        <p:spPr>
          <a:xfrm>
            <a:off x="914400" y="438150"/>
            <a:ext cx="7467600" cy="666750"/>
          </a:xfrm>
          <a:prstGeom prst="rect">
            <a:avLst/>
          </a:prstGeom>
          <a:noFill/>
          <a:ln w="0">
            <a:noFill/>
          </a:ln>
        </p:spPr>
        <p:txBody>
          <a:bodyPr lIns="91440" tIns="91440" rIns="91440" bIns="91440" anchor="t">
            <a:normAutofit/>
          </a:bodyPr>
          <a:lstStyle/>
          <a:p>
            <a:r>
              <a:rPr lang="fr-FR" sz="2800" b="1" dirty="0" smtClean="0"/>
              <a:t>Cas d’usage et applications pratiques</a:t>
            </a:r>
            <a:endParaRPr lang="fr-FR" sz="2800" b="1" dirty="0" smtClean="0"/>
          </a:p>
        </p:txBody>
      </p:sp>
      <p:sp>
        <p:nvSpPr>
          <p:cNvPr id="7" name="PlaceHolder 2"/>
          <p:cNvSpPr txBox="1">
            <a:spLocks/>
          </p:cNvSpPr>
          <p:nvPr/>
        </p:nvSpPr>
        <p:spPr>
          <a:xfrm>
            <a:off x="1233196" y="895350"/>
            <a:ext cx="6324600" cy="2286000"/>
          </a:xfrm>
          <a:prstGeom prst="rect">
            <a:avLst/>
          </a:prstGeom>
          <a:noFill/>
          <a:ln w="0">
            <a:noFill/>
          </a:ln>
        </p:spPr>
        <p:txBody>
          <a:bodyPr lIns="91440" tIns="91440" rIns="91440" bIns="91440" anchor="b">
            <a:normAutofit/>
          </a:bodyPr>
          <a:lstStyle/>
          <a:p>
            <a:pPr marL="285750" indent="-285750">
              <a:buFont typeface="Wingdings" pitchFamily="2" charset="2"/>
              <a:buChar char="q"/>
            </a:pPr>
            <a:r>
              <a:rPr lang="fr-FR" sz="1400" b="1" dirty="0" smtClean="0"/>
              <a:t>Entreprises :</a:t>
            </a:r>
            <a:endParaRPr lang="fr-FR" sz="1400" dirty="0" smtClean="0"/>
          </a:p>
          <a:p>
            <a:pPr marL="285750" indent="-285750">
              <a:buFont typeface="Wingdings" pitchFamily="2" charset="2"/>
              <a:buChar char="ü"/>
            </a:pPr>
            <a:r>
              <a:rPr lang="fr-FR" sz="1400" dirty="0" smtClean="0"/>
              <a:t>Remplacement des systèmes téléphoniques analogiques</a:t>
            </a:r>
          </a:p>
          <a:p>
            <a:pPr marL="285750" indent="-285750">
              <a:buFont typeface="Wingdings" pitchFamily="2" charset="2"/>
              <a:buChar char="ü"/>
            </a:pPr>
            <a:r>
              <a:rPr lang="fr-FR" sz="1400" dirty="0" smtClean="0"/>
              <a:t>Intégration avec des outils de collaboration (</a:t>
            </a:r>
            <a:r>
              <a:rPr lang="fr-FR" sz="1400" dirty="0" err="1" smtClean="0"/>
              <a:t>Slack</a:t>
            </a:r>
            <a:r>
              <a:rPr lang="fr-FR" sz="1400" dirty="0" smtClean="0"/>
              <a:t>, Microsoft Teams)</a:t>
            </a:r>
          </a:p>
          <a:p>
            <a:pPr marL="285750" indent="-285750">
              <a:buFont typeface="Wingdings" pitchFamily="2" charset="2"/>
              <a:buChar char="q"/>
            </a:pPr>
            <a:r>
              <a:rPr lang="fr-FR" sz="1400" b="1" dirty="0" smtClean="0"/>
              <a:t>Centres d’appels :</a:t>
            </a:r>
            <a:endParaRPr lang="fr-FR" sz="1400" dirty="0" smtClean="0"/>
          </a:p>
          <a:p>
            <a:pPr marL="285750" indent="-285750">
              <a:buFont typeface="Wingdings" pitchFamily="2" charset="2"/>
              <a:buChar char="ü"/>
            </a:pPr>
            <a:r>
              <a:rPr lang="fr-FR" sz="1400" dirty="0" smtClean="0"/>
              <a:t>Gestion centralisée des appels entrants/sortants</a:t>
            </a:r>
          </a:p>
          <a:p>
            <a:pPr marL="285750" indent="-285750">
              <a:buFont typeface="Wingdings" pitchFamily="2" charset="2"/>
              <a:buChar char="ü"/>
            </a:pPr>
            <a:r>
              <a:rPr lang="fr-FR" sz="1400" dirty="0" smtClean="0"/>
              <a:t>Enregistrement et analyse des appels</a:t>
            </a:r>
          </a:p>
          <a:p>
            <a:pPr marL="285750" indent="-285750">
              <a:buFont typeface="Wingdings" pitchFamily="2" charset="2"/>
              <a:buChar char="q"/>
            </a:pPr>
            <a:r>
              <a:rPr lang="fr-FR" sz="1400" b="1" dirty="0" smtClean="0"/>
              <a:t>Solutions </a:t>
            </a:r>
            <a:r>
              <a:rPr lang="fr-FR" sz="1400" b="1" dirty="0" err="1" smtClean="0"/>
              <a:t>cloud</a:t>
            </a:r>
            <a:r>
              <a:rPr lang="fr-FR" sz="1400" b="1" dirty="0" smtClean="0"/>
              <a:t> :</a:t>
            </a:r>
            <a:endParaRPr lang="fr-FR" sz="1400" dirty="0" smtClean="0"/>
          </a:p>
          <a:p>
            <a:pPr marL="285750" indent="-285750">
              <a:buFont typeface="Wingdings" pitchFamily="2" charset="2"/>
              <a:buChar char="ü"/>
            </a:pPr>
            <a:r>
              <a:rPr lang="fr-FR" sz="1400" dirty="0" smtClean="0"/>
              <a:t>Hébergement du PBX et du SIP Server dans le </a:t>
            </a:r>
            <a:r>
              <a:rPr lang="fr-FR" sz="1400" dirty="0" err="1" smtClean="0"/>
              <a:t>cloud</a:t>
            </a:r>
            <a:r>
              <a:rPr lang="fr-FR" sz="1400" dirty="0" smtClean="0"/>
              <a:t> pour une gestion simplifiée</a:t>
            </a:r>
            <a:endParaRPr lang="fr-FR" sz="1400" dirty="0"/>
          </a:p>
        </p:txBody>
      </p:sp>
    </p:spTree>
    <p:extLst>
      <p:ext uri="{BB962C8B-B14F-4D97-AF65-F5344CB8AC3E}">
        <p14:creationId xmlns:p14="http://schemas.microsoft.com/office/powerpoint/2010/main" val="424810164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txBox="1">
            <a:spLocks/>
          </p:cNvSpPr>
          <p:nvPr/>
        </p:nvSpPr>
        <p:spPr>
          <a:xfrm>
            <a:off x="674137" y="438150"/>
            <a:ext cx="7467600" cy="666750"/>
          </a:xfrm>
          <a:prstGeom prst="rect">
            <a:avLst/>
          </a:prstGeom>
          <a:noFill/>
          <a:ln w="0">
            <a:noFill/>
          </a:ln>
        </p:spPr>
        <p:txBody>
          <a:bodyPr lIns="91440" tIns="91440" rIns="91440" bIns="91440" anchor="t">
            <a:normAutofit/>
          </a:bodyPr>
          <a:lstStyle/>
          <a:p>
            <a:pPr algn="ctr"/>
            <a:r>
              <a:rPr lang="fr-FR" sz="2800" b="1" dirty="0" smtClean="0"/>
              <a:t>Conclusion</a:t>
            </a:r>
            <a:endParaRPr lang="fr-FR" sz="2800" b="1" dirty="0" smtClean="0"/>
          </a:p>
        </p:txBody>
      </p:sp>
      <p:sp>
        <p:nvSpPr>
          <p:cNvPr id="7" name="PlaceHolder 2"/>
          <p:cNvSpPr txBox="1">
            <a:spLocks/>
          </p:cNvSpPr>
          <p:nvPr/>
        </p:nvSpPr>
        <p:spPr>
          <a:xfrm>
            <a:off x="480527" y="1428750"/>
            <a:ext cx="7924800" cy="1447800"/>
          </a:xfrm>
          <a:prstGeom prst="rect">
            <a:avLst/>
          </a:prstGeom>
          <a:noFill/>
          <a:ln w="0">
            <a:noFill/>
          </a:ln>
        </p:spPr>
        <p:txBody>
          <a:bodyPr lIns="91440" tIns="91440" rIns="91440" bIns="91440" anchor="b">
            <a:noAutofit/>
          </a:bodyPr>
          <a:lstStyle/>
          <a:p>
            <a:pPr algn="just"/>
            <a:r>
              <a:rPr lang="fr-FR" dirty="0" smtClean="0"/>
              <a:t>L’</a:t>
            </a:r>
            <a:r>
              <a:rPr lang="fr-FR" b="1" dirty="0" smtClean="0"/>
              <a:t>IP PBX</a:t>
            </a:r>
            <a:r>
              <a:rPr lang="fr-FR" dirty="0" smtClean="0"/>
              <a:t> et le </a:t>
            </a:r>
            <a:r>
              <a:rPr lang="fr-FR" b="1" dirty="0" smtClean="0"/>
              <a:t>SIP Server</a:t>
            </a:r>
            <a:r>
              <a:rPr lang="fr-FR" dirty="0" smtClean="0"/>
              <a:t> transforment la téléphonie d’entreprise en utilisant Internet pour des appels moins chers, plus flexibles et plus riches en fonctionnalités. Ensemble, ils remplacent les anciens systèmes téléphoniques et s’adaptent aux besoins modernes. Avec l’évolution de la technologie, ces solutions continueront à jouer un rôle clé dans la communication d’avenir.</a:t>
            </a:r>
            <a:endParaRPr lang="fr-FR" dirty="0"/>
          </a:p>
        </p:txBody>
      </p:sp>
    </p:spTree>
    <p:extLst>
      <p:ext uri="{BB962C8B-B14F-4D97-AF65-F5344CB8AC3E}">
        <p14:creationId xmlns:p14="http://schemas.microsoft.com/office/powerpoint/2010/main" val="79556820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TotalTime>
  <Words>499</Words>
  <Application>Microsoft Office PowerPoint</Application>
  <PresentationFormat>On-screen Show (16:9)</PresentationFormat>
  <Paragraphs>55</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Tech Startup by Slidesgo</vt:lpstr>
      <vt:lpstr>IP PBX &amp; SIP SERVER</vt:lpstr>
      <vt:lpstr>Introduction</vt:lpstr>
      <vt:lpstr>IP PBX</vt:lpstr>
      <vt:lpstr>Qu’est-ce qu’un IP PBX ?</vt:lpstr>
      <vt:lpstr>PowerPoint Presentation</vt:lpstr>
      <vt:lpstr>Qu’est-ce qu’un SIP SERVER ?</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PBX</dc:title>
  <cp:lastModifiedBy>NOEL</cp:lastModifiedBy>
  <cp:revision>7</cp:revision>
  <dcterms:modified xsi:type="dcterms:W3CDTF">2026-04-27T19:16:51Z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2026-04-27T16:42:15Z</dcterms:created>
  <dc:creator>Unknown Creator</dc:creator>
  <dc:description/>
  <dc:language>en-US</dc:language>
  <cp:lastModifiedBy>Unknown Creator</cp:lastModifiedBy>
  <dcterms:modified xsi:type="dcterms:W3CDTF">2026-04-27T16:42:15Z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