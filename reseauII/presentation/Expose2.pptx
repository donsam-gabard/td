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78" r:id="rId4"/>
    <p:sldId id="279" r:id="rId5"/>
    <p:sldId id="270" r:id="rId6"/>
    <p:sldId id="260" r:id="rId7"/>
    <p:sldId id="280" r:id="rId8"/>
    <p:sldId id="275" r:id="rId9"/>
    <p:sldId id="281" r:id="rId10"/>
    <p:sldId id="277" r:id="rId11"/>
    <p:sldId id="264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7" autoAdjust="0"/>
    <p:restoredTop sz="94660"/>
  </p:normalViewPr>
  <p:slideViewPr>
    <p:cSldViewPr>
      <p:cViewPr varScale="1">
        <p:scale>
          <a:sx n="89" d="100"/>
          <a:sy n="89" d="100"/>
        </p:scale>
        <p:origin x="-864" y="-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2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>
            <a:off x="1457640" y="-3227760"/>
            <a:ext cx="9691920" cy="83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653120" y="1900080"/>
            <a:ext cx="3173760" cy="68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5182560" y="449640"/>
            <a:ext cx="2308320" cy="424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9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Red Hat Mono"/>
                <a:ea typeface="Red Hat Mon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50;p11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5049000" y="-297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53;p13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4323000">
            <a:off x="2675880" y="1282320"/>
            <a:ext cx="9691920" cy="83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21640" y="346536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521640" y="15714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522360" y="624600"/>
            <a:ext cx="7102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521640" y="25182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title"/>
          </p:nvPr>
        </p:nvSpPr>
        <p:spPr>
          <a:xfrm>
            <a:off x="4627440" y="15714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title"/>
          </p:nvPr>
        </p:nvSpPr>
        <p:spPr>
          <a:xfrm>
            <a:off x="4627440" y="251856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 type="title"/>
          </p:nvPr>
        </p:nvSpPr>
        <p:spPr>
          <a:xfrm>
            <a:off x="4627440" y="346536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8"/>
          <p:cNvSpPr>
            <a:spLocks noGrp="1"/>
          </p:cNvSpPr>
          <p:nvPr>
            <p:ph type="title"/>
          </p:nvPr>
        </p:nvSpPr>
        <p:spPr>
          <a:xfrm>
            <a:off x="4627440" y="6246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228600" y="4352040"/>
            <a:ext cx="8686800" cy="54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417320" y="910080"/>
            <a:ext cx="5261760" cy="15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7" name="Google Shape;74;p14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6488600">
            <a:off x="5582160" y="-110340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76;p15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171360" y="-181368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228600" y="3276000"/>
            <a:ext cx="3710160" cy="16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228600" y="342000"/>
            <a:ext cx="3710160" cy="178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306680" y="0"/>
            <a:ext cx="48373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32904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4" name="Google Shape;82;p16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2517600">
            <a:off x="3900960" y="-338508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214280" y="2702160"/>
            <a:ext cx="9298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1215000" y="1388520"/>
            <a:ext cx="9280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1215360" y="4015440"/>
            <a:ext cx="9298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228600" y="34272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9" name="Google Shape;91;p17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1069400">
            <a:off x="5059440" y="98064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3;p18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6484200">
            <a:off x="2395800" y="-3969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945480" y="338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6945480" y="1609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4140000" y="160992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4139280" y="338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title"/>
          </p:nvPr>
        </p:nvSpPr>
        <p:spPr>
          <a:xfrm>
            <a:off x="1332720" y="1609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title"/>
          </p:nvPr>
        </p:nvSpPr>
        <p:spPr>
          <a:xfrm>
            <a:off x="1332720" y="338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title"/>
          </p:nvPr>
        </p:nvSpPr>
        <p:spPr>
          <a:xfrm>
            <a:off x="228600" y="32904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416600" y="552600"/>
            <a:ext cx="6310080" cy="129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109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10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1416600" y="2969280"/>
            <a:ext cx="6310080" cy="129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109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10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0" name="Google Shape;112;p19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7479200">
            <a:off x="3828600" y="192384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163880" y="1130040"/>
            <a:ext cx="3577680" cy="67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Google Shape;116;p20"/>
          <p:cNvSpPr/>
          <p:nvPr/>
        </p:nvSpPr>
        <p:spPr>
          <a:xfrm>
            <a:off x="3034440" y="320112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3" name="Google Shape;117;p20"/>
          <p:cNvPicPr/>
          <p:nvPr/>
        </p:nvPicPr>
        <p:blipFill>
          <a:blip r:embed="rId4">
            <a:alphaModFix amt="66000"/>
          </a:blip>
          <a:srcRect l="16172" r="18707"/>
          <a:stretch/>
        </p:blipFill>
        <p:spPr>
          <a:xfrm rot="15349800">
            <a:off x="5539320" y="-90684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14;p3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-402480" y="136980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256640" y="2401920"/>
            <a:ext cx="46584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228600" y="1498320"/>
            <a:ext cx="3008880" cy="206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171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17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19;p21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15349800">
            <a:off x="-3836520" y="-313020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1;p22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15349800">
            <a:off x="1293120" y="76716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52" name="Google Shape;20;p4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4140800">
            <a:off x="6268320" y="-81360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28600" y="32904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4" name="Google Shape;27;p5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1069400">
            <a:off x="-3573360" y="90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8600" y="34416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6" name="Google Shape;30;p6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-4048560" y="16668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60" name="Google Shape;35;p7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-2840400" y="296388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37;p8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6267600">
            <a:off x="763200" y="-314352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64" name="Google Shape;43;p9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flipH="1">
            <a:off x="1806480" y="3231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1227240" y="3685320"/>
            <a:ext cx="2292480" cy="45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514350"/>
            <a:ext cx="5562600" cy="1544400"/>
          </a:xfrm>
        </p:spPr>
        <p:txBody>
          <a:bodyPr/>
          <a:lstStyle/>
          <a:p>
            <a:pPr algn="ctr"/>
            <a:r>
              <a:rPr lang="fr-FR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Exposé sur le thème </a:t>
            </a:r>
            <a:r>
              <a:rPr lang="fr-FR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:</a:t>
            </a:r>
            <a:r>
              <a:rPr lang="fr-FR" sz="3200" dirty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fr-FR" sz="3200" dirty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</a:br>
            <a:r>
              <a:rPr lang="nl-NL" sz="3200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Microsoft Azure </a:t>
            </a:r>
            <a:br>
              <a:rPr lang="nl-NL" sz="3200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</a:br>
            <a:r>
              <a:rPr lang="nl-NL" sz="3200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vs</a:t>
            </a:r>
            <a:br>
              <a:rPr lang="nl-NL" sz="3200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</a:br>
            <a:r>
              <a:rPr lang="nl-NL" sz="3200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 Google Cloud</a:t>
            </a:r>
            <a:endParaRPr lang="fr-FR" sz="3200" dirty="0">
              <a:solidFill>
                <a:srgbClr val="0070C0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6" name="Title 8"/>
          <p:cNvSpPr txBox="1">
            <a:spLocks/>
          </p:cNvSpPr>
          <p:nvPr/>
        </p:nvSpPr>
        <p:spPr>
          <a:xfrm>
            <a:off x="5715000" y="3486150"/>
            <a:ext cx="3335767" cy="129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/>
            <a:r>
              <a:rPr lang="fr-FR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Elaboré par :</a:t>
            </a:r>
          </a:p>
          <a:p>
            <a:pPr algn="ctr"/>
            <a:r>
              <a:rPr lang="fr-FR" dirty="0" err="1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Donsam</a:t>
            </a:r>
            <a:r>
              <a:rPr lang="fr-FR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Jean </a:t>
            </a:r>
            <a:r>
              <a:rPr lang="fr-FR" dirty="0" err="1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Gabard</a:t>
            </a:r>
            <a:r>
              <a:rPr lang="fr-FR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 NOEL</a:t>
            </a:r>
            <a:endParaRPr lang="fr-FR" sz="2400" dirty="0">
              <a:solidFill>
                <a:srgbClr val="0070C0"/>
              </a:solidFill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028950"/>
            <a:ext cx="480060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457200" y="819150"/>
            <a:ext cx="8229600" cy="3367290"/>
          </a:xfrm>
        </p:spPr>
        <p:txBody>
          <a:bodyPr>
            <a:norm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Microsoft Azure et Google Cloud sont deux des plus grandes plateformes de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public au monde. Elles permettent aux entreprises d’héberger des applications, de stocker des données et d’utiliser des services avancés (comme l’IA ou le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Data) sans infrastructure physique.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Bien qu’elles partagent des similitudes, leurs architectures, forces et cas d’usage diffèrent clairement. Dans cet exposé, nous allons 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Définir chaque plateforme.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Comparer leurs services clés.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Analyser leurs avantages et inconvénients.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Recommander des cas d’usage pour chacune.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9550"/>
            <a:ext cx="1752600" cy="457200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Introduction</a:t>
            </a:r>
            <a:endParaRPr lang="fr-FR" dirty="0">
              <a:solidFill>
                <a:srgbClr val="0070C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1851652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381000" y="438150"/>
            <a:ext cx="8229600" cy="336729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Microsoft Azure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Plateforme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cloud de Microsoft,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conçue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pour les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entreprises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utilisant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déjà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outils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(Windows, Office 365, Active Directory).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200+ services : machines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virtuelles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bases de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données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IA,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DevOps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etc.</a:t>
            </a: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667000" y="13335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/>
            <a:r>
              <a:rPr lang="en-US" b="1" dirty="0" err="1" smtClean="0">
                <a:solidFill>
                  <a:srgbClr val="00B0F0"/>
                </a:solidFill>
              </a:rPr>
              <a:t>Définitions</a:t>
            </a:r>
            <a:r>
              <a:rPr lang="en-US" b="1" dirty="0" smtClean="0">
                <a:solidFill>
                  <a:srgbClr val="00B0F0"/>
                </a:solidFill>
              </a:rPr>
              <a:t> et </a:t>
            </a:r>
            <a:r>
              <a:rPr lang="en-US" b="1" dirty="0" err="1" smtClean="0">
                <a:solidFill>
                  <a:srgbClr val="00B0F0"/>
                </a:solidFill>
              </a:rPr>
              <a:t>présentations</a:t>
            </a:r>
            <a:endParaRPr lang="fr-FR" dirty="0">
              <a:solidFill>
                <a:srgbClr val="00B0F0"/>
              </a:solidFill>
              <a:latin typeface="Aharoni" pitchFamily="2" charset="-79"/>
              <a:cs typeface="Aharoni" pitchFamily="2" charset="-79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657589"/>
              </p:ext>
            </p:extLst>
          </p:nvPr>
        </p:nvGraphicFramePr>
        <p:xfrm>
          <a:off x="1676400" y="1809750"/>
          <a:ext cx="4937760" cy="100584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Plateforme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Lancement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Propriétaire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Microsoft Azure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952750"/>
            <a:ext cx="3629025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88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381000" y="514350"/>
            <a:ext cx="8229600" cy="336729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Google Cloud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Plateforme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cloud de Google,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axée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sur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l’innovation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technologique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(IA, Big Data, open source).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Infrastructure ultra-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performante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même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réseau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Google Search et YouTube.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09550"/>
            <a:ext cx="3810000" cy="457200"/>
          </a:xfrm>
        </p:spPr>
        <p:txBody>
          <a:bodyPr/>
          <a:lstStyle/>
          <a:p>
            <a:pPr algn="ctr"/>
            <a:r>
              <a:rPr lang="en-US" b="1" dirty="0" err="1" smtClean="0">
                <a:solidFill>
                  <a:srgbClr val="00B0F0"/>
                </a:solidFill>
              </a:rPr>
              <a:t>Définitions</a:t>
            </a:r>
            <a:r>
              <a:rPr lang="en-US" b="1" dirty="0" smtClean="0">
                <a:solidFill>
                  <a:srgbClr val="00B0F0"/>
                </a:solidFill>
              </a:rPr>
              <a:t> et </a:t>
            </a:r>
            <a:r>
              <a:rPr lang="en-US" b="1" dirty="0" err="1" smtClean="0">
                <a:solidFill>
                  <a:srgbClr val="00B0F0"/>
                </a:solidFill>
              </a:rPr>
              <a:t>présentations</a:t>
            </a:r>
            <a:endParaRPr lang="fr-FR" dirty="0">
              <a:solidFill>
                <a:srgbClr val="00B0F0"/>
              </a:solidFill>
              <a:latin typeface="Aharoni" pitchFamily="2" charset="-79"/>
              <a:cs typeface="Aharoni" pitchFamily="2" charset="-79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582825"/>
              </p:ext>
            </p:extLst>
          </p:nvPr>
        </p:nvGraphicFramePr>
        <p:xfrm>
          <a:off x="2057400" y="1809750"/>
          <a:ext cx="4937760" cy="100584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Plateforme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Lancement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Propriétaire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Google Cloud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952750"/>
            <a:ext cx="276225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46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81000" y="133350"/>
            <a:ext cx="6781800" cy="4424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b="1" dirty="0" err="1">
                <a:solidFill>
                  <a:srgbClr val="00B0F0"/>
                </a:solidFill>
              </a:rPr>
              <a:t>Comparaison</a:t>
            </a:r>
            <a:r>
              <a:rPr lang="en-US" b="1" dirty="0">
                <a:solidFill>
                  <a:srgbClr val="00B0F0"/>
                </a:solidFill>
              </a:rPr>
              <a:t> des services </a:t>
            </a:r>
            <a:r>
              <a:rPr lang="en-US" b="1" dirty="0" err="1">
                <a:solidFill>
                  <a:srgbClr val="00B0F0"/>
                </a:solidFill>
              </a:rPr>
              <a:t>clés</a:t>
            </a:r>
            <a:endParaRPr lang="en-US" dirty="0">
              <a:solidFill>
                <a:srgbClr val="00B0F0"/>
              </a:solidFill>
              <a:latin typeface="Aharoni" pitchFamily="2" charset="-79"/>
              <a:cs typeface="Aharoni" pitchFamily="2" charset="-79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161167"/>
              </p:ext>
            </p:extLst>
          </p:nvPr>
        </p:nvGraphicFramePr>
        <p:xfrm>
          <a:off x="762000" y="728220"/>
          <a:ext cx="7086600" cy="3900931"/>
        </p:xfrm>
        <a:graphic>
          <a:graphicData uri="http://schemas.openxmlformats.org/drawingml/2006/table">
            <a:tbl>
              <a:tblPr/>
              <a:tblGrid>
                <a:gridCol w="2362200"/>
                <a:gridCol w="2362200"/>
                <a:gridCol w="2362200"/>
              </a:tblGrid>
              <a:tr h="240057">
                <a:tc>
                  <a:txBody>
                    <a:bodyPr/>
                    <a:lstStyle/>
                    <a:p>
                      <a:r>
                        <a:rPr lang="en-US" sz="1000" b="1" dirty="0" err="1"/>
                        <a:t>Catégorie</a:t>
                      </a:r>
                      <a:endParaRPr lang="en-US" sz="1000" b="1" dirty="0"/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Microsoft Azure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Google Cloud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101">
                <a:tc>
                  <a:txBody>
                    <a:bodyPr/>
                    <a:lstStyle/>
                    <a:p>
                      <a:r>
                        <a:rPr lang="en-US" sz="1000" b="1" dirty="0" err="1"/>
                        <a:t>Calcul</a:t>
                      </a:r>
                      <a:endParaRPr lang="en-US" sz="1000" dirty="0"/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Azure Virtual Machines, AKS (Kubernetes)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Compute Engine, GKE (</a:t>
                      </a:r>
                      <a:r>
                        <a:rPr lang="en-US" sz="1000" dirty="0" err="1"/>
                        <a:t>Kubernetes</a:t>
                      </a:r>
                      <a:r>
                        <a:rPr lang="en-US" sz="1000" dirty="0"/>
                        <a:t>)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0142">
                <a:tc>
                  <a:txBody>
                    <a:bodyPr/>
                    <a:lstStyle/>
                    <a:p>
                      <a:r>
                        <a:rPr lang="en-US" sz="1000" b="1"/>
                        <a:t>Stockage</a:t>
                      </a:r>
                      <a:endParaRPr lang="en-US" sz="1000"/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Blob Storage, Azure SQL Database, Cosmos DB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Cloud Storage, </a:t>
                      </a:r>
                      <a:r>
                        <a:rPr lang="en-US" sz="1000" dirty="0" err="1"/>
                        <a:t>BigQuery</a:t>
                      </a:r>
                      <a:r>
                        <a:rPr lang="en-US" sz="1000" dirty="0"/>
                        <a:t>, </a:t>
                      </a:r>
                      <a:r>
                        <a:rPr lang="en-US" sz="1000" dirty="0" err="1"/>
                        <a:t>Firestore</a:t>
                      </a:r>
                      <a:endParaRPr lang="en-US" sz="1000" dirty="0"/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101">
                <a:tc>
                  <a:txBody>
                    <a:bodyPr/>
                    <a:lstStyle/>
                    <a:p>
                      <a:r>
                        <a:rPr lang="en-US" sz="1000" b="1"/>
                        <a:t>IA/Machine Learning</a:t>
                      </a:r>
                      <a:endParaRPr lang="en-US" sz="1000"/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Azure AI, Cognitive Services, Bot Framework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/>
                        <a:t>Vertex AI, TensorFlow, AutoML, Vision AI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80186">
                <a:tc>
                  <a:txBody>
                    <a:bodyPr/>
                    <a:lstStyle/>
                    <a:p>
                      <a:r>
                        <a:rPr lang="en-US" sz="1000" b="1"/>
                        <a:t>Réseau</a:t>
                      </a:r>
                      <a:endParaRPr lang="en-US" sz="1000"/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Virtual Network, Load Balancer, Azure Front Door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Virtual Private Cloud, Cloud Load Balancing, </a:t>
                      </a:r>
                      <a:r>
                        <a:rPr lang="en-US" sz="1000" b="1"/>
                        <a:t>Réseau mondial ultra-rapide</a:t>
                      </a:r>
                      <a:endParaRPr lang="en-US" sz="1000"/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101">
                <a:tc>
                  <a:txBody>
                    <a:bodyPr/>
                    <a:lstStyle/>
                    <a:p>
                      <a:r>
                        <a:rPr lang="en-US" sz="1000" b="1"/>
                        <a:t>Hybride</a:t>
                      </a:r>
                      <a:endParaRPr lang="en-US" sz="1000"/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Azure Arc (leader)</a:t>
                      </a:r>
                      <a:r>
                        <a:rPr lang="en-US" sz="1000"/>
                        <a:t>, Azure Stack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Anthos, Google Distributed Cloud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101">
                <a:tc>
                  <a:txBody>
                    <a:bodyPr/>
                    <a:lstStyle/>
                    <a:p>
                      <a:r>
                        <a:rPr lang="en-US" sz="1000" b="1"/>
                        <a:t>DevOps</a:t>
                      </a:r>
                      <a:endParaRPr lang="en-US" sz="1000"/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Azure DevOps, GitHub Actions, Azure Pipelines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Cloud Build, Cloud Code, Artifact Registry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0142">
                <a:tc>
                  <a:txBody>
                    <a:bodyPr/>
                    <a:lstStyle/>
                    <a:p>
                      <a:r>
                        <a:rPr lang="en-US" sz="1000" b="1"/>
                        <a:t>Sécurité</a:t>
                      </a:r>
                      <a:endParaRPr lang="en-US" sz="1000"/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Azure Security Center, Azure Sentinel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Cloud Security Command Center, Chronicle</a:t>
                      </a:r>
                    </a:p>
                  </a:txBody>
                  <a:tcPr marL="52217" marR="52217" marT="26108" marB="26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2744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04800" y="28575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fr-FR" b="1" dirty="0">
                <a:solidFill>
                  <a:srgbClr val="00B0F0"/>
                </a:solidFill>
              </a:rPr>
              <a:t>Microsoft Azure :</a:t>
            </a:r>
            <a:endParaRPr lang="fr-FR" b="1" dirty="0">
              <a:solidFill>
                <a:srgbClr val="00B0F0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7906" y="514350"/>
            <a:ext cx="840889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/>
            </a:r>
            <a:br>
              <a:rPr lang="fr-FR" dirty="0"/>
            </a:br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Avantages 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Intégration parfaite avec les outils Microsoft (Windows, Office 365, .NET, Active Directory).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Leader en solutions hybrides (Azure Arc permet de gérer des ressources locales et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de manière unifiée).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Large écosystème de partenaires et certifications.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Adopté par 95% des entreprises du Fortune 500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fr-FR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Inconvénients 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Tarification complexe et parfois coûteuse (difficile à estimer sans expertise).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Moins performant en IA et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Data que Google Cloud.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Courbe d’apprentissage plus raide pour les débutants.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04800" y="28575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fr-FR" b="1" dirty="0">
                <a:solidFill>
                  <a:srgbClr val="00B0F0"/>
                </a:solidFill>
              </a:rPr>
              <a:t>Microsoft Azure :</a:t>
            </a:r>
            <a:endParaRPr lang="fr-FR" b="1" dirty="0">
              <a:solidFill>
                <a:srgbClr val="00B0F0"/>
              </a:solidFill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71550"/>
            <a:ext cx="6329363" cy="3124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391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59037" y="20955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Google Cloud :</a:t>
            </a:r>
            <a:endParaRPr lang="fr-FR" b="1" dirty="0">
              <a:solidFill>
                <a:srgbClr val="00B0F0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7906" y="514350"/>
            <a:ext cx="84088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392206" y="514350"/>
            <a:ext cx="829459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Avantages 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Meilleur en IA et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Data (Vertex AI,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BigQuery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Réseau mondial le plus rapide (latence réduite, même infrastructure que Google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Search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YouTube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Tarification plus simple et compétitive (remises automatiques, facturation à la seconde).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Open source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friendly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Istio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Knative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Crédits gratuits généreux pour les nouveaux utilisateurs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fr-FR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Inconvénients 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Part de marché plus faible (~10%) → moins de support communautaire que Azure ou AWS.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Moins adapté aux entreprises traditionnelles (peu d’intégration avec les outils Microsoft).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Moins de services que Azure (environ 100 contre 200+).</a:t>
            </a:r>
          </a:p>
        </p:txBody>
      </p:sp>
    </p:spTree>
    <p:extLst>
      <p:ext uri="{BB962C8B-B14F-4D97-AF65-F5344CB8AC3E}">
        <p14:creationId xmlns:p14="http://schemas.microsoft.com/office/powerpoint/2010/main" val="298117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59037" y="20955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Google Cloud :</a:t>
            </a:r>
            <a:endParaRPr lang="fr-FR" b="1" dirty="0">
              <a:solidFill>
                <a:srgbClr val="00B0F0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7906" y="514350"/>
            <a:ext cx="84088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37" y="804121"/>
            <a:ext cx="5981700" cy="3005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841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59037" y="195879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b="1" dirty="0" err="1">
                <a:solidFill>
                  <a:srgbClr val="00B0F0"/>
                </a:solidFill>
              </a:rPr>
              <a:t>Cas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dirty="0" err="1">
                <a:solidFill>
                  <a:srgbClr val="00B0F0"/>
                </a:solidFill>
              </a:rPr>
              <a:t>d’usage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dirty="0" err="1">
                <a:solidFill>
                  <a:srgbClr val="00B0F0"/>
                </a:solidFill>
              </a:rPr>
              <a:t>concrets</a:t>
            </a:r>
            <a:endParaRPr lang="fr-FR" b="1" dirty="0">
              <a:solidFill>
                <a:srgbClr val="00B0F0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7906" y="514350"/>
            <a:ext cx="84088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201706" y="837515"/>
            <a:ext cx="848509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dirty="0">
                <a:latin typeface="Times New Roman" pitchFamily="18" charset="0"/>
                <a:cs typeface="Times New Roman" pitchFamily="18" charset="0"/>
              </a:rPr>
              <a:t>Choisir Microsoft Azure si :</a:t>
            </a:r>
            <a:endParaRPr lang="fr-FR" sz="16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Votre entreprise utilise Windows, Office 365 ou .NET.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Vous avez besoin d’une solution hybride (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+ serveurs locaux).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Vous voulez une intégration facile avec Active Directory ou Dynamics 365.</a:t>
            </a:r>
          </a:p>
          <a:p>
            <a:pPr lvl="1"/>
            <a:r>
              <a:rPr lang="fr-FR" sz="1600" b="1" dirty="0">
                <a:latin typeface="Times New Roman" pitchFamily="18" charset="0"/>
                <a:cs typeface="Times New Roman" pitchFamily="18" charset="0"/>
              </a:rPr>
              <a:t>Exemples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: Adobe (création numérique), BMW (fabrication connectée),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Walmart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retail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/>
            <a:endParaRPr lang="fr-FR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600" b="1" dirty="0">
                <a:latin typeface="Times New Roman" pitchFamily="18" charset="0"/>
                <a:cs typeface="Times New Roman" pitchFamily="18" charset="0"/>
              </a:rPr>
              <a:t>Choisir Google Cloud si :</a:t>
            </a:r>
            <a:endParaRPr lang="fr-FR" sz="16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Vous travaillez avec des technologies open source (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Vous avez besoin de performances élevées en IA,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Data ou analyse de données.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Vous voulez un réseau ultra-rapide pour des applications temps réel (ex : streaming, jeux en ligne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/>
            <a:r>
              <a:rPr lang="fr-FR" sz="1600" b="1" dirty="0" smtClean="0">
                <a:latin typeface="Times New Roman" pitchFamily="18" charset="0"/>
                <a:cs typeface="Times New Roman" pitchFamily="18" charset="0"/>
              </a:rPr>
              <a:t>Exemples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Spotify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(streaming musical),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Snapchat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(réseaux sociaux),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PayPal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(paiements en ligne).</a:t>
            </a:r>
          </a:p>
        </p:txBody>
      </p:sp>
    </p:spTree>
    <p:extLst>
      <p:ext uri="{BB962C8B-B14F-4D97-AF65-F5344CB8AC3E}">
        <p14:creationId xmlns:p14="http://schemas.microsoft.com/office/powerpoint/2010/main" val="258000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/>
          </p:nvPr>
        </p:nvSpPr>
        <p:spPr>
          <a:xfrm>
            <a:off x="457200" y="819150"/>
            <a:ext cx="7620000" cy="3810000"/>
          </a:xfrm>
        </p:spPr>
        <p:txBody>
          <a:bodyPr>
            <a:normAutofit fontScale="92500"/>
          </a:bodyPr>
          <a:lstStyle/>
          <a:p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Microsoft Azure et Google Cloud sont deux solutions </a:t>
            </a:r>
            <a:r>
              <a:rPr lang="fr-FR" sz="1900" dirty="0" err="1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 puissantes, mais adaptées à des besoins distincts.</a:t>
            </a:r>
          </a:p>
          <a:p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Azure est le choix idéal pour les entreprises déjà intégrées à l’écosystème Microsoft, avec des besoins en solutions hybrides et une intégration fluide avec des outils comme Office 365 ou Active Directory.</a:t>
            </a:r>
          </a:p>
          <a:p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Google Cloud brille pour les projets innovants en IA, </a:t>
            </a:r>
            <a:r>
              <a:rPr lang="fr-FR" sz="1900" dirty="0" err="1" smtClean="0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 Data et open source, avec un réseau ultra-performant et des outils comme Vertex AI ou </a:t>
            </a:r>
            <a:r>
              <a:rPr lang="fr-FR" sz="1900" dirty="0" err="1" smtClean="0">
                <a:latin typeface="Times New Roman" pitchFamily="18" charset="0"/>
                <a:cs typeface="Times New Roman" pitchFamily="18" charset="0"/>
              </a:rPr>
              <a:t>BigQuery</a:t>
            </a:r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Le choix dépend de :</a:t>
            </a:r>
            <a:br>
              <a:rPr lang="fr-FR" sz="19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✔ Vos outils existants </a:t>
            </a:r>
            <a:br>
              <a:rPr lang="fr-FR" sz="19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✔ Vos besoins techniques </a:t>
            </a:r>
            <a:br>
              <a:rPr lang="fr-FR" sz="19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✔ Votre budget </a:t>
            </a:r>
          </a:p>
          <a:p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Ces deux plateformes continueront à évoluer pour répondre aux besoins croissants des entreprises en matière de </a:t>
            </a:r>
            <a:r>
              <a:rPr lang="fr-FR" sz="1900" dirty="0" err="1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600" dirty="0">
              <a:latin typeface="Bodoni MT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09600" y="28194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Conclusion</a:t>
            </a:r>
            <a:endParaRPr lang="fr-FR" b="1" dirty="0">
              <a:solidFill>
                <a:srgbClr val="0070C0"/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Tech Trends 2026 by Slidesgo">
  <a:themeElements>
    <a:clrScheme name="Simple Light">
      <a:dk1>
        <a:srgbClr val="222222"/>
      </a:dk1>
      <a:lt1>
        <a:srgbClr val="F8F8F8"/>
      </a:lt1>
      <a:dk2>
        <a:srgbClr val="222222"/>
      </a:dk2>
      <a:lt2>
        <a:srgbClr val="22222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2222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222222"/>
    </a:dk1>
    <a:lt1>
      <a:srgbClr val="F8F8F8"/>
    </a:lt1>
    <a:dk2>
      <a:srgbClr val="222222"/>
    </a:dk2>
    <a:lt2>
      <a:srgbClr val="222222"/>
    </a:lt2>
    <a:accent1>
      <a:srgbClr val="FFFF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222222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Words>612</Words>
  <Application>Microsoft Office PowerPoint</Application>
  <PresentationFormat>On-screen Show (16:9)</PresentationFormat>
  <Paragraphs>101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Tech Trends 2026 by Slidesgo</vt:lpstr>
      <vt:lpstr>Exposé sur le thème : Microsoft Azure  vs  Google Cloud</vt:lpstr>
      <vt:lpstr>Introduction</vt:lpstr>
      <vt:lpstr>PowerPoint Presentation</vt:lpstr>
      <vt:lpstr>Définitions et présentations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differents types de VPN</dc:title>
  <dc:creator>Gabard</dc:creator>
  <cp:lastModifiedBy>NOEL</cp:lastModifiedBy>
  <cp:revision>25</cp:revision>
  <dcterms:modified xsi:type="dcterms:W3CDTF">2026-04-28T18:01:38Z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2026-01-10T01:50:25Z</dcterms:created>
  <dc:creator>Unknown Creator</dc:creator>
  <dc:description/>
  <dc:language>en-US</dc:language>
  <cp:lastModifiedBy>Unknown Creator</cp:lastModifiedBy>
  <dcterms:modified xsi:type="dcterms:W3CDTF">2026-01-10T01:50:25Z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